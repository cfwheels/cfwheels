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4436"/>
    <p:restoredTop sz="94610"/>
  </p:normalViewPr>
  <p:slideViewPr>
    <p:cSldViewPr snapToGrid="0" snapToObjects="1">
      <p:cViewPr varScale="1">
        <p:scale>
          <a:sx n="170" d="100"/>
          <a:sy n="170"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248660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Thank Rick and MMCFUG — 25 years of meetings, and the YouTube channel means this will outlive tonight. Set the shape of the evening: about 25 minutes of context, then roughly 50 minutes building a real app live, then Q&amp;A. Ask people to hold questions until the demo checkpoints unless something is unclear on screen.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90 seconds. The point that matters to this room: I run Wheels in production for a real business, and I maintain it. I am not selling a toy.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Actually wait for hands on Zoom — ask people to use the reaction button. The third question is the setup for the whole talk; name-check Rick's story with his permission.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pain slide. Don't dwell; everyone recognizes it. Land the last line: none of this is the business. A framework's job is to make these boxes disappear so the business logic is what you type.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the middle of this timeline — Rick said it himself: three-year ramp-up, lost interest. Acknowledge it, then pivot: the last nine months moved the framework more than the previous five years. That's what the rest of the talk demonstrates.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list matters to this crowd: Adobe shops are not excluded, and BoxLang is where a lot of new CFML will land. Mention that the same app and the same password hashes move between engines unchanged.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know Rails, you already know this. If you only know CFML, this is the part where the fortieth copy of the CRUD code goes away. Singular model, plural table, plural controller — you never declare the mapping. You can override any of it (table(), etc.), but you rarely need to.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once. Emphasize that the controller and model are yours and small; everything else is convention. Mention that nothing here is a black box — every file lives in your app directory and you can read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Anyone who has upgraded a framework that lived inside their app directory knows the pain. This is the 3.0 change that made 4.x releases boring — in the good sense.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read the code aloud — point at three things: finders read like English, the builder chains, and save() either persists or hands you errors the form already knows how to render. The cfqueryparam line is the security pitch in one sentence.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'I don't want to install CommandBox to try it.' Homebrew, Chocolatey or Scoop, Java 21, done. Windows folks: choco install wheels. Everything you're about to see in the demo is one of these commands.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out loud, verbatim. The DHH video worked because he named the target before he hit it. Then leave the slides and go to the terminal. Slides 13–20 are on-screen prompts for each beat — switch back to them only if you need a breather or the demo needs a fallback while you talk.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first JVM boot is slow, keep talking — do NOT re-run wheels start. Fallback: cd ~/demo/blogdemo-final in the second tab.</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long? Skip wheels routes, keep the browser CRUD. Checkpoint tag: cp1-scaffold.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Post.cfc and Posts.cfc in the editor at 18pt+. Type the three config lines live. Checkpoint: cp1 still valid.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console is the FIRST thing to cut if behind — go straight to auth. Checkpoint: cp2-comments.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one rule live in PostPolicy.cfc: function update() { return user.key() == resource.userId; }. If behind: generate auth, show the User model, skip the policy — but say the default-deny sentence anyway. Checkpoint: cp3-auth.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break-it loop is the first cut if over time. The passing run is not. Checkpoint: cp4-tests.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Terminal only. About a minute per command. This beat is elastic — stretch or compress it to land on time for beat 8.</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beat buys credibility. Keep it to five minutes; it's the natural pitch for the intermediate session.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 it back to the contract slide: this is the list we promised. If anything got cut for time, say so here and what it would have looked like.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headers only. Any one of these is a follow-up talk. Multi-tenancy and SSE tend to get questions from people running SaaS-shaped CF apps.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have ready: 'Is this actually maintained?' — 4.0 this year, 4.1 current, regular cadence, public changelog, one primary maintainer and I'll be straight about that. 'Why not Rails/Laravel?' — if you're hiring fresh, maybe. If you have twenty years of CFML and people who know it, this is how that codebase gets a modern shape without a rewrite you'll never finish. 'Performance?' — 4.0.6 cut model instantiation roughly in half; benchmark suite is in the repo.</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people the one-liner and let them type it during Q&amp;A. Ask Rick to put the links in the video description.</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Q&amp;A. If the room goes quiet: 'How many people still have a CF app in production? Right — that's why this matters.' Or: 'Rick, does this look like the Rails video?' Ask Rick about the intermediate session while the reception is fresh.</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620"/>
        </a:solidFill>
        <a:effectLst/>
      </p:bgPr>
    </p:bg>
    <p:spTree>
      <p:nvGrpSpPr>
        <p:cNvPr id="1" name=""/>
        <p:cNvGrpSpPr/>
        <p:nvPr/>
      </p:nvGrpSpPr>
      <p:grpSpPr>
        <a:xfrm>
          <a:off x="0" y="0"/>
          <a:ext cx="0" cy="0"/>
          <a:chOff x="0" y="0"/>
          <a:chExt cx="0" cy="0"/>
        </a:xfrm>
      </p:grpSpPr>
      <p:pic>
        <p:nvPicPr>
          <p:cNvPr id="2" name="Image 0" descr="/home/claude/deck/assets/logo-dark.png"/>
          <p:cNvPicPr>
            <a:picLocks noChangeAspect="1"/>
          </p:cNvPicPr>
          <p:nvPr/>
        </p:nvPicPr>
        <p:blipFill>
          <a:blip r:embed="rId3"/>
          <a:stretch>
            <a:fillRect/>
          </a:stretch>
        </p:blipFill>
        <p:spPr>
          <a:xfrm>
            <a:off x="457200" y="548640"/>
            <a:ext cx="3840480" cy="630936"/>
          </a:xfrm>
          <a:prstGeom prst="rect">
            <a:avLst/>
          </a:prstGeom>
        </p:spPr>
      </p:pic>
      <p:sp>
        <p:nvSpPr>
          <p:cNvPr id="3" name="Text 0"/>
          <p:cNvSpPr txBox="1"/>
          <p:nvPr/>
        </p:nvSpPr>
        <p:spPr>
          <a:xfrm>
            <a:off x="457200" y="1554480"/>
            <a:ext cx="8229600" cy="91440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Rails-Style CFML</a:t>
            </a:r>
            <a:endParaRPr lang="en-US" sz="5400" dirty="0"/>
          </a:p>
        </p:txBody>
      </p:sp>
      <p:sp>
        <p:nvSpPr>
          <p:cNvPr id="4" name="Text 1"/>
          <p:cNvSpPr txBox="1"/>
          <p:nvPr/>
        </p:nvSpPr>
        <p:spPr>
          <a:xfrm>
            <a:off x="457200" y="2514600"/>
            <a:ext cx="7772400" cy="548640"/>
          </a:xfrm>
          <a:prstGeom prst="rect">
            <a:avLst/>
          </a:prstGeom>
          <a:noFill/>
          <a:ln/>
        </p:spPr>
        <p:txBody>
          <a:bodyPr wrap="square" lIns="0" tIns="0" rIns="0" bIns="0" rtlCol="0" anchor="ctr"/>
          <a:lstStyle/>
          <a:p>
            <a:pPr marL="0" indent="0">
              <a:buNone/>
            </a:pPr>
            <a:r>
              <a:rPr lang="en-US" sz="2000" dirty="0">
                <a:solidFill>
                  <a:srgbClr val="C9D3DD"/>
                </a:solidFill>
                <a:latin typeface="Calibri" pitchFamily="34" charset="0"/>
                <a:ea typeface="Calibri" pitchFamily="34" charset="-122"/>
                <a:cs typeface="Calibri" pitchFamily="34" charset="-120"/>
              </a:rPr>
              <a:t>Building a blog live with Wheels 4 — no IDE, no config files, no CommandBox.</a:t>
            </a:r>
            <a:endParaRPr lang="en-US" sz="2000" dirty="0"/>
          </a:p>
        </p:txBody>
      </p:sp>
      <p:sp>
        <p:nvSpPr>
          <p:cNvPr id="5" name="Text 2"/>
          <p:cNvSpPr txBox="1"/>
          <p:nvPr/>
        </p:nvSpPr>
        <p:spPr>
          <a:xfrm>
            <a:off x="457200" y="3794760"/>
            <a:ext cx="7772400" cy="3200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Peter Amiri</a:t>
            </a:r>
            <a:r>
              <a:rPr lang="en-US" sz="1400" dirty="0">
                <a:solidFill>
                  <a:srgbClr val="9AA7B4"/>
                </a:solidFill>
                <a:latin typeface="Calibri" pitchFamily="34" charset="0"/>
                <a:ea typeface="Calibri" pitchFamily="34" charset="-122"/>
                <a:cs typeface="Calibri" pitchFamily="34" charset="-120"/>
              </a:rPr>
              <a:t>  ·  Wheels maintainer  ·  CTO, PAI Industries</a:t>
            </a:r>
            <a:endParaRPr lang="en-US" sz="1400" dirty="0"/>
          </a:p>
        </p:txBody>
      </p:sp>
      <p:sp>
        <p:nvSpPr>
          <p:cNvPr id="6" name="Text 3"/>
          <p:cNvSpPr txBox="1"/>
          <p:nvPr/>
        </p:nvSpPr>
        <p:spPr>
          <a:xfrm>
            <a:off x="457200" y="4114800"/>
            <a:ext cx="7772400" cy="274320"/>
          </a:xfrm>
          <a:prstGeom prst="rect">
            <a:avLst/>
          </a:prstGeom>
          <a:noFill/>
          <a:ln/>
        </p:spPr>
        <p:txBody>
          <a:bodyPr wrap="square" lIns="0" tIns="0" rIns="0" bIns="0" rtlCol="0" anchor="ctr"/>
          <a:lstStyle/>
          <a:p>
            <a:pPr marL="0" indent="0">
              <a:buNone/>
            </a:pPr>
            <a:r>
              <a:rPr lang="en-US" sz="1200" dirty="0">
                <a:solidFill>
                  <a:srgbClr val="9AA7B4"/>
                </a:solidFill>
                <a:latin typeface="Calibri" pitchFamily="34" charset="0"/>
                <a:ea typeface="Calibri" pitchFamily="34" charset="-122"/>
                <a:cs typeface="Calibri" pitchFamily="34" charset="-120"/>
              </a:rPr>
              <a:t>Mid-Michigan ColdFusion Users Group  ·  Tuesday, September 15, 2026  ·  7:00 PM ET</a:t>
            </a:r>
            <a:endParaRPr lang="en-US" sz="1200" dirty="0"/>
          </a:p>
        </p:txBody>
      </p:sp>
      <p:sp>
        <p:nvSpPr>
          <p:cNvPr id="7" name="Text 4"/>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9AA7B4"/>
                </a:solidFill>
                <a:latin typeface="Calibri" pitchFamily="34" charset="0"/>
                <a:ea typeface="Calibri" pitchFamily="34" charset="-122"/>
                <a:cs typeface="Calibri" pitchFamily="34" charset="-120"/>
              </a:rPr>
              <a:t>wheels.dev  · </a:t>
            </a:r>
            <a:r>
              <a:rPr lang="en-US" sz="900" dirty="0" err="1">
                <a:solidFill>
                  <a:srgbClr val="9AA7B4"/>
                </a:solidFill>
                <a:latin typeface="Calibri" pitchFamily="34" charset="0"/>
                <a:ea typeface="Calibri" pitchFamily="34" charset="-122"/>
                <a:cs typeface="Calibri" pitchFamily="34" charset="-120"/>
              </a:rPr>
              <a:t>github.com</a:t>
            </a:r>
            <a:r>
              <a:rPr lang="en-US" sz="900" dirty="0">
                <a:solidFill>
                  <a:srgbClr val="9AA7B4"/>
                </a:solidFill>
                <a:latin typeface="Calibri" pitchFamily="34" charset="0"/>
                <a:ea typeface="Calibri" pitchFamily="34" charset="-122"/>
                <a:cs typeface="Calibri" pitchFamily="34" charset="-120"/>
              </a:rPr>
              <a:t>/wheels-dev/wheels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home/claude/deck/assets/mark-t.png"/>
          <p:cNvPicPr>
            <a:picLocks noChangeAspect="1"/>
          </p:cNvPicPr>
          <p:nvPr/>
        </p:nvPicPr>
        <p:blipFill>
          <a:blip r:embed="rId3"/>
          <a:stretch>
            <a:fillRect/>
          </a:stretch>
        </p:blipFill>
        <p:spPr>
          <a:xfrm>
            <a:off x="8092440" y="384048"/>
            <a:ext cx="594360" cy="365760"/>
          </a:xfrm>
          <a:prstGeom prst="rect">
            <a:avLst/>
          </a:prstGeom>
        </p:spPr>
      </p:pic>
      <p:sp>
        <p:nvSpPr>
          <p:cNvPr id="3" name="Text 0"/>
          <p:cNvSpPr txBox="1"/>
          <p:nvPr/>
        </p:nvSpPr>
        <p:spPr>
          <a:xfrm>
            <a:off x="457200" y="320040"/>
            <a:ext cx="7498080" cy="640080"/>
          </a:xfrm>
          <a:prstGeom prst="rect">
            <a:avLst/>
          </a:prstGeom>
          <a:noFill/>
          <a:ln/>
        </p:spPr>
        <p:txBody>
          <a:bodyPr wrap="square" lIns="0" tIns="0" rIns="0" bIns="0" rtlCol="0" anchor="ctr"/>
          <a:lstStyle/>
          <a:p>
            <a:pPr marL="0" indent="0">
              <a:buNone/>
            </a:pPr>
            <a:r>
              <a:rPr lang="en-US" sz="3000" b="1" dirty="0">
                <a:solidFill>
                  <a:srgbClr val="1A2430"/>
                </a:solidFill>
                <a:latin typeface="Calibri" pitchFamily="34" charset="0"/>
                <a:ea typeface="Calibri" pitchFamily="34" charset="-122"/>
                <a:cs typeface="Calibri" pitchFamily="34" charset="-120"/>
              </a:rPr>
              <a:t>Who's talking</a:t>
            </a:r>
            <a:endParaRPr lang="en-US" sz="3000" dirty="0"/>
          </a:p>
        </p:txBody>
      </p:sp>
      <p:sp>
        <p:nvSpPr>
          <p:cNvPr id="4" name="Text 1"/>
          <p:cNvSpPr txBox="1"/>
          <p:nvPr/>
        </p:nvSpPr>
        <p:spPr>
          <a:xfrm>
            <a:off x="457200" y="109728"/>
            <a:ext cx="5486400" cy="228600"/>
          </a:xfrm>
          <a:prstGeom prst="rect">
            <a:avLst/>
          </a:prstGeom>
          <a:noFill/>
          <a:ln/>
        </p:spPr>
        <p:txBody>
          <a:bodyPr wrap="square" lIns="0" tIns="0" rIns="0" bIns="0" rtlCol="0" anchor="ctr"/>
          <a:lstStyle/>
          <a:p>
            <a:pPr marL="0" indent="0">
              <a:buNone/>
            </a:pPr>
            <a:r>
              <a:rPr lang="en-US" sz="1000" b="1" kern="0" spc="200" dirty="0">
                <a:solidFill>
                  <a:srgbClr val="EF3B2D"/>
                </a:solidFill>
                <a:latin typeface="Calibri" pitchFamily="34" charset="0"/>
                <a:ea typeface="Calibri" pitchFamily="34" charset="-122"/>
                <a:cs typeface="Calibri" pitchFamily="34" charset="-120"/>
              </a:rPr>
              <a:t>HELLO</a:t>
            </a:r>
            <a:endParaRPr lang="en-US" sz="1000" dirty="0"/>
          </a:p>
        </p:txBody>
      </p:sp>
      <p:sp>
        <p:nvSpPr>
          <p:cNvPr id="5" name="Text 2"/>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6B7785"/>
                </a:solidFill>
                <a:latin typeface="Calibri" pitchFamily="34" charset="0"/>
                <a:ea typeface="Calibri" pitchFamily="34" charset="-122"/>
                <a:cs typeface="Calibri" pitchFamily="34" charset="-120"/>
              </a:rPr>
              <a:t>wheels.dev   ·   Mid-Michigan CFUG · Sept 15, 2026</a:t>
            </a:r>
            <a:endParaRPr lang="en-US" sz="9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6B7785"/>
                </a:solidFill>
                <a:latin typeface="Calibri" pitchFamily="34" charset="0"/>
                <a:ea typeface="Calibri" pitchFamily="34" charset="-122"/>
                <a:cs typeface="Calibri" pitchFamily="34" charset="-120"/>
              </a:rPr>
              <a:t>2</a:t>
            </a:r>
            <a:endParaRPr lang="en-US" sz="900" dirty="0"/>
          </a:p>
        </p:txBody>
      </p:sp>
      <p:sp>
        <p:nvSpPr>
          <p:cNvPr id="7" name="Text 4"/>
          <p:cNvSpPr txBox="1"/>
          <p:nvPr/>
        </p:nvSpPr>
        <p:spPr>
          <a:xfrm>
            <a:off x="457200" y="1188720"/>
            <a:ext cx="4937760" cy="3291840"/>
          </a:xfrm>
          <a:prstGeom prst="rect">
            <a:avLst/>
          </a:prstGeom>
          <a:noFill/>
          <a:ln/>
        </p:spPr>
        <p:txBody>
          <a:bodyPr wrap="square" lIns="0" tIns="0" rIns="0" bIns="0" rtlCol="0" anchor="t"/>
          <a:lstStyle/>
          <a:p>
            <a:pPr marL="177800" indent="-177800">
              <a:spcAft>
                <a:spcPts val="1200"/>
              </a:spcAft>
              <a:buSzPct val="100000"/>
              <a:buChar char="•"/>
            </a:pPr>
            <a:r>
              <a:rPr lang="en-US" sz="1500" dirty="0">
                <a:solidFill>
                  <a:srgbClr val="1A2430"/>
                </a:solidFill>
                <a:latin typeface="Calibri" pitchFamily="34" charset="0"/>
                <a:ea typeface="Calibri" pitchFamily="34" charset="-122"/>
                <a:cs typeface="Calibri" pitchFamily="34" charset="-120"/>
              </a:rPr>
              <a:t>CTO at PAI Industries — heavy-duty truck parts. Our ecommerce platform runs on Wheels in production (SQL Server + Elasticsearch + Rocket </a:t>
            </a:r>
            <a:r>
              <a:rPr lang="en-US" sz="1500" dirty="0" err="1">
                <a:solidFill>
                  <a:srgbClr val="1A2430"/>
                </a:solidFill>
                <a:latin typeface="Calibri" pitchFamily="34" charset="0"/>
                <a:ea typeface="Calibri" pitchFamily="34" charset="-122"/>
                <a:cs typeface="Calibri" pitchFamily="34" charset="-120"/>
              </a:rPr>
              <a:t>UniVerse</a:t>
            </a:r>
            <a:r>
              <a:rPr lang="en-US" sz="1500" dirty="0">
                <a:solidFill>
                  <a:srgbClr val="1A2430"/>
                </a:solidFill>
                <a:latin typeface="Calibri" pitchFamily="34" charset="0"/>
                <a:ea typeface="Calibri" pitchFamily="34" charset="-122"/>
                <a:cs typeface="Calibri" pitchFamily="34" charset="-120"/>
              </a:rPr>
              <a:t> + </a:t>
            </a:r>
            <a:r>
              <a:rPr lang="en-US" sz="1500" dirty="0" err="1">
                <a:solidFill>
                  <a:srgbClr val="1A2430"/>
                </a:solidFill>
                <a:latin typeface="Calibri" pitchFamily="34" charset="0"/>
                <a:ea typeface="Calibri" pitchFamily="34" charset="-122"/>
                <a:cs typeface="Calibri" pitchFamily="34" charset="-120"/>
              </a:rPr>
              <a:t>CockroachDB</a:t>
            </a:r>
            <a:r>
              <a:rPr lang="en-US" sz="1500" dirty="0">
                <a:solidFill>
                  <a:srgbClr val="1A2430"/>
                </a:solidFill>
                <a:latin typeface="Calibri" pitchFamily="34" charset="0"/>
                <a:ea typeface="Calibri" pitchFamily="34" charset="-122"/>
                <a:cs typeface="Calibri" pitchFamily="34" charset="-120"/>
              </a:rPr>
              <a:t>).</a:t>
            </a:r>
            <a:endParaRPr lang="en-US" sz="1500" dirty="0"/>
          </a:p>
          <a:p>
            <a:pPr marL="177800" indent="-177800">
              <a:spcAft>
                <a:spcPts val="1200"/>
              </a:spcAft>
              <a:buSzPct val="100000"/>
              <a:buChar char="•"/>
            </a:pPr>
            <a:r>
              <a:rPr lang="en-US" sz="1500" dirty="0">
                <a:solidFill>
                  <a:srgbClr val="1A2430"/>
                </a:solidFill>
                <a:latin typeface="Calibri" pitchFamily="34" charset="0"/>
                <a:ea typeface="Calibri" pitchFamily="34" charset="-122"/>
                <a:cs typeface="Calibri" pitchFamily="34" charset="-120"/>
              </a:rPr>
              <a:t>Maintainer of Wheels, the open-source CFML MVC framework (Apache 2.0).</a:t>
            </a:r>
            <a:endParaRPr lang="en-US" sz="1500" dirty="0"/>
          </a:p>
          <a:p>
            <a:pPr marL="177800" indent="-177800">
              <a:spcAft>
                <a:spcPts val="1200"/>
              </a:spcAft>
              <a:buSzPct val="100000"/>
              <a:buChar char="•"/>
            </a:pPr>
            <a:r>
              <a:rPr lang="en-US" sz="1500" dirty="0">
                <a:solidFill>
                  <a:srgbClr val="1A2430"/>
                </a:solidFill>
                <a:latin typeface="Calibri" pitchFamily="34" charset="0"/>
                <a:ea typeface="Calibri" pitchFamily="34" charset="-122"/>
                <a:cs typeface="Calibri" pitchFamily="34" charset="-120"/>
              </a:rPr>
              <a:t>Writing CFML since the Allaire days. Last CF conference talk: CFUnited, 2006-ish. This is my first user group talk since.</a:t>
            </a:r>
            <a:endParaRPr lang="en-US" sz="1500" dirty="0"/>
          </a:p>
          <a:p>
            <a:pPr marL="177800" indent="-177800">
              <a:spcAft>
                <a:spcPts val="1200"/>
              </a:spcAft>
              <a:buSzPct val="100000"/>
              <a:buChar char="•"/>
            </a:pPr>
            <a:r>
              <a:rPr lang="en-US" sz="1500" dirty="0">
                <a:solidFill>
                  <a:srgbClr val="1A2430"/>
                </a:solidFill>
                <a:latin typeface="Calibri" pitchFamily="34" charset="0"/>
                <a:ea typeface="Calibri" pitchFamily="34" charset="-122"/>
                <a:cs typeface="Calibri" pitchFamily="34" charset="-120"/>
              </a:rPr>
              <a:t>Also: Pick/MultiValue databases, multi-datacenter infrastructure, and a lot of AI-assisted engineering lately.</a:t>
            </a:r>
            <a:endParaRPr lang="en-US" sz="1500" dirty="0"/>
          </a:p>
        </p:txBody>
      </p:sp>
      <p:sp>
        <p:nvSpPr>
          <p:cNvPr id="8" name="Shape 5"/>
          <p:cNvSpPr/>
          <p:nvPr/>
        </p:nvSpPr>
        <p:spPr>
          <a:xfrm>
            <a:off x="5760720" y="1188720"/>
            <a:ext cx="2926080" cy="3200400"/>
          </a:xfrm>
          <a:prstGeom prst="roundRect">
            <a:avLst>
              <a:gd name="adj" fmla="val 2500"/>
            </a:avLst>
          </a:prstGeom>
          <a:solidFill>
            <a:srgbClr val="16232F"/>
          </a:solidFill>
          <a:ln w="12700">
            <a:solidFill>
              <a:srgbClr val="16232F"/>
            </a:solidFill>
            <a:prstDash val="solid"/>
          </a:ln>
        </p:spPr>
        <p:txBody>
          <a:bodyPr/>
          <a:lstStyle/>
          <a:p>
            <a:endParaRPr lang="en-US"/>
          </a:p>
        </p:txBody>
      </p:sp>
      <p:sp>
        <p:nvSpPr>
          <p:cNvPr id="9" name="Text 6"/>
          <p:cNvSpPr txBox="1"/>
          <p:nvPr/>
        </p:nvSpPr>
        <p:spPr>
          <a:xfrm>
            <a:off x="5943600" y="1325880"/>
            <a:ext cx="2560320" cy="36576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Tonight's promise</a:t>
            </a:r>
            <a:endParaRPr lang="en-US" sz="1500" dirty="0"/>
          </a:p>
        </p:txBody>
      </p:sp>
      <p:sp>
        <p:nvSpPr>
          <p:cNvPr id="10" name="Text 7"/>
          <p:cNvSpPr txBox="1"/>
          <p:nvPr/>
        </p:nvSpPr>
        <p:spPr>
          <a:xfrm>
            <a:off x="5943600" y="1691640"/>
            <a:ext cx="2560320" cy="2560320"/>
          </a:xfrm>
          <a:prstGeom prst="rect">
            <a:avLst/>
          </a:prstGeom>
          <a:noFill/>
          <a:ln/>
        </p:spPr>
        <p:txBody>
          <a:bodyPr wrap="square" lIns="0" tIns="0" rIns="0" bIns="0" rtlCol="0" anchor="t"/>
          <a:lstStyle/>
          <a:p>
            <a:pPr marL="0" indent="0">
              <a:buNone/>
            </a:pPr>
            <a:r>
              <a:rPr lang="en-US" sz="1300" dirty="0">
                <a:solidFill>
                  <a:srgbClr val="9AA7B4"/>
                </a:solidFill>
                <a:latin typeface="Calibri" pitchFamily="34" charset="0"/>
                <a:ea typeface="Calibri" pitchFamily="34" charset="-122"/>
                <a:cs typeface="Calibri" pitchFamily="34" charset="-120"/>
              </a:rPr>
              <a:t>By the end of the demo you will have seen every command needed to go home and build the same app yourself. Nothing is pre-baked on screen except the fallbacks.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1620"/>
        </a:solidFill>
        <a:effectLst/>
      </p:bgPr>
    </p:bg>
    <p:spTree>
      <p:nvGrpSpPr>
        <p:cNvPr id="1" name=""/>
        <p:cNvGrpSpPr/>
        <p:nvPr/>
      </p:nvGrpSpPr>
      <p:grpSpPr>
        <a:xfrm>
          <a:off x="0" y="0"/>
          <a:ext cx="0" cy="0"/>
          <a:chOff x="0" y="0"/>
          <a:chExt cx="0" cy="0"/>
        </a:xfrm>
      </p:grpSpPr>
      <p:pic>
        <p:nvPicPr>
          <p:cNvPr id="2" name="Image 0" descr="/home/claude/deck/assets/mark-t.png"/>
          <p:cNvPicPr>
            <a:picLocks noChangeAspect="1"/>
          </p:cNvPicPr>
          <p:nvPr/>
        </p:nvPicPr>
        <p:blipFill>
          <a:blip r:embed="rId3"/>
          <a:stretch>
            <a:fillRect/>
          </a:stretch>
        </p:blipFill>
        <p:spPr>
          <a:xfrm>
            <a:off x="8092440" y="384048"/>
            <a:ext cx="594360" cy="365760"/>
          </a:xfrm>
          <a:prstGeom prst="rect">
            <a:avLst/>
          </a:prstGeom>
        </p:spPr>
      </p:pic>
      <p:sp>
        <p:nvSpPr>
          <p:cNvPr id="3" name="Text 0"/>
          <p:cNvSpPr txBox="1"/>
          <p:nvPr/>
        </p:nvSpPr>
        <p:spPr>
          <a:xfrm>
            <a:off x="457200" y="320040"/>
            <a:ext cx="7498080" cy="64008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Three quick show-of-hands</a:t>
            </a:r>
            <a:endParaRPr lang="en-US" sz="3000" dirty="0"/>
          </a:p>
        </p:txBody>
      </p:sp>
      <p:sp>
        <p:nvSpPr>
          <p:cNvPr id="4" name="Text 1"/>
          <p:cNvSpPr txBox="1"/>
          <p:nvPr/>
        </p:nvSpPr>
        <p:spPr>
          <a:xfrm>
            <a:off x="457200" y="109728"/>
            <a:ext cx="5486400" cy="228600"/>
          </a:xfrm>
          <a:prstGeom prst="rect">
            <a:avLst/>
          </a:prstGeom>
          <a:noFill/>
          <a:ln/>
        </p:spPr>
        <p:txBody>
          <a:bodyPr wrap="square" lIns="0" tIns="0" rIns="0" bIns="0" rtlCol="0" anchor="ctr"/>
          <a:lstStyle/>
          <a:p>
            <a:pPr marL="0" indent="0">
              <a:buNone/>
            </a:pPr>
            <a:r>
              <a:rPr lang="en-US" sz="1000" b="1" kern="0" spc="200" dirty="0">
                <a:solidFill>
                  <a:srgbClr val="EF3B2D"/>
                </a:solidFill>
                <a:latin typeface="Calibri" pitchFamily="34" charset="0"/>
                <a:ea typeface="Calibri" pitchFamily="34" charset="-122"/>
                <a:cs typeface="Calibri" pitchFamily="34" charset="-120"/>
              </a:rPr>
              <a:t>BEFORE WE START</a:t>
            </a:r>
            <a:endParaRPr lang="en-US" sz="1000" dirty="0"/>
          </a:p>
        </p:txBody>
      </p:sp>
      <p:sp>
        <p:nvSpPr>
          <p:cNvPr id="5" name="Text 2"/>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9AA7B4"/>
                </a:solidFill>
                <a:latin typeface="Calibri" pitchFamily="34" charset="0"/>
                <a:ea typeface="Calibri" pitchFamily="34" charset="-122"/>
                <a:cs typeface="Calibri" pitchFamily="34" charset="-120"/>
              </a:rPr>
              <a:t>wheels.dev   ·   Mid-Michigan CFUG · Sept 15, 2026</a:t>
            </a:r>
            <a:endParaRPr lang="en-US" sz="9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9AA7B4"/>
                </a:solidFill>
                <a:latin typeface="Calibri" pitchFamily="34" charset="0"/>
                <a:ea typeface="Calibri" pitchFamily="34" charset="-122"/>
                <a:cs typeface="Calibri" pitchFamily="34" charset="-120"/>
              </a:rPr>
              <a:t>3</a:t>
            </a:r>
            <a:endParaRPr lang="en-US" sz="900" dirty="0"/>
          </a:p>
        </p:txBody>
      </p:sp>
      <p:sp>
        <p:nvSpPr>
          <p:cNvPr id="7" name="Shape 4"/>
          <p:cNvSpPr/>
          <p:nvPr/>
        </p:nvSpPr>
        <p:spPr>
          <a:xfrm>
            <a:off x="457200" y="1234440"/>
            <a:ext cx="502920" cy="502920"/>
          </a:xfrm>
          <a:prstGeom prst="ellipse">
            <a:avLst/>
          </a:prstGeom>
          <a:solidFill>
            <a:srgbClr val="EF3B2D"/>
          </a:solidFill>
          <a:ln w="12700">
            <a:solidFill>
              <a:srgbClr val="EF3B2D"/>
            </a:solidFill>
            <a:prstDash val="solid"/>
          </a:ln>
        </p:spPr>
        <p:txBody>
          <a:bodyPr/>
          <a:lstStyle/>
          <a:p>
            <a:endParaRPr lang="en-US"/>
          </a:p>
        </p:txBody>
      </p:sp>
      <p:sp>
        <p:nvSpPr>
          <p:cNvPr id="8" name="Text 5"/>
          <p:cNvSpPr txBox="1"/>
          <p:nvPr/>
        </p:nvSpPr>
        <p:spPr>
          <a:xfrm>
            <a:off x="457200" y="123444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9" name="Text 6"/>
          <p:cNvSpPr txBox="1"/>
          <p:nvPr/>
        </p:nvSpPr>
        <p:spPr>
          <a:xfrm>
            <a:off x="1188720" y="1188720"/>
            <a:ext cx="7498080" cy="365760"/>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Still have a CFML app in production?</a:t>
            </a:r>
            <a:endParaRPr lang="en-US" sz="2000" dirty="0"/>
          </a:p>
        </p:txBody>
      </p:sp>
      <p:sp>
        <p:nvSpPr>
          <p:cNvPr id="10" name="Text 7"/>
          <p:cNvSpPr txBox="1"/>
          <p:nvPr/>
        </p:nvSpPr>
        <p:spPr>
          <a:xfrm>
            <a:off x="1188720" y="1572768"/>
            <a:ext cx="7498080" cy="548640"/>
          </a:xfrm>
          <a:prstGeom prst="rect">
            <a:avLst/>
          </a:prstGeom>
          <a:noFill/>
          <a:ln/>
        </p:spPr>
        <p:txBody>
          <a:bodyPr wrap="square" lIns="0" tIns="0" rIns="0" bIns="0" rtlCol="0" anchor="ctr"/>
          <a:lstStyle/>
          <a:p>
            <a:pPr marL="0" indent="0">
              <a:buNone/>
            </a:pPr>
            <a:r>
              <a:rPr lang="en-US" sz="1300" dirty="0">
                <a:solidFill>
                  <a:srgbClr val="C9D3DD"/>
                </a:solidFill>
                <a:latin typeface="Calibri" pitchFamily="34" charset="0"/>
                <a:ea typeface="Calibri" pitchFamily="34" charset="-122"/>
                <a:cs typeface="Calibri" pitchFamily="34" charset="-120"/>
              </a:rPr>
              <a:t>That's the room this talk is for. This is not a rewrite pitch — it's a place to put the next feature.</a:t>
            </a:r>
            <a:endParaRPr lang="en-US" sz="1300" dirty="0"/>
          </a:p>
        </p:txBody>
      </p:sp>
      <p:sp>
        <p:nvSpPr>
          <p:cNvPr id="11" name="Shape 8"/>
          <p:cNvSpPr/>
          <p:nvPr/>
        </p:nvSpPr>
        <p:spPr>
          <a:xfrm>
            <a:off x="457200" y="2331720"/>
            <a:ext cx="502920" cy="502920"/>
          </a:xfrm>
          <a:prstGeom prst="ellipse">
            <a:avLst/>
          </a:prstGeom>
          <a:solidFill>
            <a:srgbClr val="EF3B2D"/>
          </a:solidFill>
          <a:ln w="12700">
            <a:solidFill>
              <a:srgbClr val="EF3B2D"/>
            </a:solidFill>
            <a:prstDash val="solid"/>
          </a:ln>
        </p:spPr>
        <p:txBody>
          <a:bodyPr/>
          <a:lstStyle/>
          <a:p>
            <a:endParaRPr lang="en-US"/>
          </a:p>
        </p:txBody>
      </p:sp>
      <p:sp>
        <p:nvSpPr>
          <p:cNvPr id="12" name="Text 9"/>
          <p:cNvSpPr txBox="1"/>
          <p:nvPr/>
        </p:nvSpPr>
        <p:spPr>
          <a:xfrm>
            <a:off x="457200" y="233172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3" name="Text 10"/>
          <p:cNvSpPr txBox="1"/>
          <p:nvPr/>
        </p:nvSpPr>
        <p:spPr>
          <a:xfrm>
            <a:off x="1188720" y="2286000"/>
            <a:ext cx="7498080" cy="365760"/>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Ever tried CFWheels — 1.x, 2.x, any of it?</a:t>
            </a:r>
            <a:endParaRPr lang="en-US" sz="2000" dirty="0"/>
          </a:p>
        </p:txBody>
      </p:sp>
      <p:sp>
        <p:nvSpPr>
          <p:cNvPr id="14" name="Text 11"/>
          <p:cNvSpPr txBox="1"/>
          <p:nvPr/>
        </p:nvSpPr>
        <p:spPr>
          <a:xfrm>
            <a:off x="1188720" y="2670048"/>
            <a:ext cx="7498080" cy="548640"/>
          </a:xfrm>
          <a:prstGeom prst="rect">
            <a:avLst/>
          </a:prstGeom>
          <a:noFill/>
          <a:ln/>
        </p:spPr>
        <p:txBody>
          <a:bodyPr wrap="square" lIns="0" tIns="0" rIns="0" bIns="0" rtlCol="0" anchor="ctr"/>
          <a:lstStyle/>
          <a:p>
            <a:pPr marL="0" indent="0">
              <a:buNone/>
            </a:pPr>
            <a:r>
              <a:rPr lang="en-US" sz="1300" dirty="0">
                <a:solidFill>
                  <a:srgbClr val="C9D3DD"/>
                </a:solidFill>
                <a:latin typeface="Calibri" pitchFamily="34" charset="0"/>
                <a:ea typeface="Calibri" pitchFamily="34" charset="-122"/>
                <a:cs typeface="Calibri" pitchFamily="34" charset="-120"/>
              </a:rPr>
              <a:t>If you bounced off it years ago, tonight is the update. A lot changed in 3.0 and 4.0.</a:t>
            </a:r>
            <a:endParaRPr lang="en-US" sz="1300" dirty="0"/>
          </a:p>
        </p:txBody>
      </p:sp>
      <p:sp>
        <p:nvSpPr>
          <p:cNvPr id="15" name="Shape 12"/>
          <p:cNvSpPr/>
          <p:nvPr/>
        </p:nvSpPr>
        <p:spPr>
          <a:xfrm>
            <a:off x="457200" y="3429000"/>
            <a:ext cx="502920" cy="502920"/>
          </a:xfrm>
          <a:prstGeom prst="ellipse">
            <a:avLst/>
          </a:prstGeom>
          <a:solidFill>
            <a:srgbClr val="EF3B2D"/>
          </a:solidFill>
          <a:ln w="12700">
            <a:solidFill>
              <a:srgbClr val="EF3B2D"/>
            </a:solidFill>
            <a:prstDash val="solid"/>
          </a:ln>
        </p:spPr>
        <p:txBody>
          <a:bodyPr/>
          <a:lstStyle/>
          <a:p>
            <a:endParaRPr lang="en-US"/>
          </a:p>
        </p:txBody>
      </p:sp>
      <p:sp>
        <p:nvSpPr>
          <p:cNvPr id="16" name="Text 13"/>
          <p:cNvSpPr txBox="1"/>
          <p:nvPr/>
        </p:nvSpPr>
        <p:spPr>
          <a:xfrm>
            <a:off x="457200" y="342900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7" name="Text 14"/>
          <p:cNvSpPr txBox="1"/>
          <p:nvPr/>
        </p:nvSpPr>
        <p:spPr>
          <a:xfrm>
            <a:off x="1188720" y="3383280"/>
            <a:ext cx="7498080" cy="365760"/>
          </a:xfrm>
          <a:prstGeom prst="rect">
            <a:avLst/>
          </a:prstGeom>
          <a:noFill/>
          <a:ln/>
        </p:spPr>
        <p:txBody>
          <a:bodyPr wrap="square" lIns="0" tIns="0" rIns="0" bIns="0" rtlCol="0" anchor="ctr"/>
          <a:lstStyle/>
          <a:p>
            <a:pPr marL="0" indent="0">
              <a:buNone/>
            </a:pPr>
            <a:r>
              <a:rPr lang="en-US" sz="2000" b="1" dirty="0">
                <a:solidFill>
                  <a:srgbClr val="FFFFFF"/>
                </a:solidFill>
                <a:latin typeface="Calibri" pitchFamily="34" charset="0"/>
                <a:ea typeface="Calibri" pitchFamily="34" charset="-122"/>
                <a:cs typeface="Calibri" pitchFamily="34" charset="-120"/>
              </a:rPr>
              <a:t>Seen the original Rails blog video?</a:t>
            </a:r>
            <a:endParaRPr lang="en-US" sz="2000" dirty="0"/>
          </a:p>
        </p:txBody>
      </p:sp>
      <p:sp>
        <p:nvSpPr>
          <p:cNvPr id="18" name="Text 15"/>
          <p:cNvSpPr txBox="1"/>
          <p:nvPr/>
        </p:nvSpPr>
        <p:spPr>
          <a:xfrm>
            <a:off x="1188720" y="3767328"/>
            <a:ext cx="7498080" cy="548640"/>
          </a:xfrm>
          <a:prstGeom prst="rect">
            <a:avLst/>
          </a:prstGeom>
          <a:noFill/>
          <a:ln/>
        </p:spPr>
        <p:txBody>
          <a:bodyPr wrap="square" lIns="0" tIns="0" rIns="0" bIns="0" rtlCol="0" anchor="ctr"/>
          <a:lstStyle/>
          <a:p>
            <a:pPr marL="0" indent="0">
              <a:buNone/>
            </a:pPr>
            <a:r>
              <a:rPr lang="en-US" sz="1300" dirty="0">
                <a:solidFill>
                  <a:srgbClr val="C9D3DD"/>
                </a:solidFill>
                <a:latin typeface="Calibri" pitchFamily="34" charset="0"/>
                <a:ea typeface="Calibri" pitchFamily="34" charset="-122"/>
                <a:cs typeface="Calibri" pitchFamily="34" charset="-120"/>
              </a:rPr>
              <a:t>DHH, 2005, fifteen minutes, one blog. Rick saw it and took a Rails contract. Tonight is the CFML version of that video.</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descr="/home/claude/deck/assets/mark-t.png"/>
          <p:cNvPicPr>
            <a:picLocks noChangeAspect="1"/>
          </p:cNvPicPr>
          <p:nvPr/>
        </p:nvPicPr>
        <p:blipFill>
          <a:blip r:embed="rId3"/>
          <a:stretch>
            <a:fillRect/>
          </a:stretch>
        </p:blipFill>
        <p:spPr>
          <a:xfrm>
            <a:off x="8092440" y="384048"/>
            <a:ext cx="594360" cy="365760"/>
          </a:xfrm>
          <a:prstGeom prst="rect">
            <a:avLst/>
          </a:prstGeom>
        </p:spPr>
      </p:pic>
      <p:sp>
        <p:nvSpPr>
          <p:cNvPr id="3" name="Text 0"/>
          <p:cNvSpPr txBox="1"/>
          <p:nvPr/>
        </p:nvSpPr>
        <p:spPr>
          <a:xfrm>
            <a:off x="457200" y="320040"/>
            <a:ext cx="7498080" cy="640080"/>
          </a:xfrm>
          <a:prstGeom prst="rect">
            <a:avLst/>
          </a:prstGeom>
          <a:noFill/>
          <a:ln/>
        </p:spPr>
        <p:txBody>
          <a:bodyPr wrap="square" lIns="0" tIns="0" rIns="0" bIns="0" rtlCol="0" anchor="ctr"/>
          <a:lstStyle/>
          <a:p>
            <a:pPr marL="0" indent="0">
              <a:buNone/>
            </a:pPr>
            <a:r>
              <a:rPr lang="en-US" sz="3000" b="1" dirty="0">
                <a:solidFill>
                  <a:srgbClr val="1A2430"/>
                </a:solidFill>
                <a:latin typeface="Calibri" pitchFamily="34" charset="0"/>
                <a:ea typeface="Calibri" pitchFamily="34" charset="-122"/>
                <a:cs typeface="Calibri" pitchFamily="34" charset="-120"/>
              </a:rPr>
              <a:t>The 200 lines you've written forty times</a:t>
            </a:r>
            <a:endParaRPr lang="en-US" sz="3000" dirty="0"/>
          </a:p>
        </p:txBody>
      </p:sp>
      <p:sp>
        <p:nvSpPr>
          <p:cNvPr id="4" name="Text 1"/>
          <p:cNvSpPr txBox="1"/>
          <p:nvPr/>
        </p:nvSpPr>
        <p:spPr>
          <a:xfrm>
            <a:off x="457200" y="109728"/>
            <a:ext cx="5486400" cy="228600"/>
          </a:xfrm>
          <a:prstGeom prst="rect">
            <a:avLst/>
          </a:prstGeom>
          <a:noFill/>
          <a:ln/>
        </p:spPr>
        <p:txBody>
          <a:bodyPr wrap="square" lIns="0" tIns="0" rIns="0" bIns="0" rtlCol="0" anchor="ctr"/>
          <a:lstStyle/>
          <a:p>
            <a:pPr marL="0" indent="0">
              <a:buNone/>
            </a:pPr>
            <a:r>
              <a:rPr lang="en-US" sz="1000" b="1" kern="0" spc="200" dirty="0">
                <a:solidFill>
                  <a:srgbClr val="EF3B2D"/>
                </a:solidFill>
                <a:latin typeface="Calibri" pitchFamily="34" charset="0"/>
                <a:ea typeface="Calibri" pitchFamily="34" charset="-122"/>
                <a:cs typeface="Calibri" pitchFamily="34" charset="-120"/>
              </a:rPr>
              <a:t>WHY A FRAMEWORK, IN 2026</a:t>
            </a:r>
            <a:endParaRPr lang="en-US" sz="1000" dirty="0"/>
          </a:p>
        </p:txBody>
      </p:sp>
      <p:sp>
        <p:nvSpPr>
          <p:cNvPr id="5" name="Text 2"/>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6B7785"/>
                </a:solidFill>
                <a:latin typeface="Calibri" pitchFamily="34" charset="0"/>
                <a:ea typeface="Calibri" pitchFamily="34" charset="-122"/>
                <a:cs typeface="Calibri" pitchFamily="34" charset="-120"/>
              </a:rPr>
              <a:t>wheels.dev   ·   Mid-Michigan CFUG · Sept 15, 2026</a:t>
            </a:r>
            <a:endParaRPr lang="en-US" sz="9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6B7785"/>
                </a:solidFill>
                <a:latin typeface="Calibri" pitchFamily="34" charset="0"/>
                <a:ea typeface="Calibri" pitchFamily="34" charset="-122"/>
                <a:cs typeface="Calibri" pitchFamily="34" charset="-120"/>
              </a:rPr>
              <a:t>4</a:t>
            </a:r>
            <a:endParaRPr lang="en-US" sz="900" dirty="0"/>
          </a:p>
        </p:txBody>
      </p:sp>
      <p:sp>
        <p:nvSpPr>
          <p:cNvPr id="7" name="Shape 4"/>
          <p:cNvSpPr/>
          <p:nvPr/>
        </p:nvSpPr>
        <p:spPr>
          <a:xfrm>
            <a:off x="457200" y="1188720"/>
            <a:ext cx="4023360" cy="914400"/>
          </a:xfrm>
          <a:prstGeom prst="roundRect">
            <a:avLst>
              <a:gd name="adj" fmla="val 8000"/>
            </a:avLst>
          </a:prstGeom>
          <a:solidFill>
            <a:srgbClr val="F3F5F7"/>
          </a:solidFill>
          <a:ln w="12700">
            <a:solidFill>
              <a:srgbClr val="F3F5F7"/>
            </a:solidFill>
            <a:prstDash val="solid"/>
          </a:ln>
        </p:spPr>
        <p:txBody>
          <a:bodyPr/>
          <a:lstStyle/>
          <a:p>
            <a:endParaRPr lang="en-US"/>
          </a:p>
        </p:txBody>
      </p:sp>
      <p:sp>
        <p:nvSpPr>
          <p:cNvPr id="8" name="Text 5"/>
          <p:cNvSpPr txBox="1"/>
          <p:nvPr/>
        </p:nvSpPr>
        <p:spPr>
          <a:xfrm>
            <a:off x="640080" y="1298448"/>
            <a:ext cx="3657600" cy="365760"/>
          </a:xfrm>
          <a:prstGeom prst="rect">
            <a:avLst/>
          </a:prstGeom>
          <a:noFill/>
          <a:ln/>
        </p:spPr>
        <p:txBody>
          <a:bodyPr wrap="square" lIns="0" tIns="0" rIns="0" bIns="0" rtlCol="0" anchor="ctr"/>
          <a:lstStyle/>
          <a:p>
            <a:pPr marL="0" indent="0">
              <a:buNone/>
            </a:pPr>
            <a:r>
              <a:rPr lang="en-US" sz="1500" b="1" dirty="0">
                <a:solidFill>
                  <a:srgbClr val="1A2430"/>
                </a:solidFill>
                <a:latin typeface="Calibri" pitchFamily="34" charset="0"/>
                <a:ea typeface="Calibri" pitchFamily="34" charset="-122"/>
                <a:cs typeface="Calibri" pitchFamily="34" charset="-120"/>
              </a:rPr>
              <a:t>List / show / new / edit / delete</a:t>
            </a:r>
            <a:endParaRPr lang="en-US" sz="1500" dirty="0"/>
          </a:p>
        </p:txBody>
      </p:sp>
      <p:sp>
        <p:nvSpPr>
          <p:cNvPr id="9" name="Text 6"/>
          <p:cNvSpPr txBox="1"/>
          <p:nvPr/>
        </p:nvSpPr>
        <p:spPr>
          <a:xfrm>
            <a:off x="640080" y="1645920"/>
            <a:ext cx="3657600" cy="365760"/>
          </a:xfrm>
          <a:prstGeom prst="rect">
            <a:avLst/>
          </a:prstGeom>
          <a:noFill/>
          <a:ln/>
        </p:spPr>
        <p:txBody>
          <a:bodyPr wrap="square" lIns="0" tIns="0" rIns="0" bIns="0" rtlCol="0" anchor="ctr"/>
          <a:lstStyle/>
          <a:p>
            <a:pPr marL="0" indent="0">
              <a:buNone/>
            </a:pPr>
            <a:r>
              <a:rPr lang="en-US" sz="1200" dirty="0">
                <a:solidFill>
                  <a:srgbClr val="6B7785"/>
                </a:solidFill>
                <a:latin typeface="Calibri" pitchFamily="34" charset="0"/>
                <a:ea typeface="Calibri" pitchFamily="34" charset="-122"/>
                <a:cs typeface="Calibri" pitchFamily="34" charset="-120"/>
              </a:rPr>
              <a:t>for every table, by hand</a:t>
            </a:r>
            <a:endParaRPr lang="en-US" sz="1200" dirty="0"/>
          </a:p>
        </p:txBody>
      </p:sp>
      <p:sp>
        <p:nvSpPr>
          <p:cNvPr id="10" name="Shape 7"/>
          <p:cNvSpPr/>
          <p:nvPr/>
        </p:nvSpPr>
        <p:spPr>
          <a:xfrm>
            <a:off x="4663440" y="1188720"/>
            <a:ext cx="4023360" cy="914400"/>
          </a:xfrm>
          <a:prstGeom prst="roundRect">
            <a:avLst>
              <a:gd name="adj" fmla="val 8000"/>
            </a:avLst>
          </a:prstGeom>
          <a:solidFill>
            <a:srgbClr val="F3F5F7"/>
          </a:solidFill>
          <a:ln w="12700">
            <a:solidFill>
              <a:srgbClr val="F3F5F7"/>
            </a:solidFill>
            <a:prstDash val="solid"/>
          </a:ln>
        </p:spPr>
        <p:txBody>
          <a:bodyPr/>
          <a:lstStyle/>
          <a:p>
            <a:endParaRPr lang="en-US"/>
          </a:p>
        </p:txBody>
      </p:sp>
      <p:sp>
        <p:nvSpPr>
          <p:cNvPr id="11" name="Text 8"/>
          <p:cNvSpPr txBox="1"/>
          <p:nvPr/>
        </p:nvSpPr>
        <p:spPr>
          <a:xfrm>
            <a:off x="4846320" y="1298448"/>
            <a:ext cx="3657600" cy="365760"/>
          </a:xfrm>
          <a:prstGeom prst="rect">
            <a:avLst/>
          </a:prstGeom>
          <a:noFill/>
          <a:ln/>
        </p:spPr>
        <p:txBody>
          <a:bodyPr wrap="square" lIns="0" tIns="0" rIns="0" bIns="0" rtlCol="0" anchor="ctr"/>
          <a:lstStyle/>
          <a:p>
            <a:pPr marL="0" indent="0">
              <a:buNone/>
            </a:pPr>
            <a:r>
              <a:rPr lang="en-US" sz="1500" b="1" dirty="0">
                <a:solidFill>
                  <a:srgbClr val="1A2430"/>
                </a:solidFill>
                <a:latin typeface="Calibri" pitchFamily="34" charset="0"/>
                <a:ea typeface="Calibri" pitchFamily="34" charset="-122"/>
                <a:cs typeface="Calibri" pitchFamily="34" charset="-120"/>
              </a:rPr>
              <a:t>Form validation</a:t>
            </a:r>
            <a:endParaRPr lang="en-US" sz="1500" dirty="0"/>
          </a:p>
        </p:txBody>
      </p:sp>
      <p:sp>
        <p:nvSpPr>
          <p:cNvPr id="12" name="Text 9"/>
          <p:cNvSpPr txBox="1"/>
          <p:nvPr/>
        </p:nvSpPr>
        <p:spPr>
          <a:xfrm>
            <a:off x="4846320" y="1645920"/>
            <a:ext cx="3657600" cy="365760"/>
          </a:xfrm>
          <a:prstGeom prst="rect">
            <a:avLst/>
          </a:prstGeom>
          <a:noFill/>
          <a:ln/>
        </p:spPr>
        <p:txBody>
          <a:bodyPr wrap="square" lIns="0" tIns="0" rIns="0" bIns="0" rtlCol="0" anchor="ctr"/>
          <a:lstStyle/>
          <a:p>
            <a:pPr marL="0" indent="0">
              <a:buNone/>
            </a:pPr>
            <a:r>
              <a:rPr lang="en-US" sz="1200" dirty="0">
                <a:solidFill>
                  <a:srgbClr val="6B7785"/>
                </a:solidFill>
                <a:latin typeface="Calibri" pitchFamily="34" charset="0"/>
                <a:ea typeface="Calibri" pitchFamily="34" charset="-122"/>
                <a:cs typeface="Calibri" pitchFamily="34" charset="-120"/>
              </a:rPr>
              <a:t>and re-rendering the form with errors</a:t>
            </a:r>
            <a:endParaRPr lang="en-US" sz="1200" dirty="0"/>
          </a:p>
        </p:txBody>
      </p:sp>
      <p:sp>
        <p:nvSpPr>
          <p:cNvPr id="13" name="Shape 10"/>
          <p:cNvSpPr/>
          <p:nvPr/>
        </p:nvSpPr>
        <p:spPr>
          <a:xfrm>
            <a:off x="457200" y="2240280"/>
            <a:ext cx="4023360" cy="914400"/>
          </a:xfrm>
          <a:prstGeom prst="roundRect">
            <a:avLst>
              <a:gd name="adj" fmla="val 8000"/>
            </a:avLst>
          </a:prstGeom>
          <a:solidFill>
            <a:srgbClr val="F3F5F7"/>
          </a:solidFill>
          <a:ln w="12700">
            <a:solidFill>
              <a:srgbClr val="F3F5F7"/>
            </a:solidFill>
            <a:prstDash val="solid"/>
          </a:ln>
        </p:spPr>
        <p:txBody>
          <a:bodyPr/>
          <a:lstStyle/>
          <a:p>
            <a:endParaRPr lang="en-US"/>
          </a:p>
        </p:txBody>
      </p:sp>
      <p:sp>
        <p:nvSpPr>
          <p:cNvPr id="14" name="Text 11"/>
          <p:cNvSpPr txBox="1"/>
          <p:nvPr/>
        </p:nvSpPr>
        <p:spPr>
          <a:xfrm>
            <a:off x="640080" y="2350008"/>
            <a:ext cx="3657600" cy="365760"/>
          </a:xfrm>
          <a:prstGeom prst="rect">
            <a:avLst/>
          </a:prstGeom>
          <a:noFill/>
          <a:ln/>
        </p:spPr>
        <p:txBody>
          <a:bodyPr wrap="square" lIns="0" tIns="0" rIns="0" bIns="0" rtlCol="0" anchor="ctr"/>
          <a:lstStyle/>
          <a:p>
            <a:pPr marL="0" indent="0">
              <a:buNone/>
            </a:pPr>
            <a:r>
              <a:rPr lang="en-US" sz="1500" b="1" dirty="0">
                <a:solidFill>
                  <a:srgbClr val="1A2430"/>
                </a:solidFill>
                <a:latin typeface="Calibri" pitchFamily="34" charset="0"/>
                <a:ea typeface="Calibri" pitchFamily="34" charset="-122"/>
                <a:cs typeface="Calibri" pitchFamily="34" charset="-120"/>
              </a:rPr>
              <a:t>URL routing</a:t>
            </a:r>
            <a:endParaRPr lang="en-US" sz="1500" dirty="0"/>
          </a:p>
        </p:txBody>
      </p:sp>
      <p:sp>
        <p:nvSpPr>
          <p:cNvPr id="15" name="Text 12"/>
          <p:cNvSpPr txBox="1"/>
          <p:nvPr/>
        </p:nvSpPr>
        <p:spPr>
          <a:xfrm>
            <a:off x="640080" y="2697480"/>
            <a:ext cx="3657600" cy="365760"/>
          </a:xfrm>
          <a:prstGeom prst="rect">
            <a:avLst/>
          </a:prstGeom>
          <a:noFill/>
          <a:ln/>
        </p:spPr>
        <p:txBody>
          <a:bodyPr wrap="square" lIns="0" tIns="0" rIns="0" bIns="0" rtlCol="0" anchor="ctr"/>
          <a:lstStyle/>
          <a:p>
            <a:pPr marL="0" indent="0">
              <a:buNone/>
            </a:pPr>
            <a:r>
              <a:rPr lang="en-US" sz="1200" dirty="0">
                <a:solidFill>
                  <a:srgbClr val="6B7785"/>
                </a:solidFill>
                <a:latin typeface="Calibri" pitchFamily="34" charset="0"/>
                <a:ea typeface="Calibri" pitchFamily="34" charset="-122"/>
                <a:cs typeface="Calibri" pitchFamily="34" charset="-120"/>
              </a:rPr>
              <a:t>and the switch statement that grows forever</a:t>
            </a:r>
            <a:endParaRPr lang="en-US" sz="1200" dirty="0"/>
          </a:p>
        </p:txBody>
      </p:sp>
      <p:sp>
        <p:nvSpPr>
          <p:cNvPr id="16" name="Shape 13"/>
          <p:cNvSpPr/>
          <p:nvPr/>
        </p:nvSpPr>
        <p:spPr>
          <a:xfrm>
            <a:off x="4663440" y="2240280"/>
            <a:ext cx="4023360" cy="914400"/>
          </a:xfrm>
          <a:prstGeom prst="roundRect">
            <a:avLst>
              <a:gd name="adj" fmla="val 8000"/>
            </a:avLst>
          </a:prstGeom>
          <a:solidFill>
            <a:srgbClr val="F3F5F7"/>
          </a:solidFill>
          <a:ln w="12700">
            <a:solidFill>
              <a:srgbClr val="F3F5F7"/>
            </a:solidFill>
            <a:prstDash val="solid"/>
          </a:ln>
        </p:spPr>
        <p:txBody>
          <a:bodyPr/>
          <a:lstStyle/>
          <a:p>
            <a:endParaRPr lang="en-US"/>
          </a:p>
        </p:txBody>
      </p:sp>
      <p:sp>
        <p:nvSpPr>
          <p:cNvPr id="17" name="Text 14"/>
          <p:cNvSpPr txBox="1"/>
          <p:nvPr/>
        </p:nvSpPr>
        <p:spPr>
          <a:xfrm>
            <a:off x="4846320" y="2350008"/>
            <a:ext cx="3657600" cy="365760"/>
          </a:xfrm>
          <a:prstGeom prst="rect">
            <a:avLst/>
          </a:prstGeom>
          <a:noFill/>
          <a:ln/>
        </p:spPr>
        <p:txBody>
          <a:bodyPr wrap="square" lIns="0" tIns="0" rIns="0" bIns="0" rtlCol="0" anchor="ctr"/>
          <a:lstStyle/>
          <a:p>
            <a:pPr marL="0" indent="0">
              <a:buNone/>
            </a:pPr>
            <a:r>
              <a:rPr lang="en-US" sz="1500" b="1" dirty="0">
                <a:solidFill>
                  <a:srgbClr val="1A2430"/>
                </a:solidFill>
                <a:latin typeface="Calibri" pitchFamily="34" charset="0"/>
                <a:ea typeface="Calibri" pitchFamily="34" charset="-122"/>
                <a:cs typeface="Calibri" pitchFamily="34" charset="-120"/>
              </a:rPr>
              <a:t>Parameterized queries</a:t>
            </a:r>
            <a:endParaRPr lang="en-US" sz="1500" dirty="0"/>
          </a:p>
        </p:txBody>
      </p:sp>
      <p:sp>
        <p:nvSpPr>
          <p:cNvPr id="18" name="Text 15"/>
          <p:cNvSpPr txBox="1"/>
          <p:nvPr/>
        </p:nvSpPr>
        <p:spPr>
          <a:xfrm>
            <a:off x="4846320" y="2697480"/>
            <a:ext cx="3657600" cy="365760"/>
          </a:xfrm>
          <a:prstGeom prst="rect">
            <a:avLst/>
          </a:prstGeom>
          <a:noFill/>
          <a:ln/>
        </p:spPr>
        <p:txBody>
          <a:bodyPr wrap="square" lIns="0" tIns="0" rIns="0" bIns="0" rtlCol="0" anchor="ctr"/>
          <a:lstStyle/>
          <a:p>
            <a:pPr marL="0" indent="0">
              <a:buNone/>
            </a:pPr>
            <a:r>
              <a:rPr lang="en-US" sz="1200" dirty="0">
                <a:solidFill>
                  <a:srgbClr val="6B7785"/>
                </a:solidFill>
                <a:latin typeface="Calibri" pitchFamily="34" charset="0"/>
                <a:ea typeface="Calibri" pitchFamily="34" charset="-122"/>
                <a:cs typeface="Calibri" pitchFamily="34" charset="-120"/>
              </a:rPr>
              <a:t>and the one you forgot to cfqueryparam</a:t>
            </a:r>
            <a:endParaRPr lang="en-US" sz="1200" dirty="0"/>
          </a:p>
        </p:txBody>
      </p:sp>
      <p:sp>
        <p:nvSpPr>
          <p:cNvPr id="19" name="Shape 16"/>
          <p:cNvSpPr/>
          <p:nvPr/>
        </p:nvSpPr>
        <p:spPr>
          <a:xfrm>
            <a:off x="457200" y="3291840"/>
            <a:ext cx="4023360" cy="914400"/>
          </a:xfrm>
          <a:prstGeom prst="roundRect">
            <a:avLst>
              <a:gd name="adj" fmla="val 8000"/>
            </a:avLst>
          </a:prstGeom>
          <a:solidFill>
            <a:srgbClr val="F3F5F7"/>
          </a:solidFill>
          <a:ln w="12700">
            <a:solidFill>
              <a:srgbClr val="F3F5F7"/>
            </a:solidFill>
            <a:prstDash val="solid"/>
          </a:ln>
        </p:spPr>
        <p:txBody>
          <a:bodyPr/>
          <a:lstStyle/>
          <a:p>
            <a:endParaRPr lang="en-US"/>
          </a:p>
        </p:txBody>
      </p:sp>
      <p:sp>
        <p:nvSpPr>
          <p:cNvPr id="20" name="Text 17"/>
          <p:cNvSpPr txBox="1"/>
          <p:nvPr/>
        </p:nvSpPr>
        <p:spPr>
          <a:xfrm>
            <a:off x="640080" y="3401568"/>
            <a:ext cx="3657600" cy="365760"/>
          </a:xfrm>
          <a:prstGeom prst="rect">
            <a:avLst/>
          </a:prstGeom>
          <a:noFill/>
          <a:ln/>
        </p:spPr>
        <p:txBody>
          <a:bodyPr wrap="square" lIns="0" tIns="0" rIns="0" bIns="0" rtlCol="0" anchor="ctr"/>
          <a:lstStyle/>
          <a:p>
            <a:pPr marL="0" indent="0">
              <a:buNone/>
            </a:pPr>
            <a:r>
              <a:rPr lang="en-US" sz="1500" b="1" dirty="0">
                <a:solidFill>
                  <a:srgbClr val="1A2430"/>
                </a:solidFill>
                <a:latin typeface="Calibri" pitchFamily="34" charset="0"/>
                <a:ea typeface="Calibri" pitchFamily="34" charset="-122"/>
                <a:cs typeface="Calibri" pitchFamily="34" charset="-120"/>
              </a:rPr>
              <a:t>Login, password hashing, sessions</a:t>
            </a:r>
            <a:endParaRPr lang="en-US" sz="1500" dirty="0"/>
          </a:p>
        </p:txBody>
      </p:sp>
      <p:sp>
        <p:nvSpPr>
          <p:cNvPr id="21" name="Text 18"/>
          <p:cNvSpPr txBox="1"/>
          <p:nvPr/>
        </p:nvSpPr>
        <p:spPr>
          <a:xfrm>
            <a:off x="640080" y="3749040"/>
            <a:ext cx="3657600" cy="365760"/>
          </a:xfrm>
          <a:prstGeom prst="rect">
            <a:avLst/>
          </a:prstGeom>
          <a:noFill/>
          <a:ln/>
        </p:spPr>
        <p:txBody>
          <a:bodyPr wrap="square" lIns="0" tIns="0" rIns="0" bIns="0" rtlCol="0" anchor="ctr"/>
          <a:lstStyle/>
          <a:p>
            <a:pPr marL="0" indent="0">
              <a:buNone/>
            </a:pPr>
            <a:r>
              <a:rPr lang="en-US" sz="1200" dirty="0">
                <a:solidFill>
                  <a:srgbClr val="6B7785"/>
                </a:solidFill>
                <a:latin typeface="Calibri" pitchFamily="34" charset="0"/>
                <a:ea typeface="Calibri" pitchFamily="34" charset="-122"/>
                <a:cs typeface="Calibri" pitchFamily="34" charset="-120"/>
              </a:rPr>
              <a:t>hand-rolled, differently, each app</a:t>
            </a:r>
            <a:endParaRPr lang="en-US" sz="1200" dirty="0"/>
          </a:p>
        </p:txBody>
      </p:sp>
      <p:sp>
        <p:nvSpPr>
          <p:cNvPr id="22" name="Shape 19"/>
          <p:cNvSpPr/>
          <p:nvPr/>
        </p:nvSpPr>
        <p:spPr>
          <a:xfrm>
            <a:off x="4663440" y="3291840"/>
            <a:ext cx="4023360" cy="914400"/>
          </a:xfrm>
          <a:prstGeom prst="roundRect">
            <a:avLst>
              <a:gd name="adj" fmla="val 8000"/>
            </a:avLst>
          </a:prstGeom>
          <a:solidFill>
            <a:srgbClr val="F3F5F7"/>
          </a:solidFill>
          <a:ln w="12700">
            <a:solidFill>
              <a:srgbClr val="F3F5F7"/>
            </a:solidFill>
            <a:prstDash val="solid"/>
          </a:ln>
        </p:spPr>
        <p:txBody>
          <a:bodyPr/>
          <a:lstStyle/>
          <a:p>
            <a:endParaRPr lang="en-US"/>
          </a:p>
        </p:txBody>
      </p:sp>
      <p:sp>
        <p:nvSpPr>
          <p:cNvPr id="23" name="Text 20"/>
          <p:cNvSpPr txBox="1"/>
          <p:nvPr/>
        </p:nvSpPr>
        <p:spPr>
          <a:xfrm>
            <a:off x="4846320" y="3401568"/>
            <a:ext cx="3657600" cy="365760"/>
          </a:xfrm>
          <a:prstGeom prst="rect">
            <a:avLst/>
          </a:prstGeom>
          <a:noFill/>
          <a:ln/>
        </p:spPr>
        <p:txBody>
          <a:bodyPr wrap="square" lIns="0" tIns="0" rIns="0" bIns="0" rtlCol="0" anchor="ctr"/>
          <a:lstStyle/>
          <a:p>
            <a:pPr marL="0" indent="0">
              <a:buNone/>
            </a:pPr>
            <a:r>
              <a:rPr lang="en-US" sz="1500" b="1" dirty="0">
                <a:solidFill>
                  <a:srgbClr val="1A2430"/>
                </a:solidFill>
                <a:latin typeface="Calibri" pitchFamily="34" charset="0"/>
                <a:ea typeface="Calibri" pitchFamily="34" charset="-122"/>
                <a:cs typeface="Calibri" pitchFamily="34" charset="-120"/>
              </a:rPr>
              <a:t>Tests</a:t>
            </a:r>
            <a:endParaRPr lang="en-US" sz="1500" dirty="0"/>
          </a:p>
        </p:txBody>
      </p:sp>
      <p:sp>
        <p:nvSpPr>
          <p:cNvPr id="24" name="Text 21"/>
          <p:cNvSpPr txBox="1"/>
          <p:nvPr/>
        </p:nvSpPr>
        <p:spPr>
          <a:xfrm>
            <a:off x="4846320" y="3749040"/>
            <a:ext cx="3657600" cy="365760"/>
          </a:xfrm>
          <a:prstGeom prst="rect">
            <a:avLst/>
          </a:prstGeom>
          <a:noFill/>
          <a:ln/>
        </p:spPr>
        <p:txBody>
          <a:bodyPr wrap="square" lIns="0" tIns="0" rIns="0" bIns="0" rtlCol="0" anchor="ctr"/>
          <a:lstStyle/>
          <a:p>
            <a:pPr marL="0" indent="0">
              <a:buNone/>
            </a:pPr>
            <a:r>
              <a:rPr lang="en-US" sz="1200" dirty="0">
                <a:solidFill>
                  <a:srgbClr val="6B7785"/>
                </a:solidFill>
                <a:latin typeface="Calibri" pitchFamily="34" charset="0"/>
                <a:ea typeface="Calibri" pitchFamily="34" charset="-122"/>
                <a:cs typeface="Calibri" pitchFamily="34" charset="-120"/>
              </a:rPr>
              <a:t>…next sprint</a:t>
            </a:r>
            <a:endParaRPr lang="en-US" sz="1200" dirty="0"/>
          </a:p>
        </p:txBody>
      </p:sp>
      <p:sp>
        <p:nvSpPr>
          <p:cNvPr id="25" name="Text 22"/>
          <p:cNvSpPr txBox="1"/>
          <p:nvPr/>
        </p:nvSpPr>
        <p:spPr>
          <a:xfrm>
            <a:off x="457200" y="4343400"/>
            <a:ext cx="8229600" cy="365760"/>
          </a:xfrm>
          <a:prstGeom prst="rect">
            <a:avLst/>
          </a:prstGeom>
          <a:noFill/>
          <a:ln/>
        </p:spPr>
        <p:txBody>
          <a:bodyPr wrap="square" lIns="0" tIns="0" rIns="0" bIns="0" rtlCol="0" anchor="ctr"/>
          <a:lstStyle/>
          <a:p>
            <a:pPr marL="0" indent="0">
              <a:buNone/>
            </a:pPr>
            <a:r>
              <a:rPr lang="en-US" sz="1300" i="1" dirty="0">
                <a:solidFill>
                  <a:srgbClr val="6B7785"/>
                </a:solidFill>
                <a:latin typeface="Calibri" pitchFamily="34" charset="0"/>
                <a:ea typeface="Calibri" pitchFamily="34" charset="-122"/>
                <a:cs typeface="Calibri" pitchFamily="34" charset="-120"/>
              </a:rPr>
              <a:t>Every legacy CF app in this room has its own version of each box. None of them are the interesting part of the app.</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2" name="Image 0" descr="/home/claude/deck/assets/mark-t.png"/>
          <p:cNvPicPr>
            <a:picLocks noChangeAspect="1"/>
          </p:cNvPicPr>
          <p:nvPr/>
        </p:nvPicPr>
        <p:blipFill>
          <a:blip r:embed="rId3"/>
          <a:stretch>
            <a:fillRect/>
          </a:stretch>
        </p:blipFill>
        <p:spPr>
          <a:xfrm>
            <a:off x="8092440" y="384048"/>
            <a:ext cx="594360" cy="365760"/>
          </a:xfrm>
          <a:prstGeom prst="rect">
            <a:avLst/>
          </a:prstGeom>
        </p:spPr>
      </p:pic>
      <p:sp>
        <p:nvSpPr>
          <p:cNvPr id="3" name="Text 0"/>
          <p:cNvSpPr txBox="1"/>
          <p:nvPr/>
        </p:nvSpPr>
        <p:spPr>
          <a:xfrm>
            <a:off x="457200" y="320040"/>
            <a:ext cx="7498080" cy="640080"/>
          </a:xfrm>
          <a:prstGeom prst="rect">
            <a:avLst/>
          </a:prstGeom>
          <a:noFill/>
          <a:ln/>
        </p:spPr>
        <p:txBody>
          <a:bodyPr wrap="square" lIns="0" tIns="0" rIns="0" bIns="0" rtlCol="0" anchor="ctr"/>
          <a:lstStyle/>
          <a:p>
            <a:pPr marL="0" indent="0">
              <a:buNone/>
            </a:pPr>
            <a:r>
              <a:rPr lang="en-US" sz="3000" b="1" dirty="0">
                <a:solidFill>
                  <a:srgbClr val="1A2430"/>
                </a:solidFill>
                <a:latin typeface="Calibri" pitchFamily="34" charset="0"/>
                <a:ea typeface="Calibri" pitchFamily="34" charset="-122"/>
                <a:cs typeface="Calibri" pitchFamily="34" charset="-120"/>
              </a:rPr>
              <a:t>From Rails to Wheels</a:t>
            </a:r>
            <a:endParaRPr lang="en-US" sz="3000" dirty="0"/>
          </a:p>
        </p:txBody>
      </p:sp>
      <p:sp>
        <p:nvSpPr>
          <p:cNvPr id="4" name="Text 1"/>
          <p:cNvSpPr txBox="1"/>
          <p:nvPr/>
        </p:nvSpPr>
        <p:spPr>
          <a:xfrm>
            <a:off x="457200" y="109728"/>
            <a:ext cx="5486400" cy="228600"/>
          </a:xfrm>
          <a:prstGeom prst="rect">
            <a:avLst/>
          </a:prstGeom>
          <a:noFill/>
          <a:ln/>
        </p:spPr>
        <p:txBody>
          <a:bodyPr wrap="square" lIns="0" tIns="0" rIns="0" bIns="0" rtlCol="0" anchor="ctr"/>
          <a:lstStyle/>
          <a:p>
            <a:pPr marL="0" indent="0">
              <a:buNone/>
            </a:pPr>
            <a:r>
              <a:rPr lang="en-US" sz="1000" b="1" kern="0" spc="200" dirty="0">
                <a:solidFill>
                  <a:srgbClr val="EF3B2D"/>
                </a:solidFill>
                <a:latin typeface="Calibri" pitchFamily="34" charset="0"/>
                <a:ea typeface="Calibri" pitchFamily="34" charset="-122"/>
                <a:cs typeface="Calibri" pitchFamily="34" charset="-120"/>
              </a:rPr>
              <a:t>A LITTLE HISTORY — INCLUDING THE HONEST PART</a:t>
            </a:r>
            <a:endParaRPr lang="en-US" sz="1000" dirty="0"/>
          </a:p>
        </p:txBody>
      </p:sp>
      <p:sp>
        <p:nvSpPr>
          <p:cNvPr id="5" name="Text 2"/>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6B7785"/>
                </a:solidFill>
                <a:latin typeface="Calibri" pitchFamily="34" charset="0"/>
                <a:ea typeface="Calibri" pitchFamily="34" charset="-122"/>
                <a:cs typeface="Calibri" pitchFamily="34" charset="-120"/>
              </a:rPr>
              <a:t>wheels.dev   ·   Mid-Michigan CFUG · Sept 15, 2026</a:t>
            </a:r>
            <a:endParaRPr lang="en-US" sz="9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6B7785"/>
                </a:solidFill>
                <a:latin typeface="Calibri" pitchFamily="34" charset="0"/>
                <a:ea typeface="Calibri" pitchFamily="34" charset="-122"/>
                <a:cs typeface="Calibri" pitchFamily="34" charset="-120"/>
              </a:rPr>
              <a:t>5</a:t>
            </a:r>
            <a:endParaRPr lang="en-US" sz="900" dirty="0"/>
          </a:p>
        </p:txBody>
      </p:sp>
      <p:sp>
        <p:nvSpPr>
          <p:cNvPr id="7" name="Shape 4"/>
          <p:cNvSpPr/>
          <p:nvPr/>
        </p:nvSpPr>
        <p:spPr>
          <a:xfrm>
            <a:off x="868680" y="2011680"/>
            <a:ext cx="6583680" cy="0"/>
          </a:xfrm>
          <a:prstGeom prst="line">
            <a:avLst/>
          </a:prstGeom>
          <a:noFill/>
          <a:ln w="25400">
            <a:solidFill>
              <a:srgbClr val="D9DEE4"/>
            </a:solidFill>
            <a:prstDash val="solid"/>
          </a:ln>
        </p:spPr>
        <p:txBody>
          <a:bodyPr/>
          <a:lstStyle/>
          <a:p>
            <a:endParaRPr lang="en-US"/>
          </a:p>
        </p:txBody>
      </p:sp>
      <p:sp>
        <p:nvSpPr>
          <p:cNvPr id="8" name="Shape 5"/>
          <p:cNvSpPr/>
          <p:nvPr/>
        </p:nvSpPr>
        <p:spPr>
          <a:xfrm>
            <a:off x="731520" y="1874520"/>
            <a:ext cx="274320" cy="274320"/>
          </a:xfrm>
          <a:prstGeom prst="ellipse">
            <a:avLst/>
          </a:prstGeom>
          <a:solidFill>
            <a:srgbClr val="0C1620"/>
          </a:solidFill>
          <a:ln w="12700">
            <a:solidFill>
              <a:srgbClr val="0C1620"/>
            </a:solidFill>
            <a:prstDash val="solid"/>
          </a:ln>
        </p:spPr>
        <p:txBody>
          <a:bodyPr/>
          <a:lstStyle/>
          <a:p>
            <a:endParaRPr lang="en-US"/>
          </a:p>
        </p:txBody>
      </p:sp>
      <p:sp>
        <p:nvSpPr>
          <p:cNvPr id="9" name="Text 6"/>
          <p:cNvSpPr txBox="1"/>
          <p:nvPr/>
        </p:nvSpPr>
        <p:spPr>
          <a:xfrm>
            <a:off x="365760" y="1371600"/>
            <a:ext cx="1005840" cy="365760"/>
          </a:xfrm>
          <a:prstGeom prst="rect">
            <a:avLst/>
          </a:prstGeom>
          <a:noFill/>
          <a:ln/>
        </p:spPr>
        <p:txBody>
          <a:bodyPr wrap="square" lIns="0" tIns="0" rIns="0" bIns="0" rtlCol="0" anchor="ctr"/>
          <a:lstStyle/>
          <a:p>
            <a:pPr marL="0" indent="0" algn="ctr">
              <a:buNone/>
            </a:pPr>
            <a:r>
              <a:rPr lang="en-US" sz="1600" b="1" dirty="0">
                <a:solidFill>
                  <a:srgbClr val="1A2430"/>
                </a:solidFill>
                <a:latin typeface="Calibri" pitchFamily="34" charset="0"/>
                <a:ea typeface="Calibri" pitchFamily="34" charset="-122"/>
                <a:cs typeface="Calibri" pitchFamily="34" charset="-120"/>
              </a:rPr>
              <a:t>2005</a:t>
            </a:r>
            <a:endParaRPr lang="en-US" sz="1600" dirty="0"/>
          </a:p>
        </p:txBody>
      </p:sp>
      <p:sp>
        <p:nvSpPr>
          <p:cNvPr id="10" name="Text 7"/>
          <p:cNvSpPr txBox="1"/>
          <p:nvPr/>
        </p:nvSpPr>
        <p:spPr>
          <a:xfrm>
            <a:off x="274320" y="2286000"/>
            <a:ext cx="1188720" cy="320040"/>
          </a:xfrm>
          <a:prstGeom prst="rect">
            <a:avLst/>
          </a:prstGeom>
          <a:noFill/>
          <a:ln/>
        </p:spPr>
        <p:txBody>
          <a:bodyPr wrap="square" lIns="0" tIns="0" rIns="0" bIns="0" rtlCol="0" anchor="ctr"/>
          <a:lstStyle/>
          <a:p>
            <a:pPr marL="0" indent="0" algn="ctr">
              <a:buNone/>
            </a:pPr>
            <a:r>
              <a:rPr lang="en-US" sz="1400" b="1" dirty="0">
                <a:solidFill>
                  <a:srgbClr val="1A2430"/>
                </a:solidFill>
                <a:latin typeface="Calibri" pitchFamily="34" charset="0"/>
                <a:ea typeface="Calibri" pitchFamily="34" charset="-122"/>
                <a:cs typeface="Calibri" pitchFamily="34" charset="-120"/>
              </a:rPr>
              <a:t>Rails 1.0</a:t>
            </a:r>
            <a:endParaRPr lang="en-US" sz="1400" dirty="0"/>
          </a:p>
        </p:txBody>
      </p:sp>
      <p:sp>
        <p:nvSpPr>
          <p:cNvPr id="11" name="Text 8"/>
          <p:cNvSpPr txBox="1"/>
          <p:nvPr/>
        </p:nvSpPr>
        <p:spPr>
          <a:xfrm>
            <a:off x="228600" y="2651760"/>
            <a:ext cx="1280160" cy="1463040"/>
          </a:xfrm>
          <a:prstGeom prst="rect">
            <a:avLst/>
          </a:prstGeom>
          <a:noFill/>
          <a:ln/>
        </p:spPr>
        <p:txBody>
          <a:bodyPr wrap="square" lIns="0" tIns="0" rIns="0" bIns="0" rtlCol="0" anchor="t"/>
          <a:lstStyle/>
          <a:p>
            <a:pPr marL="0" indent="0" algn="ctr">
              <a:buNone/>
            </a:pPr>
            <a:r>
              <a:rPr lang="en-US" sz="1050" dirty="0">
                <a:solidFill>
                  <a:srgbClr val="6B7785"/>
                </a:solidFill>
                <a:latin typeface="Calibri" pitchFamily="34" charset="0"/>
                <a:ea typeface="Calibri" pitchFamily="34" charset="-122"/>
                <a:cs typeface="Calibri" pitchFamily="34" charset="-120"/>
              </a:rPr>
              <a:t>DHH's 15-minute blog video. Convention over configuration, DRY, generators.</a:t>
            </a:r>
            <a:endParaRPr lang="en-US" sz="1050" dirty="0"/>
          </a:p>
        </p:txBody>
      </p:sp>
      <p:sp>
        <p:nvSpPr>
          <p:cNvPr id="12" name="Shape 9"/>
          <p:cNvSpPr/>
          <p:nvPr/>
        </p:nvSpPr>
        <p:spPr>
          <a:xfrm>
            <a:off x="2377440" y="1874520"/>
            <a:ext cx="274320" cy="274320"/>
          </a:xfrm>
          <a:prstGeom prst="ellipse">
            <a:avLst/>
          </a:prstGeom>
          <a:solidFill>
            <a:srgbClr val="0C1620"/>
          </a:solidFill>
          <a:ln w="12700">
            <a:solidFill>
              <a:srgbClr val="0C1620"/>
            </a:solidFill>
            <a:prstDash val="solid"/>
          </a:ln>
        </p:spPr>
        <p:txBody>
          <a:bodyPr/>
          <a:lstStyle/>
          <a:p>
            <a:endParaRPr lang="en-US"/>
          </a:p>
        </p:txBody>
      </p:sp>
      <p:sp>
        <p:nvSpPr>
          <p:cNvPr id="13" name="Text 10"/>
          <p:cNvSpPr txBox="1"/>
          <p:nvPr/>
        </p:nvSpPr>
        <p:spPr>
          <a:xfrm>
            <a:off x="2011680" y="1371600"/>
            <a:ext cx="1005840" cy="365760"/>
          </a:xfrm>
          <a:prstGeom prst="rect">
            <a:avLst/>
          </a:prstGeom>
          <a:noFill/>
          <a:ln/>
        </p:spPr>
        <p:txBody>
          <a:bodyPr wrap="square" lIns="0" tIns="0" rIns="0" bIns="0" rtlCol="0" anchor="ctr"/>
          <a:lstStyle/>
          <a:p>
            <a:pPr marL="0" indent="0" algn="ctr">
              <a:buNone/>
            </a:pPr>
            <a:r>
              <a:rPr lang="en-US" sz="1600" b="1" dirty="0">
                <a:solidFill>
                  <a:srgbClr val="1A2430"/>
                </a:solidFill>
                <a:latin typeface="Calibri" pitchFamily="34" charset="0"/>
                <a:ea typeface="Calibri" pitchFamily="34" charset="-122"/>
                <a:cs typeface="Calibri" pitchFamily="34" charset="-120"/>
              </a:rPr>
              <a:t>2009</a:t>
            </a:r>
            <a:endParaRPr lang="en-US" sz="1600" dirty="0"/>
          </a:p>
        </p:txBody>
      </p:sp>
      <p:sp>
        <p:nvSpPr>
          <p:cNvPr id="14" name="Text 11"/>
          <p:cNvSpPr txBox="1"/>
          <p:nvPr/>
        </p:nvSpPr>
        <p:spPr>
          <a:xfrm>
            <a:off x="1920240" y="2286000"/>
            <a:ext cx="1188720" cy="320040"/>
          </a:xfrm>
          <a:prstGeom prst="rect">
            <a:avLst/>
          </a:prstGeom>
          <a:noFill/>
          <a:ln/>
        </p:spPr>
        <p:txBody>
          <a:bodyPr wrap="square" lIns="0" tIns="0" rIns="0" bIns="0" rtlCol="0" anchor="ctr"/>
          <a:lstStyle/>
          <a:p>
            <a:pPr marL="0" indent="0" algn="ctr">
              <a:buNone/>
            </a:pPr>
            <a:r>
              <a:rPr lang="en-US" sz="1400" b="1" dirty="0">
                <a:solidFill>
                  <a:srgbClr val="1A2430"/>
                </a:solidFill>
                <a:latin typeface="Calibri" pitchFamily="34" charset="0"/>
                <a:ea typeface="Calibri" pitchFamily="34" charset="-122"/>
                <a:cs typeface="Calibri" pitchFamily="34" charset="-120"/>
              </a:rPr>
              <a:t>CFWheels 1.0</a:t>
            </a:r>
            <a:endParaRPr lang="en-US" sz="1400" dirty="0"/>
          </a:p>
        </p:txBody>
      </p:sp>
      <p:sp>
        <p:nvSpPr>
          <p:cNvPr id="15" name="Text 12"/>
          <p:cNvSpPr txBox="1"/>
          <p:nvPr/>
        </p:nvSpPr>
        <p:spPr>
          <a:xfrm>
            <a:off x="1874520" y="2651760"/>
            <a:ext cx="1280160" cy="1463040"/>
          </a:xfrm>
          <a:prstGeom prst="rect">
            <a:avLst/>
          </a:prstGeom>
          <a:noFill/>
          <a:ln/>
        </p:spPr>
        <p:txBody>
          <a:bodyPr wrap="square" lIns="0" tIns="0" rIns="0" bIns="0" rtlCol="0" anchor="t"/>
          <a:lstStyle/>
          <a:p>
            <a:pPr marL="0" indent="0" algn="ctr">
              <a:buNone/>
            </a:pPr>
            <a:r>
              <a:rPr lang="en-US" sz="1050" dirty="0">
                <a:solidFill>
                  <a:srgbClr val="6B7785"/>
                </a:solidFill>
                <a:latin typeface="Calibri" pitchFamily="34" charset="0"/>
                <a:ea typeface="Calibri" pitchFamily="34" charset="-122"/>
                <a:cs typeface="Calibri" pitchFamily="34" charset="-120"/>
              </a:rPr>
              <a:t>Rails conventions in CFML. Long ramp-up — many of you looked, then moved on.</a:t>
            </a:r>
            <a:endParaRPr lang="en-US" sz="1050" dirty="0"/>
          </a:p>
        </p:txBody>
      </p:sp>
      <p:sp>
        <p:nvSpPr>
          <p:cNvPr id="16" name="Shape 13"/>
          <p:cNvSpPr/>
          <p:nvPr/>
        </p:nvSpPr>
        <p:spPr>
          <a:xfrm>
            <a:off x="4023360" y="1874520"/>
            <a:ext cx="274320" cy="274320"/>
          </a:xfrm>
          <a:prstGeom prst="ellipse">
            <a:avLst/>
          </a:prstGeom>
          <a:solidFill>
            <a:srgbClr val="0C1620"/>
          </a:solidFill>
          <a:ln w="12700">
            <a:solidFill>
              <a:srgbClr val="0C1620"/>
            </a:solidFill>
            <a:prstDash val="solid"/>
          </a:ln>
        </p:spPr>
        <p:txBody>
          <a:bodyPr/>
          <a:lstStyle/>
          <a:p>
            <a:endParaRPr lang="en-US"/>
          </a:p>
        </p:txBody>
      </p:sp>
      <p:sp>
        <p:nvSpPr>
          <p:cNvPr id="17" name="Text 14"/>
          <p:cNvSpPr txBox="1"/>
          <p:nvPr/>
        </p:nvSpPr>
        <p:spPr>
          <a:xfrm>
            <a:off x="3657600" y="1371600"/>
            <a:ext cx="1005840" cy="365760"/>
          </a:xfrm>
          <a:prstGeom prst="rect">
            <a:avLst/>
          </a:prstGeom>
          <a:noFill/>
          <a:ln/>
        </p:spPr>
        <p:txBody>
          <a:bodyPr wrap="square" lIns="0" tIns="0" rIns="0" bIns="0" rtlCol="0" anchor="ctr"/>
          <a:lstStyle/>
          <a:p>
            <a:pPr marL="0" indent="0" algn="ctr">
              <a:buNone/>
            </a:pPr>
            <a:r>
              <a:rPr lang="en-US" sz="1600" b="1" dirty="0">
                <a:solidFill>
                  <a:srgbClr val="1A2430"/>
                </a:solidFill>
                <a:latin typeface="Calibri" pitchFamily="34" charset="0"/>
                <a:ea typeface="Calibri" pitchFamily="34" charset="-122"/>
                <a:cs typeface="Calibri" pitchFamily="34" charset="-120"/>
              </a:rPr>
              <a:t>2018</a:t>
            </a:r>
            <a:endParaRPr lang="en-US" sz="1600" dirty="0"/>
          </a:p>
        </p:txBody>
      </p:sp>
      <p:sp>
        <p:nvSpPr>
          <p:cNvPr id="18" name="Text 15"/>
          <p:cNvSpPr txBox="1"/>
          <p:nvPr/>
        </p:nvSpPr>
        <p:spPr>
          <a:xfrm>
            <a:off x="3566160" y="2286000"/>
            <a:ext cx="1188720" cy="320040"/>
          </a:xfrm>
          <a:prstGeom prst="rect">
            <a:avLst/>
          </a:prstGeom>
          <a:noFill/>
          <a:ln/>
        </p:spPr>
        <p:txBody>
          <a:bodyPr wrap="square" lIns="0" tIns="0" rIns="0" bIns="0" rtlCol="0" anchor="ctr"/>
          <a:lstStyle/>
          <a:p>
            <a:pPr marL="0" indent="0" algn="ctr">
              <a:buNone/>
            </a:pPr>
            <a:r>
              <a:rPr lang="en-US" sz="1400" b="1" dirty="0">
                <a:solidFill>
                  <a:srgbClr val="1A2430"/>
                </a:solidFill>
                <a:latin typeface="Calibri" pitchFamily="34" charset="0"/>
                <a:ea typeface="Calibri" pitchFamily="34" charset="-122"/>
                <a:cs typeface="Calibri" pitchFamily="34" charset="-120"/>
              </a:rPr>
              <a:t>CFWheels 2.0</a:t>
            </a:r>
            <a:endParaRPr lang="en-US" sz="1400" dirty="0"/>
          </a:p>
        </p:txBody>
      </p:sp>
      <p:sp>
        <p:nvSpPr>
          <p:cNvPr id="19" name="Text 16"/>
          <p:cNvSpPr txBox="1"/>
          <p:nvPr/>
        </p:nvSpPr>
        <p:spPr>
          <a:xfrm>
            <a:off x="3520440" y="2651760"/>
            <a:ext cx="1280160" cy="1463040"/>
          </a:xfrm>
          <a:prstGeom prst="rect">
            <a:avLst/>
          </a:prstGeom>
          <a:noFill/>
          <a:ln/>
        </p:spPr>
        <p:txBody>
          <a:bodyPr wrap="square" lIns="0" tIns="0" rIns="0" bIns="0" rtlCol="0" anchor="t"/>
          <a:lstStyle/>
          <a:p>
            <a:pPr marL="0" indent="0" algn="ctr">
              <a:buNone/>
            </a:pPr>
            <a:r>
              <a:rPr lang="en-US" sz="1050" dirty="0">
                <a:solidFill>
                  <a:srgbClr val="6B7785"/>
                </a:solidFill>
                <a:latin typeface="Calibri" pitchFamily="34" charset="0"/>
                <a:ea typeface="Calibri" pitchFamily="34" charset="-122"/>
                <a:cs typeface="Calibri" pitchFamily="34" charset="-120"/>
              </a:rPr>
              <a:t>Modern routing, CLI via CommandBox, TestBox. Solid, but quiet.</a:t>
            </a:r>
            <a:endParaRPr lang="en-US" sz="1050" dirty="0"/>
          </a:p>
        </p:txBody>
      </p:sp>
      <p:sp>
        <p:nvSpPr>
          <p:cNvPr id="20" name="Shape 17"/>
          <p:cNvSpPr/>
          <p:nvPr/>
        </p:nvSpPr>
        <p:spPr>
          <a:xfrm>
            <a:off x="5669280" y="1874520"/>
            <a:ext cx="274320" cy="274320"/>
          </a:xfrm>
          <a:prstGeom prst="ellipse">
            <a:avLst/>
          </a:prstGeom>
          <a:solidFill>
            <a:srgbClr val="0C1620"/>
          </a:solidFill>
          <a:ln w="12700">
            <a:solidFill>
              <a:srgbClr val="0C1620"/>
            </a:solidFill>
            <a:prstDash val="solid"/>
          </a:ln>
        </p:spPr>
        <p:txBody>
          <a:bodyPr/>
          <a:lstStyle/>
          <a:p>
            <a:endParaRPr lang="en-US"/>
          </a:p>
        </p:txBody>
      </p:sp>
      <p:sp>
        <p:nvSpPr>
          <p:cNvPr id="21" name="Text 18"/>
          <p:cNvSpPr txBox="1"/>
          <p:nvPr/>
        </p:nvSpPr>
        <p:spPr>
          <a:xfrm>
            <a:off x="5303520" y="1371600"/>
            <a:ext cx="1005840" cy="365760"/>
          </a:xfrm>
          <a:prstGeom prst="rect">
            <a:avLst/>
          </a:prstGeom>
          <a:noFill/>
          <a:ln/>
        </p:spPr>
        <p:txBody>
          <a:bodyPr wrap="square" lIns="0" tIns="0" rIns="0" bIns="0" rtlCol="0" anchor="ctr"/>
          <a:lstStyle/>
          <a:p>
            <a:pPr marL="0" indent="0" algn="ctr">
              <a:buNone/>
            </a:pPr>
            <a:r>
              <a:rPr lang="en-US" sz="1600" b="1" dirty="0">
                <a:solidFill>
                  <a:srgbClr val="1A2430"/>
                </a:solidFill>
                <a:latin typeface="Calibri" pitchFamily="34" charset="0"/>
                <a:ea typeface="Calibri" pitchFamily="34" charset="-122"/>
                <a:cs typeface="Calibri" pitchFamily="34" charset="-120"/>
              </a:rPr>
              <a:t>Jan 2026</a:t>
            </a:r>
            <a:endParaRPr lang="en-US" sz="1600" dirty="0"/>
          </a:p>
        </p:txBody>
      </p:sp>
      <p:sp>
        <p:nvSpPr>
          <p:cNvPr id="22" name="Text 19"/>
          <p:cNvSpPr txBox="1"/>
          <p:nvPr/>
        </p:nvSpPr>
        <p:spPr>
          <a:xfrm>
            <a:off x="5212080" y="2286000"/>
            <a:ext cx="1188720" cy="320040"/>
          </a:xfrm>
          <a:prstGeom prst="rect">
            <a:avLst/>
          </a:prstGeom>
          <a:noFill/>
          <a:ln/>
        </p:spPr>
        <p:txBody>
          <a:bodyPr wrap="square" lIns="0" tIns="0" rIns="0" bIns="0" rtlCol="0" anchor="ctr"/>
          <a:lstStyle/>
          <a:p>
            <a:pPr marL="0" indent="0" algn="ctr">
              <a:buNone/>
            </a:pPr>
            <a:r>
              <a:rPr lang="en-US" sz="1400" b="1" dirty="0">
                <a:solidFill>
                  <a:srgbClr val="1A2430"/>
                </a:solidFill>
                <a:latin typeface="Calibri" pitchFamily="34" charset="0"/>
                <a:ea typeface="Calibri" pitchFamily="34" charset="-122"/>
                <a:cs typeface="Calibri" pitchFamily="34" charset="-120"/>
              </a:rPr>
              <a:t>Wheels 3.0</a:t>
            </a:r>
            <a:endParaRPr lang="en-US" sz="1400" dirty="0"/>
          </a:p>
        </p:txBody>
      </p:sp>
      <p:sp>
        <p:nvSpPr>
          <p:cNvPr id="23" name="Text 20"/>
          <p:cNvSpPr txBox="1"/>
          <p:nvPr/>
        </p:nvSpPr>
        <p:spPr>
          <a:xfrm>
            <a:off x="5166360" y="2651760"/>
            <a:ext cx="1280160" cy="1463040"/>
          </a:xfrm>
          <a:prstGeom prst="rect">
            <a:avLst/>
          </a:prstGeom>
          <a:noFill/>
          <a:ln/>
        </p:spPr>
        <p:txBody>
          <a:bodyPr wrap="square" lIns="0" tIns="0" rIns="0" bIns="0" rtlCol="0" anchor="t"/>
          <a:lstStyle/>
          <a:p>
            <a:pPr marL="0" indent="0" algn="ctr">
              <a:buNone/>
            </a:pPr>
            <a:r>
              <a:rPr lang="en-US" sz="1050" dirty="0">
                <a:solidFill>
                  <a:srgbClr val="6B7785"/>
                </a:solidFill>
                <a:latin typeface="Calibri" pitchFamily="34" charset="0"/>
                <a:ea typeface="Calibri" pitchFamily="34" charset="-122"/>
                <a:cs typeface="Calibri" pitchFamily="34" charset="-120"/>
              </a:rPr>
              <a:t>Rebrand to wheels.dev. Core moves to vendor/. SQLite, Oracle, BoxLang, CockroachDB.</a:t>
            </a:r>
            <a:endParaRPr lang="en-US" sz="1050" dirty="0"/>
          </a:p>
        </p:txBody>
      </p:sp>
      <p:sp>
        <p:nvSpPr>
          <p:cNvPr id="24" name="Shape 21"/>
          <p:cNvSpPr/>
          <p:nvPr/>
        </p:nvSpPr>
        <p:spPr>
          <a:xfrm>
            <a:off x="7315200" y="1874520"/>
            <a:ext cx="274320" cy="274320"/>
          </a:xfrm>
          <a:prstGeom prst="ellipse">
            <a:avLst/>
          </a:prstGeom>
          <a:solidFill>
            <a:srgbClr val="EF3B2D"/>
          </a:solidFill>
          <a:ln w="12700">
            <a:solidFill>
              <a:srgbClr val="EF3B2D"/>
            </a:solidFill>
            <a:prstDash val="solid"/>
          </a:ln>
        </p:spPr>
        <p:txBody>
          <a:bodyPr/>
          <a:lstStyle/>
          <a:p>
            <a:endParaRPr lang="en-US"/>
          </a:p>
        </p:txBody>
      </p:sp>
      <p:sp>
        <p:nvSpPr>
          <p:cNvPr id="25" name="Text 22"/>
          <p:cNvSpPr txBox="1"/>
          <p:nvPr/>
        </p:nvSpPr>
        <p:spPr>
          <a:xfrm>
            <a:off x="6949440" y="1371600"/>
            <a:ext cx="1005840" cy="365760"/>
          </a:xfrm>
          <a:prstGeom prst="rect">
            <a:avLst/>
          </a:prstGeom>
          <a:noFill/>
          <a:ln/>
        </p:spPr>
        <p:txBody>
          <a:bodyPr wrap="square" lIns="0" tIns="0" rIns="0" bIns="0" rtlCol="0" anchor="ctr"/>
          <a:lstStyle/>
          <a:p>
            <a:pPr marL="0" indent="0" algn="ctr">
              <a:buNone/>
            </a:pPr>
            <a:r>
              <a:rPr lang="en-US" sz="1600" b="1" dirty="0">
                <a:solidFill>
                  <a:srgbClr val="EF3B2D"/>
                </a:solidFill>
                <a:latin typeface="Calibri" pitchFamily="34" charset="0"/>
                <a:ea typeface="Calibri" pitchFamily="34" charset="-122"/>
                <a:cs typeface="Calibri" pitchFamily="34" charset="-120"/>
              </a:rPr>
              <a:t>2026</a:t>
            </a:r>
            <a:endParaRPr lang="en-US" sz="1600" dirty="0"/>
          </a:p>
        </p:txBody>
      </p:sp>
      <p:sp>
        <p:nvSpPr>
          <p:cNvPr id="26" name="Text 23"/>
          <p:cNvSpPr txBox="1"/>
          <p:nvPr/>
        </p:nvSpPr>
        <p:spPr>
          <a:xfrm>
            <a:off x="6858000" y="2286000"/>
            <a:ext cx="1188720" cy="320040"/>
          </a:xfrm>
          <a:prstGeom prst="rect">
            <a:avLst/>
          </a:prstGeom>
          <a:noFill/>
          <a:ln/>
        </p:spPr>
        <p:txBody>
          <a:bodyPr wrap="square" lIns="0" tIns="0" rIns="0" bIns="0" rtlCol="0" anchor="ctr"/>
          <a:lstStyle/>
          <a:p>
            <a:pPr marL="0" indent="0" algn="ctr">
              <a:buNone/>
            </a:pPr>
            <a:r>
              <a:rPr lang="en-US" sz="1400" b="1" dirty="0">
                <a:solidFill>
                  <a:srgbClr val="1A2430"/>
                </a:solidFill>
                <a:latin typeface="Calibri" pitchFamily="34" charset="0"/>
                <a:ea typeface="Calibri" pitchFamily="34" charset="-122"/>
                <a:cs typeface="Calibri" pitchFamily="34" charset="-120"/>
              </a:rPr>
              <a:t>Wheels 4.x</a:t>
            </a:r>
            <a:endParaRPr lang="en-US" sz="1400" dirty="0"/>
          </a:p>
        </p:txBody>
      </p:sp>
      <p:sp>
        <p:nvSpPr>
          <p:cNvPr id="27" name="Text 24"/>
          <p:cNvSpPr txBox="1"/>
          <p:nvPr/>
        </p:nvSpPr>
        <p:spPr>
          <a:xfrm>
            <a:off x="6812280" y="2651760"/>
            <a:ext cx="1280160" cy="1463040"/>
          </a:xfrm>
          <a:prstGeom prst="rect">
            <a:avLst/>
          </a:prstGeom>
          <a:noFill/>
          <a:ln/>
        </p:spPr>
        <p:txBody>
          <a:bodyPr wrap="square" lIns="0" tIns="0" rIns="0" bIns="0" rtlCol="0" anchor="t"/>
          <a:lstStyle/>
          <a:p>
            <a:pPr marL="0" indent="0" algn="ctr">
              <a:buNone/>
            </a:pPr>
            <a:r>
              <a:rPr lang="en-US" sz="1050" dirty="0">
                <a:solidFill>
                  <a:srgbClr val="6B7785"/>
                </a:solidFill>
                <a:latin typeface="Calibri" pitchFamily="34" charset="0"/>
                <a:ea typeface="Calibri" pitchFamily="34" charset="-122"/>
                <a:cs typeface="Calibri" pitchFamily="34" charset="-120"/>
              </a:rPr>
              <a:t>Standalone CLI (no CommandBox), auth &amp; policy generators, storage, MCP, agent-driven CI.</a:t>
            </a:r>
            <a:endParaRPr lang="en-US" sz="1050" dirty="0"/>
          </a:p>
        </p:txBody>
      </p:sp>
      <p:sp>
        <p:nvSpPr>
          <p:cNvPr id="28" name="Text 25"/>
          <p:cNvSpPr txBox="1"/>
          <p:nvPr/>
        </p:nvSpPr>
        <p:spPr>
          <a:xfrm>
            <a:off x="457200" y="4297680"/>
            <a:ext cx="8229600" cy="365760"/>
          </a:xfrm>
          <a:prstGeom prst="rect">
            <a:avLst/>
          </a:prstGeom>
          <a:noFill/>
          <a:ln/>
        </p:spPr>
        <p:txBody>
          <a:bodyPr wrap="square" lIns="0" tIns="0" rIns="0" bIns="0" rtlCol="0" anchor="ctr"/>
          <a:lstStyle/>
          <a:p>
            <a:pPr marL="0" indent="0" algn="ctr">
              <a:buNone/>
            </a:pPr>
            <a:r>
              <a:rPr lang="en-US" sz="1300" b="1" dirty="0">
                <a:solidFill>
                  <a:srgbClr val="1A2430"/>
                </a:solidFill>
                <a:latin typeface="Calibri" pitchFamily="34" charset="0"/>
                <a:ea typeface="Calibri" pitchFamily="34" charset="-122"/>
                <a:cs typeface="Calibri" pitchFamily="34" charset="-120"/>
              </a:rPr>
              <a:t>Runs today on Adobe ColdFusion 2018–2025, Lucee 5/6/7, </a:t>
            </a:r>
            <a:r>
              <a:rPr lang="en-US" sz="1300" b="1" dirty="0" err="1">
                <a:solidFill>
                  <a:srgbClr val="1A2430"/>
                </a:solidFill>
                <a:latin typeface="Calibri" pitchFamily="34" charset="0"/>
                <a:ea typeface="Calibri" pitchFamily="34" charset="-122"/>
                <a:cs typeface="Calibri" pitchFamily="34" charset="-120"/>
              </a:rPr>
              <a:t>BoxLang</a:t>
            </a:r>
            <a:r>
              <a:rPr lang="en-US" sz="1300" b="1" dirty="0">
                <a:solidFill>
                  <a:srgbClr val="1A2430"/>
                </a:solidFill>
                <a:latin typeface="Calibri" pitchFamily="34" charset="0"/>
                <a:ea typeface="Calibri" pitchFamily="34" charset="-122"/>
                <a:cs typeface="Calibri" pitchFamily="34" charset="-120"/>
              </a:rPr>
              <a:t> 1.x, and </a:t>
            </a:r>
            <a:r>
              <a:rPr lang="en-US" sz="1300" b="1" dirty="0" err="1">
                <a:solidFill>
                  <a:srgbClr val="1A2430"/>
                </a:solidFill>
                <a:latin typeface="Calibri" pitchFamily="34" charset="0"/>
                <a:ea typeface="Calibri" pitchFamily="34" charset="-122"/>
                <a:cs typeface="Calibri" pitchFamily="34" charset="-120"/>
              </a:rPr>
              <a:t>RustCFML</a:t>
            </a:r>
            <a:r>
              <a:rPr lang="en-US" sz="1300" b="1" dirty="0">
                <a:solidFill>
                  <a:srgbClr val="1A2430"/>
                </a:solidFill>
                <a:latin typeface="Calibri" pitchFamily="34" charset="0"/>
                <a:ea typeface="Calibri" pitchFamily="34" charset="-122"/>
                <a:cs typeface="Calibri" pitchFamily="34" charset="-120"/>
              </a:rPr>
              <a: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home/claude/deck/assets/mark-t.png"/>
          <p:cNvPicPr>
            <a:picLocks noChangeAspect="1"/>
          </p:cNvPicPr>
          <p:nvPr/>
        </p:nvPicPr>
        <p:blipFill>
          <a:blip r:embed="rId3"/>
          <a:stretch>
            <a:fillRect/>
          </a:stretch>
        </p:blipFill>
        <p:spPr>
          <a:xfrm>
            <a:off x="8092440" y="384048"/>
            <a:ext cx="594360" cy="365760"/>
          </a:xfrm>
          <a:prstGeom prst="rect">
            <a:avLst/>
          </a:prstGeom>
        </p:spPr>
      </p:pic>
      <p:sp>
        <p:nvSpPr>
          <p:cNvPr id="3" name="Text 0"/>
          <p:cNvSpPr txBox="1"/>
          <p:nvPr/>
        </p:nvSpPr>
        <p:spPr>
          <a:xfrm>
            <a:off x="457200" y="320040"/>
            <a:ext cx="7498080" cy="640080"/>
          </a:xfrm>
          <a:prstGeom prst="rect">
            <a:avLst/>
          </a:prstGeom>
          <a:noFill/>
          <a:ln/>
        </p:spPr>
        <p:txBody>
          <a:bodyPr wrap="square" lIns="0" tIns="0" rIns="0" bIns="0" rtlCol="0" anchor="ctr"/>
          <a:lstStyle/>
          <a:p>
            <a:pPr marL="0" indent="0">
              <a:buNone/>
            </a:pPr>
            <a:r>
              <a:rPr lang="en-US" sz="3000" b="1" dirty="0">
                <a:solidFill>
                  <a:srgbClr val="1A2430"/>
                </a:solidFill>
                <a:latin typeface="Calibri" pitchFamily="34" charset="0"/>
                <a:ea typeface="Calibri" pitchFamily="34" charset="-122"/>
                <a:cs typeface="Calibri" pitchFamily="34" charset="-120"/>
              </a:rPr>
              <a:t>What Wheels is</a:t>
            </a:r>
            <a:endParaRPr lang="en-US" sz="3000" dirty="0"/>
          </a:p>
        </p:txBody>
      </p:sp>
      <p:sp>
        <p:nvSpPr>
          <p:cNvPr id="4" name="Text 1"/>
          <p:cNvSpPr txBox="1"/>
          <p:nvPr/>
        </p:nvSpPr>
        <p:spPr>
          <a:xfrm>
            <a:off x="457200" y="109728"/>
            <a:ext cx="5486400" cy="228600"/>
          </a:xfrm>
          <a:prstGeom prst="rect">
            <a:avLst/>
          </a:prstGeom>
          <a:noFill/>
          <a:ln/>
        </p:spPr>
        <p:txBody>
          <a:bodyPr wrap="square" lIns="0" tIns="0" rIns="0" bIns="0" rtlCol="0" anchor="ctr"/>
          <a:lstStyle/>
          <a:p>
            <a:pPr marL="0" indent="0">
              <a:buNone/>
            </a:pPr>
            <a:r>
              <a:rPr lang="en-US" sz="1000" b="1" kern="0" spc="200" dirty="0">
                <a:solidFill>
                  <a:srgbClr val="EF3B2D"/>
                </a:solidFill>
                <a:latin typeface="Calibri" pitchFamily="34" charset="0"/>
                <a:ea typeface="Calibri" pitchFamily="34" charset="-122"/>
                <a:cs typeface="Calibri" pitchFamily="34" charset="-120"/>
              </a:rPr>
              <a:t>IN ONE SLIDE</a:t>
            </a:r>
            <a:endParaRPr lang="en-US" sz="1000" dirty="0"/>
          </a:p>
        </p:txBody>
      </p:sp>
      <p:sp>
        <p:nvSpPr>
          <p:cNvPr id="5" name="Text 2"/>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6B7785"/>
                </a:solidFill>
                <a:latin typeface="Calibri" pitchFamily="34" charset="0"/>
                <a:ea typeface="Calibri" pitchFamily="34" charset="-122"/>
                <a:cs typeface="Calibri" pitchFamily="34" charset="-120"/>
              </a:rPr>
              <a:t>wheels.dev   ·   Mid-Michigan CFUG · Sept 15, 2026</a:t>
            </a:r>
            <a:endParaRPr lang="en-US" sz="9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6B7785"/>
                </a:solidFill>
                <a:latin typeface="Calibri" pitchFamily="34" charset="0"/>
                <a:ea typeface="Calibri" pitchFamily="34" charset="-122"/>
                <a:cs typeface="Calibri" pitchFamily="34" charset="-120"/>
              </a:rPr>
              <a:t>6</a:t>
            </a:r>
            <a:endParaRPr lang="en-US" sz="900" dirty="0"/>
          </a:p>
        </p:txBody>
      </p:sp>
      <p:sp>
        <p:nvSpPr>
          <p:cNvPr id="7" name="Text 4"/>
          <p:cNvSpPr txBox="1"/>
          <p:nvPr/>
        </p:nvSpPr>
        <p:spPr>
          <a:xfrm>
            <a:off x="457200" y="1097280"/>
            <a:ext cx="8229600" cy="640080"/>
          </a:xfrm>
          <a:prstGeom prst="rect">
            <a:avLst/>
          </a:prstGeom>
          <a:noFill/>
          <a:ln/>
        </p:spPr>
        <p:txBody>
          <a:bodyPr wrap="square" lIns="0" tIns="0" rIns="0" bIns="0" rtlCol="0" anchor="ctr"/>
          <a:lstStyle/>
          <a:p>
            <a:pPr marL="0" indent="0">
              <a:buNone/>
            </a:pPr>
            <a:r>
              <a:rPr lang="en-US" sz="1700" dirty="0">
                <a:solidFill>
                  <a:srgbClr val="1A2430"/>
                </a:solidFill>
                <a:latin typeface="Calibri" pitchFamily="34" charset="0"/>
                <a:ea typeface="Calibri" pitchFamily="34" charset="-122"/>
                <a:cs typeface="Calibri" pitchFamily="34" charset="-120"/>
              </a:rPr>
              <a:t>An MVC web framework for CFML, built on Rails conventions, that runs on any modern CFML engine and any mainstream database.</a:t>
            </a:r>
            <a:endParaRPr lang="en-US" sz="1700" dirty="0"/>
          </a:p>
        </p:txBody>
      </p:sp>
      <p:sp>
        <p:nvSpPr>
          <p:cNvPr id="8" name="Shape 5"/>
          <p:cNvSpPr/>
          <p:nvPr/>
        </p:nvSpPr>
        <p:spPr>
          <a:xfrm>
            <a:off x="457200" y="1920240"/>
            <a:ext cx="2651760" cy="2286000"/>
          </a:xfrm>
          <a:prstGeom prst="roundRect">
            <a:avLst>
              <a:gd name="adj" fmla="val 3200"/>
            </a:avLst>
          </a:prstGeom>
          <a:solidFill>
            <a:srgbClr val="F3F5F7"/>
          </a:solidFill>
          <a:ln w="12700">
            <a:solidFill>
              <a:srgbClr val="F3F5F7"/>
            </a:solidFill>
            <a:prstDash val="solid"/>
          </a:ln>
        </p:spPr>
        <p:txBody>
          <a:bodyPr/>
          <a:lstStyle/>
          <a:p>
            <a:endParaRPr lang="en-US"/>
          </a:p>
        </p:txBody>
      </p:sp>
      <p:sp>
        <p:nvSpPr>
          <p:cNvPr id="9" name="Text 6"/>
          <p:cNvSpPr txBox="1"/>
          <p:nvPr/>
        </p:nvSpPr>
        <p:spPr>
          <a:xfrm>
            <a:off x="640080" y="2057400"/>
            <a:ext cx="2286000" cy="365760"/>
          </a:xfrm>
          <a:prstGeom prst="rect">
            <a:avLst/>
          </a:prstGeom>
          <a:noFill/>
          <a:ln/>
        </p:spPr>
        <p:txBody>
          <a:bodyPr wrap="square" lIns="0" tIns="0" rIns="0" bIns="0" rtlCol="0" anchor="ctr"/>
          <a:lstStyle/>
          <a:p>
            <a:pPr marL="0" indent="0">
              <a:buNone/>
            </a:pPr>
            <a:r>
              <a:rPr lang="en-US" sz="1600" b="1" dirty="0">
                <a:solidFill>
                  <a:srgbClr val="1A2430"/>
                </a:solidFill>
                <a:latin typeface="Calibri" pitchFamily="34" charset="0"/>
                <a:ea typeface="Calibri" pitchFamily="34" charset="-122"/>
                <a:cs typeface="Calibri" pitchFamily="34" charset="-120"/>
              </a:rPr>
              <a:t>Engines</a:t>
            </a:r>
            <a:endParaRPr lang="en-US" sz="1600" dirty="0"/>
          </a:p>
        </p:txBody>
      </p:sp>
      <p:sp>
        <p:nvSpPr>
          <p:cNvPr id="10" name="Text 7"/>
          <p:cNvSpPr txBox="1"/>
          <p:nvPr/>
        </p:nvSpPr>
        <p:spPr>
          <a:xfrm>
            <a:off x="640080" y="2514600"/>
            <a:ext cx="2286000" cy="1554480"/>
          </a:xfrm>
          <a:prstGeom prst="rect">
            <a:avLst/>
          </a:prstGeom>
          <a:noFill/>
          <a:ln/>
        </p:spPr>
        <p:txBody>
          <a:bodyPr wrap="square" lIns="0" tIns="0" rIns="0" bIns="0" rtlCol="0" anchor="t"/>
          <a:lstStyle/>
          <a:p>
            <a:pPr marL="0" indent="0">
              <a:spcAft>
                <a:spcPts val="800"/>
              </a:spcAft>
              <a:buNone/>
            </a:pPr>
            <a:r>
              <a:rPr lang="en-US" sz="1250" dirty="0">
                <a:solidFill>
                  <a:srgbClr val="6B7785"/>
                </a:solidFill>
                <a:latin typeface="Calibri" pitchFamily="34" charset="0"/>
                <a:ea typeface="Calibri" pitchFamily="34" charset="-122"/>
                <a:cs typeface="Calibri" pitchFamily="34" charset="-120"/>
              </a:rPr>
              <a:t>Adobe ColdFusion 2018 · 2021 · 2023 · 2025</a:t>
            </a:r>
            <a:endParaRPr lang="en-US" sz="1250" dirty="0"/>
          </a:p>
          <a:p>
            <a:pPr marL="0" indent="0">
              <a:spcAft>
                <a:spcPts val="800"/>
              </a:spcAft>
              <a:buNone/>
            </a:pPr>
            <a:r>
              <a:rPr lang="en-US" sz="1250" dirty="0">
                <a:solidFill>
                  <a:srgbClr val="6B7785"/>
                </a:solidFill>
                <a:latin typeface="Calibri" pitchFamily="34" charset="0"/>
                <a:ea typeface="Calibri" pitchFamily="34" charset="-122"/>
                <a:cs typeface="Calibri" pitchFamily="34" charset="-120"/>
              </a:rPr>
              <a:t>Lucee 5 · 6 · 7</a:t>
            </a:r>
            <a:endParaRPr lang="en-US" sz="1250" dirty="0"/>
          </a:p>
          <a:p>
            <a:pPr marL="0" indent="0">
              <a:spcAft>
                <a:spcPts val="800"/>
              </a:spcAft>
              <a:buNone/>
            </a:pPr>
            <a:r>
              <a:rPr lang="en-US" sz="1250" dirty="0">
                <a:solidFill>
                  <a:srgbClr val="6B7785"/>
                </a:solidFill>
                <a:latin typeface="Calibri" pitchFamily="34" charset="0"/>
                <a:ea typeface="Calibri" pitchFamily="34" charset="-122"/>
                <a:cs typeface="Calibri" pitchFamily="34" charset="-120"/>
              </a:rPr>
              <a:t>BoxLang 1.x</a:t>
            </a:r>
          </a:p>
          <a:p>
            <a:pPr marL="0" indent="0">
              <a:spcAft>
                <a:spcPts val="800"/>
              </a:spcAft>
              <a:buNone/>
            </a:pPr>
            <a:r>
              <a:rPr lang="en-US" sz="1250" dirty="0" err="1">
                <a:solidFill>
                  <a:srgbClr val="6B7785"/>
                </a:solidFill>
                <a:latin typeface="Calibri" pitchFamily="34" charset="0"/>
                <a:cs typeface="Calibri" pitchFamily="34" charset="-120"/>
              </a:rPr>
              <a:t>RustCFML</a:t>
            </a:r>
            <a:endParaRPr lang="en-US" sz="1250" dirty="0"/>
          </a:p>
        </p:txBody>
      </p:sp>
      <p:sp>
        <p:nvSpPr>
          <p:cNvPr id="11" name="Shape 8"/>
          <p:cNvSpPr/>
          <p:nvPr/>
        </p:nvSpPr>
        <p:spPr>
          <a:xfrm>
            <a:off x="3246120" y="1920240"/>
            <a:ext cx="2651760" cy="2286000"/>
          </a:xfrm>
          <a:prstGeom prst="roundRect">
            <a:avLst>
              <a:gd name="adj" fmla="val 3200"/>
            </a:avLst>
          </a:prstGeom>
          <a:solidFill>
            <a:srgbClr val="F3F5F7"/>
          </a:solidFill>
          <a:ln w="12700">
            <a:solidFill>
              <a:srgbClr val="F3F5F7"/>
            </a:solidFill>
            <a:prstDash val="solid"/>
          </a:ln>
        </p:spPr>
        <p:txBody>
          <a:bodyPr/>
          <a:lstStyle/>
          <a:p>
            <a:endParaRPr lang="en-US"/>
          </a:p>
        </p:txBody>
      </p:sp>
      <p:sp>
        <p:nvSpPr>
          <p:cNvPr id="12" name="Text 9"/>
          <p:cNvSpPr txBox="1"/>
          <p:nvPr/>
        </p:nvSpPr>
        <p:spPr>
          <a:xfrm>
            <a:off x="3429000" y="2057400"/>
            <a:ext cx="2286000" cy="365760"/>
          </a:xfrm>
          <a:prstGeom prst="rect">
            <a:avLst/>
          </a:prstGeom>
          <a:noFill/>
          <a:ln/>
        </p:spPr>
        <p:txBody>
          <a:bodyPr wrap="square" lIns="0" tIns="0" rIns="0" bIns="0" rtlCol="0" anchor="ctr"/>
          <a:lstStyle/>
          <a:p>
            <a:pPr marL="0" indent="0">
              <a:buNone/>
            </a:pPr>
            <a:r>
              <a:rPr lang="en-US" sz="1600" b="1" dirty="0">
                <a:solidFill>
                  <a:srgbClr val="1A2430"/>
                </a:solidFill>
                <a:latin typeface="Calibri" pitchFamily="34" charset="0"/>
                <a:ea typeface="Calibri" pitchFamily="34" charset="-122"/>
                <a:cs typeface="Calibri" pitchFamily="34" charset="-120"/>
              </a:rPr>
              <a:t>Databases</a:t>
            </a:r>
            <a:endParaRPr lang="en-US" sz="1600" dirty="0"/>
          </a:p>
        </p:txBody>
      </p:sp>
      <p:sp>
        <p:nvSpPr>
          <p:cNvPr id="13" name="Text 10"/>
          <p:cNvSpPr txBox="1"/>
          <p:nvPr/>
        </p:nvSpPr>
        <p:spPr>
          <a:xfrm>
            <a:off x="3429000" y="2514600"/>
            <a:ext cx="2286000" cy="1554480"/>
          </a:xfrm>
          <a:prstGeom prst="rect">
            <a:avLst/>
          </a:prstGeom>
          <a:noFill/>
          <a:ln/>
        </p:spPr>
        <p:txBody>
          <a:bodyPr wrap="square" lIns="0" tIns="0" rIns="0" bIns="0" rtlCol="0" anchor="t"/>
          <a:lstStyle/>
          <a:p>
            <a:pPr marL="0" indent="0">
              <a:spcAft>
                <a:spcPts val="800"/>
              </a:spcAft>
              <a:buNone/>
            </a:pPr>
            <a:r>
              <a:rPr lang="en-US" sz="1250" dirty="0">
                <a:solidFill>
                  <a:srgbClr val="6B7785"/>
                </a:solidFill>
                <a:latin typeface="Calibri" pitchFamily="34" charset="0"/>
                <a:ea typeface="Calibri" pitchFamily="34" charset="-122"/>
                <a:cs typeface="Calibri" pitchFamily="34" charset="-120"/>
              </a:rPr>
              <a:t>SQL Server · MySQL · PostgreSQL</a:t>
            </a:r>
            <a:endParaRPr lang="en-US" sz="1250" dirty="0"/>
          </a:p>
          <a:p>
            <a:pPr marL="0" indent="0">
              <a:spcAft>
                <a:spcPts val="800"/>
              </a:spcAft>
              <a:buNone/>
            </a:pPr>
            <a:r>
              <a:rPr lang="en-US" sz="1250" dirty="0">
                <a:solidFill>
                  <a:srgbClr val="6B7785"/>
                </a:solidFill>
                <a:latin typeface="Calibri" pitchFamily="34" charset="0"/>
                <a:ea typeface="Calibri" pitchFamily="34" charset="-122"/>
                <a:cs typeface="Calibri" pitchFamily="34" charset="-120"/>
              </a:rPr>
              <a:t>Oracle · SQLite · H2</a:t>
            </a:r>
            <a:endParaRPr lang="en-US" sz="1250" dirty="0"/>
          </a:p>
          <a:p>
            <a:pPr marL="0" indent="0">
              <a:spcAft>
                <a:spcPts val="800"/>
              </a:spcAft>
              <a:buNone/>
            </a:pPr>
            <a:r>
              <a:rPr lang="en-US" sz="1250" dirty="0">
                <a:solidFill>
                  <a:srgbClr val="6B7785"/>
                </a:solidFill>
                <a:latin typeface="Calibri" pitchFamily="34" charset="0"/>
                <a:ea typeface="Calibri" pitchFamily="34" charset="-122"/>
                <a:cs typeface="Calibri" pitchFamily="34" charset="-120"/>
              </a:rPr>
              <a:t>CockroachDB</a:t>
            </a:r>
            <a:endParaRPr lang="en-US" sz="1250" dirty="0"/>
          </a:p>
        </p:txBody>
      </p:sp>
      <p:sp>
        <p:nvSpPr>
          <p:cNvPr id="14" name="Shape 11"/>
          <p:cNvSpPr/>
          <p:nvPr/>
        </p:nvSpPr>
        <p:spPr>
          <a:xfrm>
            <a:off x="6035040" y="1920240"/>
            <a:ext cx="2651760" cy="2286000"/>
          </a:xfrm>
          <a:prstGeom prst="roundRect">
            <a:avLst>
              <a:gd name="adj" fmla="val 3200"/>
            </a:avLst>
          </a:prstGeom>
          <a:solidFill>
            <a:srgbClr val="0C1620"/>
          </a:solidFill>
          <a:ln w="12700">
            <a:solidFill>
              <a:srgbClr val="0C1620"/>
            </a:solidFill>
            <a:prstDash val="solid"/>
          </a:ln>
        </p:spPr>
        <p:txBody>
          <a:bodyPr/>
          <a:lstStyle/>
          <a:p>
            <a:endParaRPr lang="en-US"/>
          </a:p>
        </p:txBody>
      </p:sp>
      <p:sp>
        <p:nvSpPr>
          <p:cNvPr id="15" name="Text 12"/>
          <p:cNvSpPr txBox="1"/>
          <p:nvPr/>
        </p:nvSpPr>
        <p:spPr>
          <a:xfrm>
            <a:off x="6217920" y="2057400"/>
            <a:ext cx="2286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In the box</a:t>
            </a:r>
            <a:endParaRPr lang="en-US" sz="1600" dirty="0"/>
          </a:p>
        </p:txBody>
      </p:sp>
      <p:sp>
        <p:nvSpPr>
          <p:cNvPr id="16" name="Text 13"/>
          <p:cNvSpPr txBox="1"/>
          <p:nvPr/>
        </p:nvSpPr>
        <p:spPr>
          <a:xfrm>
            <a:off x="6217920" y="2514600"/>
            <a:ext cx="2286000" cy="1554480"/>
          </a:xfrm>
          <a:prstGeom prst="rect">
            <a:avLst/>
          </a:prstGeom>
          <a:noFill/>
          <a:ln/>
        </p:spPr>
        <p:txBody>
          <a:bodyPr wrap="square" lIns="0" tIns="0" rIns="0" bIns="0" rtlCol="0" anchor="t"/>
          <a:lstStyle/>
          <a:p>
            <a:pPr marL="0" indent="0">
              <a:spcAft>
                <a:spcPts val="800"/>
              </a:spcAft>
              <a:buNone/>
            </a:pPr>
            <a:r>
              <a:rPr lang="en-US" sz="1250" dirty="0">
                <a:solidFill>
                  <a:srgbClr val="C9D3DD"/>
                </a:solidFill>
                <a:latin typeface="Calibri" pitchFamily="34" charset="0"/>
                <a:ea typeface="Calibri" pitchFamily="34" charset="-122"/>
                <a:cs typeface="Calibri" pitchFamily="34" charset="-120"/>
              </a:rPr>
              <a:t>ORM + migrations + query builder</a:t>
            </a:r>
            <a:endParaRPr lang="en-US" sz="1250" dirty="0"/>
          </a:p>
          <a:p>
            <a:pPr marL="0" indent="0">
              <a:spcAft>
                <a:spcPts val="800"/>
              </a:spcAft>
              <a:buNone/>
            </a:pPr>
            <a:r>
              <a:rPr lang="en-US" sz="1250" dirty="0">
                <a:solidFill>
                  <a:srgbClr val="C9D3DD"/>
                </a:solidFill>
                <a:latin typeface="Calibri" pitchFamily="34" charset="0"/>
                <a:ea typeface="Calibri" pitchFamily="34" charset="-122"/>
                <a:cs typeface="Calibri" pitchFamily="34" charset="-120"/>
              </a:rPr>
              <a:t>Routing · validation · auth · policies</a:t>
            </a:r>
            <a:endParaRPr lang="en-US" sz="1250" dirty="0"/>
          </a:p>
          <a:p>
            <a:pPr marL="0" indent="0">
              <a:spcAft>
                <a:spcPts val="800"/>
              </a:spcAft>
              <a:buNone/>
            </a:pPr>
            <a:r>
              <a:rPr lang="en-US" sz="1250" dirty="0" err="1">
                <a:solidFill>
                  <a:srgbClr val="C9D3DD"/>
                </a:solidFill>
                <a:latin typeface="Calibri" pitchFamily="34" charset="0"/>
                <a:ea typeface="Calibri" pitchFamily="34" charset="-122"/>
                <a:cs typeface="Calibri" pitchFamily="34" charset="-120"/>
              </a:rPr>
              <a:t>WheelsTest</a:t>
            </a:r>
            <a:r>
              <a:rPr lang="en-US" sz="1250" dirty="0">
                <a:solidFill>
                  <a:srgbClr val="C9D3DD"/>
                </a:solidFill>
                <a:latin typeface="Calibri" pitchFamily="34" charset="0"/>
                <a:ea typeface="Calibri" pitchFamily="34" charset="-122"/>
                <a:cs typeface="Calibri" pitchFamily="34" charset="-120"/>
              </a:rPr>
              <a:t> (</a:t>
            </a:r>
            <a:r>
              <a:rPr lang="en-US" sz="1250" dirty="0" err="1">
                <a:solidFill>
                  <a:srgbClr val="C9D3DD"/>
                </a:solidFill>
                <a:latin typeface="Calibri" pitchFamily="34" charset="0"/>
                <a:ea typeface="Calibri" pitchFamily="34" charset="-122"/>
                <a:cs typeface="Calibri" pitchFamily="34" charset="-120"/>
              </a:rPr>
              <a:t>TestBox</a:t>
            </a:r>
            <a:r>
              <a:rPr lang="en-US" sz="1250" dirty="0">
                <a:solidFill>
                  <a:srgbClr val="C9D3DD"/>
                </a:solidFill>
                <a:latin typeface="Calibri" pitchFamily="34" charset="0"/>
                <a:ea typeface="Calibri" pitchFamily="34" charset="-122"/>
                <a:cs typeface="Calibri" pitchFamily="34" charset="-120"/>
              </a:rPr>
              <a:t>) specs  </a:t>
            </a:r>
          </a:p>
          <a:p>
            <a:pPr marL="0" indent="0">
              <a:spcAft>
                <a:spcPts val="800"/>
              </a:spcAft>
              <a:buNone/>
            </a:pPr>
            <a:r>
              <a:rPr lang="en-US" sz="1250" dirty="0">
                <a:solidFill>
                  <a:srgbClr val="C9D3DD"/>
                </a:solidFill>
                <a:latin typeface="Calibri" pitchFamily="34" charset="0"/>
                <a:ea typeface="Calibri" pitchFamily="34" charset="-122"/>
                <a:cs typeface="Calibri" pitchFamily="34" charset="-120"/>
              </a:rPr>
              <a:t>CLI · MCP server</a:t>
            </a:r>
            <a:endParaRPr lang="en-US" sz="1250" dirty="0"/>
          </a:p>
        </p:txBody>
      </p:sp>
      <p:sp>
        <p:nvSpPr>
          <p:cNvPr id="17" name="Text 14"/>
          <p:cNvSpPr txBox="1"/>
          <p:nvPr/>
        </p:nvSpPr>
        <p:spPr>
          <a:xfrm>
            <a:off x="457200" y="4343400"/>
            <a:ext cx="8229600" cy="320040"/>
          </a:xfrm>
          <a:prstGeom prst="rect">
            <a:avLst/>
          </a:prstGeom>
          <a:noFill/>
          <a:ln/>
        </p:spPr>
        <p:txBody>
          <a:bodyPr wrap="square" lIns="0" tIns="0" rIns="0" bIns="0" rtlCol="0" anchor="ctr"/>
          <a:lstStyle/>
          <a:p>
            <a:pPr marL="0" indent="0">
              <a:buNone/>
            </a:pPr>
            <a:r>
              <a:rPr lang="en-US" sz="1200" dirty="0">
                <a:solidFill>
                  <a:srgbClr val="6B7785"/>
                </a:solidFill>
                <a:latin typeface="Calibri" pitchFamily="34" charset="0"/>
                <a:ea typeface="Calibri" pitchFamily="34" charset="-122"/>
                <a:cs typeface="Calibri" pitchFamily="34" charset="-120"/>
              </a:rPr>
              <a:t>Apache 2.0 licensed · github.com/wheels-dev/wheels · ForgeBox: wheels-base-template -&gt; wheels-core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Image 0" descr="/home/claude/deck/assets/mark-t.png"/>
          <p:cNvPicPr>
            <a:picLocks noChangeAspect="1"/>
          </p:cNvPicPr>
          <p:nvPr/>
        </p:nvPicPr>
        <p:blipFill>
          <a:blip r:embed="rId3"/>
          <a:stretch>
            <a:fillRect/>
          </a:stretch>
        </p:blipFill>
        <p:spPr>
          <a:xfrm>
            <a:off x="8092440" y="384048"/>
            <a:ext cx="594360" cy="365760"/>
          </a:xfrm>
          <a:prstGeom prst="rect">
            <a:avLst/>
          </a:prstGeom>
        </p:spPr>
      </p:pic>
      <p:sp>
        <p:nvSpPr>
          <p:cNvPr id="3" name="Text 0"/>
          <p:cNvSpPr txBox="1"/>
          <p:nvPr/>
        </p:nvSpPr>
        <p:spPr>
          <a:xfrm>
            <a:off x="457200" y="320040"/>
            <a:ext cx="7498080" cy="640080"/>
          </a:xfrm>
          <a:prstGeom prst="rect">
            <a:avLst/>
          </a:prstGeom>
          <a:noFill/>
          <a:ln/>
        </p:spPr>
        <p:txBody>
          <a:bodyPr wrap="square" lIns="0" tIns="0" rIns="0" bIns="0" rtlCol="0" anchor="ctr"/>
          <a:lstStyle/>
          <a:p>
            <a:pPr marL="0" indent="0">
              <a:buNone/>
            </a:pPr>
            <a:r>
              <a:rPr lang="en-US" sz="3000" b="1" dirty="0">
                <a:solidFill>
                  <a:srgbClr val="1A2430"/>
                </a:solidFill>
                <a:latin typeface="Calibri" pitchFamily="34" charset="0"/>
                <a:ea typeface="Calibri" pitchFamily="34" charset="-122"/>
                <a:cs typeface="Calibri" pitchFamily="34" charset="-120"/>
              </a:rPr>
              <a:t>Convention over configuration</a:t>
            </a:r>
            <a:endParaRPr lang="en-US" sz="3000" dirty="0"/>
          </a:p>
        </p:txBody>
      </p:sp>
      <p:sp>
        <p:nvSpPr>
          <p:cNvPr id="4" name="Text 1"/>
          <p:cNvSpPr txBox="1"/>
          <p:nvPr/>
        </p:nvSpPr>
        <p:spPr>
          <a:xfrm>
            <a:off x="457200" y="109728"/>
            <a:ext cx="5486400" cy="228600"/>
          </a:xfrm>
          <a:prstGeom prst="rect">
            <a:avLst/>
          </a:prstGeom>
          <a:noFill/>
          <a:ln/>
        </p:spPr>
        <p:txBody>
          <a:bodyPr wrap="square" lIns="0" tIns="0" rIns="0" bIns="0" rtlCol="0" anchor="ctr"/>
          <a:lstStyle/>
          <a:p>
            <a:pPr marL="0" indent="0">
              <a:buNone/>
            </a:pPr>
            <a:r>
              <a:rPr lang="en-US" sz="1000" b="1" kern="0" spc="200" dirty="0">
                <a:solidFill>
                  <a:srgbClr val="EF3B2D"/>
                </a:solidFill>
                <a:latin typeface="Calibri" pitchFamily="34" charset="0"/>
                <a:ea typeface="Calibri" pitchFamily="34" charset="-122"/>
                <a:cs typeface="Calibri" pitchFamily="34" charset="-120"/>
              </a:rPr>
              <a:t>THE CORE IDEA</a:t>
            </a:r>
            <a:endParaRPr lang="en-US" sz="1000" dirty="0"/>
          </a:p>
        </p:txBody>
      </p:sp>
      <p:sp>
        <p:nvSpPr>
          <p:cNvPr id="5" name="Text 2"/>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6B7785"/>
                </a:solidFill>
                <a:latin typeface="Calibri" pitchFamily="34" charset="0"/>
                <a:ea typeface="Calibri" pitchFamily="34" charset="-122"/>
                <a:cs typeface="Calibri" pitchFamily="34" charset="-120"/>
              </a:rPr>
              <a:t>wheels.dev   ·   Mid-Michigan CFUG · Sept 15, 2026</a:t>
            </a:r>
            <a:endParaRPr lang="en-US" sz="9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6B7785"/>
                </a:solidFill>
                <a:latin typeface="Calibri" pitchFamily="34" charset="0"/>
                <a:ea typeface="Calibri" pitchFamily="34" charset="-122"/>
                <a:cs typeface="Calibri" pitchFamily="34" charset="-120"/>
              </a:rPr>
              <a:t>7</a:t>
            </a:r>
            <a:endParaRPr lang="en-US" sz="900" dirty="0"/>
          </a:p>
        </p:txBody>
      </p:sp>
      <p:sp>
        <p:nvSpPr>
          <p:cNvPr id="7" name="Text 4"/>
          <p:cNvSpPr txBox="1"/>
          <p:nvPr/>
        </p:nvSpPr>
        <p:spPr>
          <a:xfrm>
            <a:off x="457200" y="1051560"/>
            <a:ext cx="8229600" cy="411480"/>
          </a:xfrm>
          <a:prstGeom prst="rect">
            <a:avLst/>
          </a:prstGeom>
          <a:noFill/>
          <a:ln/>
        </p:spPr>
        <p:txBody>
          <a:bodyPr wrap="square" lIns="0" tIns="0" rIns="0" bIns="0" rtlCol="0" anchor="ctr"/>
          <a:lstStyle/>
          <a:p>
            <a:pPr marL="0" indent="0">
              <a:buNone/>
            </a:pPr>
            <a:r>
              <a:rPr lang="en-US" sz="1800" dirty="0">
                <a:solidFill>
                  <a:srgbClr val="1A2430"/>
                </a:solidFill>
                <a:latin typeface="Calibri" pitchFamily="34" charset="0"/>
                <a:ea typeface="Calibri" pitchFamily="34" charset="-122"/>
                <a:cs typeface="Calibri" pitchFamily="34" charset="-120"/>
              </a:rPr>
              <a:t>Name one thing. Wheels infers the rest.</a:t>
            </a:r>
            <a:endParaRPr lang="en-US" sz="1800" dirty="0"/>
          </a:p>
        </p:txBody>
      </p:sp>
      <p:sp>
        <p:nvSpPr>
          <p:cNvPr id="8" name="Shape 5"/>
          <p:cNvSpPr/>
          <p:nvPr/>
        </p:nvSpPr>
        <p:spPr>
          <a:xfrm>
            <a:off x="457200" y="1691640"/>
            <a:ext cx="1463040" cy="1417320"/>
          </a:xfrm>
          <a:prstGeom prst="roundRect">
            <a:avLst>
              <a:gd name="adj" fmla="val 5161"/>
            </a:avLst>
          </a:prstGeom>
          <a:solidFill>
            <a:srgbClr val="EF3B2D"/>
          </a:solidFill>
          <a:ln w="12700">
            <a:solidFill>
              <a:srgbClr val="EF3B2D"/>
            </a:solidFill>
            <a:prstDash val="solid"/>
          </a:ln>
        </p:spPr>
        <p:txBody>
          <a:bodyPr/>
          <a:lstStyle/>
          <a:p>
            <a:endParaRPr lang="en-US"/>
          </a:p>
        </p:txBody>
      </p:sp>
      <p:sp>
        <p:nvSpPr>
          <p:cNvPr id="9" name="Text 6"/>
          <p:cNvSpPr txBox="1"/>
          <p:nvPr/>
        </p:nvSpPr>
        <p:spPr>
          <a:xfrm>
            <a:off x="457200" y="1828800"/>
            <a:ext cx="146304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ourier New" pitchFamily="34" charset="0"/>
                <a:ea typeface="Courier New" pitchFamily="34" charset="-122"/>
                <a:cs typeface="Courier New" pitchFamily="34" charset="-120"/>
              </a:rPr>
              <a:t>Post</a:t>
            </a:r>
            <a:endParaRPr lang="en-US" sz="1700" dirty="0"/>
          </a:p>
        </p:txBody>
      </p:sp>
      <p:sp>
        <p:nvSpPr>
          <p:cNvPr id="10" name="Text 7"/>
          <p:cNvSpPr txBox="1"/>
          <p:nvPr/>
        </p:nvSpPr>
        <p:spPr>
          <a:xfrm>
            <a:off x="457200" y="2286000"/>
            <a:ext cx="1463040" cy="274320"/>
          </a:xfrm>
          <a:prstGeom prst="rect">
            <a:avLst/>
          </a:prstGeom>
          <a:noFill/>
          <a:ln/>
        </p:spPr>
        <p:txBody>
          <a:bodyPr wrap="square" lIns="0" tIns="0" rIns="0" bIns="0" rtlCol="0" anchor="ctr"/>
          <a:lstStyle/>
          <a:p>
            <a:pPr marL="0" indent="0" algn="ctr">
              <a:buNone/>
            </a:pPr>
            <a:r>
              <a:rPr lang="en-US" sz="1100" dirty="0">
                <a:solidFill>
                  <a:srgbClr val="C9D3DD"/>
                </a:solidFill>
                <a:latin typeface="Calibri" pitchFamily="34" charset="0"/>
                <a:ea typeface="Calibri" pitchFamily="34" charset="-122"/>
                <a:cs typeface="Calibri" pitchFamily="34" charset="-120"/>
              </a:rPr>
              <a:t>model</a:t>
            </a:r>
            <a:endParaRPr lang="en-US" sz="1100" dirty="0"/>
          </a:p>
        </p:txBody>
      </p:sp>
      <p:sp>
        <p:nvSpPr>
          <p:cNvPr id="11" name="Text 8"/>
          <p:cNvSpPr txBox="1"/>
          <p:nvPr/>
        </p:nvSpPr>
        <p:spPr>
          <a:xfrm>
            <a:off x="502920" y="2606040"/>
            <a:ext cx="1371600" cy="457200"/>
          </a:xfrm>
          <a:prstGeom prst="rect">
            <a:avLst/>
          </a:prstGeom>
          <a:noFill/>
          <a:ln/>
        </p:spPr>
        <p:txBody>
          <a:bodyPr wrap="square" lIns="0" tIns="0" rIns="0" bIns="0" rtlCol="0" anchor="ctr"/>
          <a:lstStyle/>
          <a:p>
            <a:pPr marL="0" indent="0" algn="ctr">
              <a:buNone/>
            </a:pPr>
            <a:r>
              <a:rPr lang="en-US" sz="950" dirty="0">
                <a:solidFill>
                  <a:srgbClr val="9AA7B4"/>
                </a:solidFill>
                <a:latin typeface="Courier New" pitchFamily="34" charset="0"/>
                <a:ea typeface="Courier New" pitchFamily="34" charset="-122"/>
                <a:cs typeface="Courier New" pitchFamily="34" charset="-120"/>
              </a:rPr>
              <a:t>app/models/Post.cfc</a:t>
            </a:r>
            <a:endParaRPr lang="en-US" sz="950" dirty="0"/>
          </a:p>
        </p:txBody>
      </p:sp>
      <p:sp>
        <p:nvSpPr>
          <p:cNvPr id="12" name="Text 9"/>
          <p:cNvSpPr txBox="1"/>
          <p:nvPr/>
        </p:nvSpPr>
        <p:spPr>
          <a:xfrm>
            <a:off x="1901952" y="2148840"/>
            <a:ext cx="274320" cy="365760"/>
          </a:xfrm>
          <a:prstGeom prst="rect">
            <a:avLst/>
          </a:prstGeom>
          <a:noFill/>
          <a:ln/>
        </p:spPr>
        <p:txBody>
          <a:bodyPr wrap="square" lIns="0" tIns="0" rIns="0" bIns="0" rtlCol="0" anchor="ctr"/>
          <a:lstStyle/>
          <a:p>
            <a:pPr marL="0" indent="0" algn="ctr">
              <a:buNone/>
            </a:pPr>
            <a:r>
              <a:rPr lang="en-US" sz="2200" dirty="0">
                <a:solidFill>
                  <a:srgbClr val="EF3B2D"/>
                </a:solidFill>
                <a:latin typeface="Calibri" pitchFamily="34" charset="0"/>
                <a:ea typeface="Calibri" pitchFamily="34" charset="-122"/>
                <a:cs typeface="Calibri" pitchFamily="34" charset="-120"/>
              </a:rPr>
              <a:t>›</a:t>
            </a:r>
            <a:endParaRPr lang="en-US" sz="2200" dirty="0"/>
          </a:p>
        </p:txBody>
      </p:sp>
      <p:sp>
        <p:nvSpPr>
          <p:cNvPr id="13" name="Shape 10"/>
          <p:cNvSpPr/>
          <p:nvPr/>
        </p:nvSpPr>
        <p:spPr>
          <a:xfrm>
            <a:off x="2148840" y="1691640"/>
            <a:ext cx="1463040" cy="1417320"/>
          </a:xfrm>
          <a:prstGeom prst="roundRect">
            <a:avLst>
              <a:gd name="adj" fmla="val 5161"/>
            </a:avLst>
          </a:prstGeom>
          <a:solidFill>
            <a:srgbClr val="0C1620"/>
          </a:solidFill>
          <a:ln w="12700">
            <a:solidFill>
              <a:srgbClr val="0C1620"/>
            </a:solidFill>
            <a:prstDash val="solid"/>
          </a:ln>
        </p:spPr>
        <p:txBody>
          <a:bodyPr/>
          <a:lstStyle/>
          <a:p>
            <a:endParaRPr lang="en-US"/>
          </a:p>
        </p:txBody>
      </p:sp>
      <p:sp>
        <p:nvSpPr>
          <p:cNvPr id="14" name="Text 11"/>
          <p:cNvSpPr txBox="1"/>
          <p:nvPr/>
        </p:nvSpPr>
        <p:spPr>
          <a:xfrm>
            <a:off x="2148840" y="1828800"/>
            <a:ext cx="146304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ourier New" pitchFamily="34" charset="0"/>
                <a:ea typeface="Courier New" pitchFamily="34" charset="-122"/>
                <a:cs typeface="Courier New" pitchFamily="34" charset="-120"/>
              </a:rPr>
              <a:t>posts</a:t>
            </a:r>
            <a:endParaRPr lang="en-US" sz="1700" dirty="0"/>
          </a:p>
        </p:txBody>
      </p:sp>
      <p:sp>
        <p:nvSpPr>
          <p:cNvPr id="15" name="Text 12"/>
          <p:cNvSpPr txBox="1"/>
          <p:nvPr/>
        </p:nvSpPr>
        <p:spPr>
          <a:xfrm>
            <a:off x="2148840" y="2286000"/>
            <a:ext cx="1463040" cy="274320"/>
          </a:xfrm>
          <a:prstGeom prst="rect">
            <a:avLst/>
          </a:prstGeom>
          <a:noFill/>
          <a:ln/>
        </p:spPr>
        <p:txBody>
          <a:bodyPr wrap="square" lIns="0" tIns="0" rIns="0" bIns="0" rtlCol="0" anchor="ctr"/>
          <a:lstStyle/>
          <a:p>
            <a:pPr marL="0" indent="0" algn="ctr">
              <a:buNone/>
            </a:pPr>
            <a:r>
              <a:rPr lang="en-US" sz="1100" dirty="0">
                <a:solidFill>
                  <a:srgbClr val="C9D3DD"/>
                </a:solidFill>
                <a:latin typeface="Calibri" pitchFamily="34" charset="0"/>
                <a:ea typeface="Calibri" pitchFamily="34" charset="-122"/>
                <a:cs typeface="Calibri" pitchFamily="34" charset="-120"/>
              </a:rPr>
              <a:t>table</a:t>
            </a:r>
            <a:endParaRPr lang="en-US" sz="1100" dirty="0"/>
          </a:p>
        </p:txBody>
      </p:sp>
      <p:sp>
        <p:nvSpPr>
          <p:cNvPr id="16" name="Text 13"/>
          <p:cNvSpPr txBox="1"/>
          <p:nvPr/>
        </p:nvSpPr>
        <p:spPr>
          <a:xfrm>
            <a:off x="2194560" y="2606040"/>
            <a:ext cx="1371600" cy="457200"/>
          </a:xfrm>
          <a:prstGeom prst="rect">
            <a:avLst/>
          </a:prstGeom>
          <a:noFill/>
          <a:ln/>
        </p:spPr>
        <p:txBody>
          <a:bodyPr wrap="square" lIns="0" tIns="0" rIns="0" bIns="0" rtlCol="0" anchor="ctr"/>
          <a:lstStyle/>
          <a:p>
            <a:pPr marL="0" indent="0" algn="ctr">
              <a:buNone/>
            </a:pPr>
            <a:r>
              <a:rPr lang="en-US" sz="950" dirty="0">
                <a:solidFill>
                  <a:srgbClr val="9AA7B4"/>
                </a:solidFill>
                <a:latin typeface="Courier New" pitchFamily="34" charset="0"/>
                <a:ea typeface="Courier New" pitchFamily="34" charset="-122"/>
                <a:cs typeface="Courier New" pitchFamily="34" charset="-120"/>
              </a:rPr>
              <a:t>one migration</a:t>
            </a:r>
            <a:endParaRPr lang="en-US" sz="950" dirty="0"/>
          </a:p>
        </p:txBody>
      </p:sp>
      <p:sp>
        <p:nvSpPr>
          <p:cNvPr id="17" name="Text 14"/>
          <p:cNvSpPr txBox="1"/>
          <p:nvPr/>
        </p:nvSpPr>
        <p:spPr>
          <a:xfrm>
            <a:off x="3593592" y="2148840"/>
            <a:ext cx="274320" cy="365760"/>
          </a:xfrm>
          <a:prstGeom prst="rect">
            <a:avLst/>
          </a:prstGeom>
          <a:noFill/>
          <a:ln/>
        </p:spPr>
        <p:txBody>
          <a:bodyPr wrap="square" lIns="0" tIns="0" rIns="0" bIns="0" rtlCol="0" anchor="ctr"/>
          <a:lstStyle/>
          <a:p>
            <a:pPr marL="0" indent="0" algn="ctr">
              <a:buNone/>
            </a:pPr>
            <a:r>
              <a:rPr lang="en-US" sz="2200" dirty="0">
                <a:solidFill>
                  <a:srgbClr val="EF3B2D"/>
                </a:solidFill>
                <a:latin typeface="Calibri" pitchFamily="34" charset="0"/>
                <a:ea typeface="Calibri" pitchFamily="34" charset="-122"/>
                <a:cs typeface="Calibri" pitchFamily="34" charset="-120"/>
              </a:rPr>
              <a:t>›</a:t>
            </a:r>
            <a:endParaRPr lang="en-US" sz="2200" dirty="0"/>
          </a:p>
        </p:txBody>
      </p:sp>
      <p:sp>
        <p:nvSpPr>
          <p:cNvPr id="18" name="Shape 15"/>
          <p:cNvSpPr/>
          <p:nvPr/>
        </p:nvSpPr>
        <p:spPr>
          <a:xfrm>
            <a:off x="3840480" y="1691640"/>
            <a:ext cx="1463040" cy="1417320"/>
          </a:xfrm>
          <a:prstGeom prst="roundRect">
            <a:avLst>
              <a:gd name="adj" fmla="val 5161"/>
            </a:avLst>
          </a:prstGeom>
          <a:solidFill>
            <a:srgbClr val="0C1620"/>
          </a:solidFill>
          <a:ln w="12700">
            <a:solidFill>
              <a:srgbClr val="0C1620"/>
            </a:solidFill>
            <a:prstDash val="solid"/>
          </a:ln>
        </p:spPr>
        <p:txBody>
          <a:bodyPr/>
          <a:lstStyle/>
          <a:p>
            <a:endParaRPr lang="en-US"/>
          </a:p>
        </p:txBody>
      </p:sp>
      <p:sp>
        <p:nvSpPr>
          <p:cNvPr id="19" name="Text 16"/>
          <p:cNvSpPr txBox="1"/>
          <p:nvPr/>
        </p:nvSpPr>
        <p:spPr>
          <a:xfrm>
            <a:off x="3840480" y="1828800"/>
            <a:ext cx="146304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ourier New" pitchFamily="34" charset="0"/>
                <a:ea typeface="Courier New" pitchFamily="34" charset="-122"/>
                <a:cs typeface="Courier New" pitchFamily="34" charset="-120"/>
              </a:rPr>
              <a:t>Posts</a:t>
            </a:r>
            <a:endParaRPr lang="en-US" sz="1700" dirty="0"/>
          </a:p>
        </p:txBody>
      </p:sp>
      <p:sp>
        <p:nvSpPr>
          <p:cNvPr id="20" name="Text 17"/>
          <p:cNvSpPr txBox="1"/>
          <p:nvPr/>
        </p:nvSpPr>
        <p:spPr>
          <a:xfrm>
            <a:off x="3840480" y="2286000"/>
            <a:ext cx="1463040" cy="274320"/>
          </a:xfrm>
          <a:prstGeom prst="rect">
            <a:avLst/>
          </a:prstGeom>
          <a:noFill/>
          <a:ln/>
        </p:spPr>
        <p:txBody>
          <a:bodyPr wrap="square" lIns="0" tIns="0" rIns="0" bIns="0" rtlCol="0" anchor="ctr"/>
          <a:lstStyle/>
          <a:p>
            <a:pPr marL="0" indent="0" algn="ctr">
              <a:buNone/>
            </a:pPr>
            <a:r>
              <a:rPr lang="en-US" sz="1100" dirty="0">
                <a:solidFill>
                  <a:srgbClr val="C9D3DD"/>
                </a:solidFill>
                <a:latin typeface="Calibri" pitchFamily="34" charset="0"/>
                <a:ea typeface="Calibri" pitchFamily="34" charset="-122"/>
                <a:cs typeface="Calibri" pitchFamily="34" charset="-120"/>
              </a:rPr>
              <a:t>controller</a:t>
            </a:r>
            <a:endParaRPr lang="en-US" sz="1100" dirty="0"/>
          </a:p>
        </p:txBody>
      </p:sp>
      <p:sp>
        <p:nvSpPr>
          <p:cNvPr id="21" name="Text 18"/>
          <p:cNvSpPr txBox="1"/>
          <p:nvPr/>
        </p:nvSpPr>
        <p:spPr>
          <a:xfrm>
            <a:off x="3886200" y="2606040"/>
            <a:ext cx="1371600" cy="457200"/>
          </a:xfrm>
          <a:prstGeom prst="rect">
            <a:avLst/>
          </a:prstGeom>
          <a:noFill/>
          <a:ln/>
        </p:spPr>
        <p:txBody>
          <a:bodyPr wrap="square" lIns="0" tIns="0" rIns="0" bIns="0" rtlCol="0" anchor="ctr"/>
          <a:lstStyle/>
          <a:p>
            <a:pPr marL="0" indent="0" algn="ctr">
              <a:buNone/>
            </a:pPr>
            <a:r>
              <a:rPr lang="en-US" sz="950" dirty="0">
                <a:solidFill>
                  <a:srgbClr val="9AA7B4"/>
                </a:solidFill>
                <a:latin typeface="Courier New" pitchFamily="34" charset="0"/>
                <a:ea typeface="Courier New" pitchFamily="34" charset="-122"/>
                <a:cs typeface="Courier New" pitchFamily="34" charset="-120"/>
              </a:rPr>
              <a:t>app/controllers/Posts.cfc</a:t>
            </a:r>
            <a:endParaRPr lang="en-US" sz="950" dirty="0"/>
          </a:p>
        </p:txBody>
      </p:sp>
      <p:sp>
        <p:nvSpPr>
          <p:cNvPr id="22" name="Text 19"/>
          <p:cNvSpPr txBox="1"/>
          <p:nvPr/>
        </p:nvSpPr>
        <p:spPr>
          <a:xfrm>
            <a:off x="5285232" y="2148840"/>
            <a:ext cx="274320" cy="365760"/>
          </a:xfrm>
          <a:prstGeom prst="rect">
            <a:avLst/>
          </a:prstGeom>
          <a:noFill/>
          <a:ln/>
        </p:spPr>
        <p:txBody>
          <a:bodyPr wrap="square" lIns="0" tIns="0" rIns="0" bIns="0" rtlCol="0" anchor="ctr"/>
          <a:lstStyle/>
          <a:p>
            <a:pPr marL="0" indent="0" algn="ctr">
              <a:buNone/>
            </a:pPr>
            <a:r>
              <a:rPr lang="en-US" sz="2200" dirty="0">
                <a:solidFill>
                  <a:srgbClr val="EF3B2D"/>
                </a:solidFill>
                <a:latin typeface="Calibri" pitchFamily="34" charset="0"/>
                <a:ea typeface="Calibri" pitchFamily="34" charset="-122"/>
                <a:cs typeface="Calibri" pitchFamily="34" charset="-120"/>
              </a:rPr>
              <a:t>›</a:t>
            </a:r>
            <a:endParaRPr lang="en-US" sz="2200" dirty="0"/>
          </a:p>
        </p:txBody>
      </p:sp>
      <p:sp>
        <p:nvSpPr>
          <p:cNvPr id="23" name="Shape 20"/>
          <p:cNvSpPr/>
          <p:nvPr/>
        </p:nvSpPr>
        <p:spPr>
          <a:xfrm>
            <a:off x="5532120" y="1691640"/>
            <a:ext cx="1463040" cy="1417320"/>
          </a:xfrm>
          <a:prstGeom prst="roundRect">
            <a:avLst>
              <a:gd name="adj" fmla="val 5161"/>
            </a:avLst>
          </a:prstGeom>
          <a:solidFill>
            <a:srgbClr val="0C1620"/>
          </a:solidFill>
          <a:ln w="12700">
            <a:solidFill>
              <a:srgbClr val="0C1620"/>
            </a:solidFill>
            <a:prstDash val="solid"/>
          </a:ln>
        </p:spPr>
        <p:txBody>
          <a:bodyPr/>
          <a:lstStyle/>
          <a:p>
            <a:endParaRPr lang="en-US"/>
          </a:p>
        </p:txBody>
      </p:sp>
      <p:sp>
        <p:nvSpPr>
          <p:cNvPr id="24" name="Text 21"/>
          <p:cNvSpPr txBox="1"/>
          <p:nvPr/>
        </p:nvSpPr>
        <p:spPr>
          <a:xfrm>
            <a:off x="5532120" y="1828800"/>
            <a:ext cx="146304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ourier New" pitchFamily="34" charset="0"/>
                <a:ea typeface="Courier New" pitchFamily="34" charset="-122"/>
                <a:cs typeface="Courier New" pitchFamily="34" charset="-120"/>
              </a:rPr>
              <a:t>posts/</a:t>
            </a:r>
            <a:endParaRPr lang="en-US" sz="1700" dirty="0"/>
          </a:p>
        </p:txBody>
      </p:sp>
      <p:sp>
        <p:nvSpPr>
          <p:cNvPr id="25" name="Text 22"/>
          <p:cNvSpPr txBox="1"/>
          <p:nvPr/>
        </p:nvSpPr>
        <p:spPr>
          <a:xfrm>
            <a:off x="5532120" y="2286000"/>
            <a:ext cx="1463040" cy="274320"/>
          </a:xfrm>
          <a:prstGeom prst="rect">
            <a:avLst/>
          </a:prstGeom>
          <a:noFill/>
          <a:ln/>
        </p:spPr>
        <p:txBody>
          <a:bodyPr wrap="square" lIns="0" tIns="0" rIns="0" bIns="0" rtlCol="0" anchor="ctr"/>
          <a:lstStyle/>
          <a:p>
            <a:pPr marL="0" indent="0" algn="ctr">
              <a:buNone/>
            </a:pPr>
            <a:r>
              <a:rPr lang="en-US" sz="1100" dirty="0">
                <a:solidFill>
                  <a:srgbClr val="C9D3DD"/>
                </a:solidFill>
                <a:latin typeface="Calibri" pitchFamily="34" charset="0"/>
                <a:ea typeface="Calibri" pitchFamily="34" charset="-122"/>
                <a:cs typeface="Calibri" pitchFamily="34" charset="-120"/>
              </a:rPr>
              <a:t>views</a:t>
            </a:r>
            <a:endParaRPr lang="en-US" sz="1100" dirty="0"/>
          </a:p>
        </p:txBody>
      </p:sp>
      <p:sp>
        <p:nvSpPr>
          <p:cNvPr id="26" name="Text 23"/>
          <p:cNvSpPr txBox="1"/>
          <p:nvPr/>
        </p:nvSpPr>
        <p:spPr>
          <a:xfrm>
            <a:off x="5577840" y="2606040"/>
            <a:ext cx="1371600" cy="457200"/>
          </a:xfrm>
          <a:prstGeom prst="rect">
            <a:avLst/>
          </a:prstGeom>
          <a:noFill/>
          <a:ln/>
        </p:spPr>
        <p:txBody>
          <a:bodyPr wrap="square" lIns="0" tIns="0" rIns="0" bIns="0" rtlCol="0" anchor="ctr"/>
          <a:lstStyle/>
          <a:p>
            <a:pPr marL="0" indent="0" algn="ctr">
              <a:buNone/>
            </a:pPr>
            <a:r>
              <a:rPr lang="en-US" sz="950" dirty="0">
                <a:solidFill>
                  <a:srgbClr val="9AA7B4"/>
                </a:solidFill>
                <a:latin typeface="Courier New" pitchFamily="34" charset="0"/>
                <a:ea typeface="Courier New" pitchFamily="34" charset="-122"/>
                <a:cs typeface="Courier New" pitchFamily="34" charset="-120"/>
              </a:rPr>
              <a:t>index · show · new · edit</a:t>
            </a:r>
            <a:endParaRPr lang="en-US" sz="950" dirty="0"/>
          </a:p>
        </p:txBody>
      </p:sp>
      <p:sp>
        <p:nvSpPr>
          <p:cNvPr id="27" name="Text 24"/>
          <p:cNvSpPr txBox="1"/>
          <p:nvPr/>
        </p:nvSpPr>
        <p:spPr>
          <a:xfrm>
            <a:off x="6976872" y="2148840"/>
            <a:ext cx="274320" cy="365760"/>
          </a:xfrm>
          <a:prstGeom prst="rect">
            <a:avLst/>
          </a:prstGeom>
          <a:noFill/>
          <a:ln/>
        </p:spPr>
        <p:txBody>
          <a:bodyPr wrap="square" lIns="0" tIns="0" rIns="0" bIns="0" rtlCol="0" anchor="ctr"/>
          <a:lstStyle/>
          <a:p>
            <a:pPr marL="0" indent="0" algn="ctr">
              <a:buNone/>
            </a:pPr>
            <a:r>
              <a:rPr lang="en-US" sz="2200" dirty="0">
                <a:solidFill>
                  <a:srgbClr val="EF3B2D"/>
                </a:solidFill>
                <a:latin typeface="Calibri" pitchFamily="34" charset="0"/>
                <a:ea typeface="Calibri" pitchFamily="34" charset="-122"/>
                <a:cs typeface="Calibri" pitchFamily="34" charset="-120"/>
              </a:rPr>
              <a:t>›</a:t>
            </a:r>
            <a:endParaRPr lang="en-US" sz="2200" dirty="0"/>
          </a:p>
        </p:txBody>
      </p:sp>
      <p:sp>
        <p:nvSpPr>
          <p:cNvPr id="28" name="Shape 25"/>
          <p:cNvSpPr/>
          <p:nvPr/>
        </p:nvSpPr>
        <p:spPr>
          <a:xfrm>
            <a:off x="7223760" y="1691640"/>
            <a:ext cx="1463040" cy="1417320"/>
          </a:xfrm>
          <a:prstGeom prst="roundRect">
            <a:avLst>
              <a:gd name="adj" fmla="val 5161"/>
            </a:avLst>
          </a:prstGeom>
          <a:solidFill>
            <a:srgbClr val="0C1620"/>
          </a:solidFill>
          <a:ln w="12700">
            <a:solidFill>
              <a:srgbClr val="0C1620"/>
            </a:solidFill>
            <a:prstDash val="solid"/>
          </a:ln>
        </p:spPr>
        <p:txBody>
          <a:bodyPr/>
          <a:lstStyle/>
          <a:p>
            <a:endParaRPr lang="en-US"/>
          </a:p>
        </p:txBody>
      </p:sp>
      <p:sp>
        <p:nvSpPr>
          <p:cNvPr id="29" name="Text 26"/>
          <p:cNvSpPr txBox="1"/>
          <p:nvPr/>
        </p:nvSpPr>
        <p:spPr>
          <a:xfrm>
            <a:off x="7223760" y="1828800"/>
            <a:ext cx="146304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ourier New" pitchFamily="34" charset="0"/>
                <a:ea typeface="Courier New" pitchFamily="34" charset="-122"/>
                <a:cs typeface="Courier New" pitchFamily="34" charset="-120"/>
              </a:rPr>
              <a:t>postsPath()</a:t>
            </a:r>
            <a:endParaRPr lang="en-US" sz="1700" dirty="0"/>
          </a:p>
        </p:txBody>
      </p:sp>
      <p:sp>
        <p:nvSpPr>
          <p:cNvPr id="30" name="Text 27"/>
          <p:cNvSpPr txBox="1"/>
          <p:nvPr/>
        </p:nvSpPr>
        <p:spPr>
          <a:xfrm>
            <a:off x="7223760" y="2286000"/>
            <a:ext cx="1463040" cy="274320"/>
          </a:xfrm>
          <a:prstGeom prst="rect">
            <a:avLst/>
          </a:prstGeom>
          <a:noFill/>
          <a:ln/>
        </p:spPr>
        <p:txBody>
          <a:bodyPr wrap="square" lIns="0" tIns="0" rIns="0" bIns="0" rtlCol="0" anchor="ctr"/>
          <a:lstStyle/>
          <a:p>
            <a:pPr marL="0" indent="0" algn="ctr">
              <a:buNone/>
            </a:pPr>
            <a:r>
              <a:rPr lang="en-US" sz="1100" dirty="0">
                <a:solidFill>
                  <a:srgbClr val="C9D3DD"/>
                </a:solidFill>
                <a:latin typeface="Calibri" pitchFamily="34" charset="0"/>
                <a:ea typeface="Calibri" pitchFamily="34" charset="-122"/>
                <a:cs typeface="Calibri" pitchFamily="34" charset="-120"/>
              </a:rPr>
              <a:t>route helpers</a:t>
            </a:r>
            <a:endParaRPr lang="en-US" sz="1100" dirty="0"/>
          </a:p>
        </p:txBody>
      </p:sp>
      <p:sp>
        <p:nvSpPr>
          <p:cNvPr id="31" name="Text 28"/>
          <p:cNvSpPr txBox="1"/>
          <p:nvPr/>
        </p:nvSpPr>
        <p:spPr>
          <a:xfrm>
            <a:off x="7269480" y="2606040"/>
            <a:ext cx="1371600" cy="457200"/>
          </a:xfrm>
          <a:prstGeom prst="rect">
            <a:avLst/>
          </a:prstGeom>
          <a:noFill/>
          <a:ln/>
        </p:spPr>
        <p:txBody>
          <a:bodyPr wrap="square" lIns="0" tIns="0" rIns="0" bIns="0" rtlCol="0" anchor="ctr"/>
          <a:lstStyle/>
          <a:p>
            <a:pPr marL="0" indent="0" algn="ctr">
              <a:buNone/>
            </a:pPr>
            <a:r>
              <a:rPr lang="en-US" sz="950" dirty="0">
                <a:solidFill>
                  <a:srgbClr val="9AA7B4"/>
                </a:solidFill>
                <a:latin typeface="Courier New" pitchFamily="34" charset="0"/>
                <a:ea typeface="Courier New" pitchFamily="34" charset="-122"/>
                <a:cs typeface="Courier New" pitchFamily="34" charset="-120"/>
              </a:rPr>
              <a:t>.resources("posts")</a:t>
            </a:r>
            <a:endParaRPr lang="en-US" sz="950" dirty="0"/>
          </a:p>
        </p:txBody>
      </p:sp>
      <p:sp>
        <p:nvSpPr>
          <p:cNvPr id="32" name="Shape 29"/>
          <p:cNvSpPr/>
          <p:nvPr/>
        </p:nvSpPr>
        <p:spPr>
          <a:xfrm>
            <a:off x="457200" y="3337560"/>
            <a:ext cx="8229600" cy="1280160"/>
          </a:xfrm>
          <a:prstGeom prst="roundRect">
            <a:avLst>
              <a:gd name="adj" fmla="val 5714"/>
            </a:avLst>
          </a:prstGeom>
          <a:solidFill>
            <a:srgbClr val="16232F"/>
          </a:solidFill>
          <a:ln w="12700">
            <a:solidFill>
              <a:srgbClr val="16232F"/>
            </a:solidFill>
            <a:prstDash val="solid"/>
          </a:ln>
        </p:spPr>
        <p:txBody>
          <a:bodyPr/>
          <a:lstStyle/>
          <a:p>
            <a:endParaRPr lang="en-US"/>
          </a:p>
        </p:txBody>
      </p:sp>
      <p:sp>
        <p:nvSpPr>
          <p:cNvPr id="33" name="Shape 30"/>
          <p:cNvSpPr/>
          <p:nvPr/>
        </p:nvSpPr>
        <p:spPr>
          <a:xfrm>
            <a:off x="594360" y="3456432"/>
            <a:ext cx="91440" cy="91440"/>
          </a:xfrm>
          <a:prstGeom prst="ellipse">
            <a:avLst/>
          </a:prstGeom>
          <a:solidFill>
            <a:srgbClr val="EF3B2D"/>
          </a:solidFill>
          <a:ln w="12700">
            <a:solidFill>
              <a:srgbClr val="EF3B2D"/>
            </a:solidFill>
            <a:prstDash val="solid"/>
          </a:ln>
        </p:spPr>
        <p:txBody>
          <a:bodyPr/>
          <a:lstStyle/>
          <a:p>
            <a:endParaRPr lang="en-US"/>
          </a:p>
        </p:txBody>
      </p:sp>
      <p:sp>
        <p:nvSpPr>
          <p:cNvPr id="34" name="Shape 31"/>
          <p:cNvSpPr/>
          <p:nvPr/>
        </p:nvSpPr>
        <p:spPr>
          <a:xfrm>
            <a:off x="758952" y="3456432"/>
            <a:ext cx="91440" cy="91440"/>
          </a:xfrm>
          <a:prstGeom prst="ellipse">
            <a:avLst/>
          </a:prstGeom>
          <a:solidFill>
            <a:srgbClr val="F5B62E"/>
          </a:solidFill>
          <a:ln w="12700">
            <a:solidFill>
              <a:srgbClr val="F5B62E"/>
            </a:solidFill>
            <a:prstDash val="solid"/>
          </a:ln>
        </p:spPr>
        <p:txBody>
          <a:bodyPr/>
          <a:lstStyle/>
          <a:p>
            <a:endParaRPr lang="en-US"/>
          </a:p>
        </p:txBody>
      </p:sp>
      <p:sp>
        <p:nvSpPr>
          <p:cNvPr id="35" name="Shape 32"/>
          <p:cNvSpPr/>
          <p:nvPr/>
        </p:nvSpPr>
        <p:spPr>
          <a:xfrm>
            <a:off x="923544" y="3456432"/>
            <a:ext cx="91440" cy="91440"/>
          </a:xfrm>
          <a:prstGeom prst="ellipse">
            <a:avLst/>
          </a:prstGeom>
          <a:solidFill>
            <a:srgbClr val="3DDC84"/>
          </a:solidFill>
          <a:ln w="12700">
            <a:solidFill>
              <a:srgbClr val="3DDC84"/>
            </a:solidFill>
            <a:prstDash val="solid"/>
          </a:ln>
        </p:spPr>
        <p:txBody>
          <a:bodyPr/>
          <a:lstStyle/>
          <a:p>
            <a:endParaRPr lang="en-US"/>
          </a:p>
        </p:txBody>
      </p:sp>
      <p:sp>
        <p:nvSpPr>
          <p:cNvPr id="36" name="Text 33"/>
          <p:cNvSpPr txBox="1"/>
          <p:nvPr/>
        </p:nvSpPr>
        <p:spPr>
          <a:xfrm>
            <a:off x="640080" y="3657600"/>
            <a:ext cx="7863840" cy="868680"/>
          </a:xfrm>
          <a:prstGeom prst="rect">
            <a:avLst/>
          </a:prstGeom>
          <a:noFill/>
          <a:ln/>
        </p:spPr>
        <p:txBody>
          <a:bodyPr wrap="square" lIns="0" tIns="0" rIns="0" bIns="0" rtlCol="0" anchor="t"/>
          <a:lstStyle/>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app/models/Post.cfc — everything else is inferred</a:t>
            </a:r>
            <a:endParaRPr lang="en-US" sz="1100" dirty="0"/>
          </a:p>
          <a:p>
            <a:pPr marL="0" indent="0">
              <a:lnSpc>
                <a:spcPct val="115000"/>
              </a:lnSpc>
              <a:buNone/>
            </a:pPr>
            <a:r>
              <a:rPr lang="en-US" sz="1100" dirty="0">
                <a:solidFill>
                  <a:srgbClr val="EF3B2D"/>
                </a:solidFill>
                <a:latin typeface="Courier New" pitchFamily="34" charset="0"/>
                <a:ea typeface="Courier New" pitchFamily="34" charset="-122"/>
                <a:cs typeface="Courier New" pitchFamily="34" charset="-120"/>
              </a:rPr>
              <a:t>component </a:t>
            </a:r>
            <a:r>
              <a:rPr lang="en-US" sz="1100" dirty="0">
                <a:solidFill>
                  <a:srgbClr val="E6EDF3"/>
                </a:solidFill>
                <a:latin typeface="Courier New" pitchFamily="34" charset="0"/>
                <a:ea typeface="Courier New" pitchFamily="34" charset="-122"/>
                <a:cs typeface="Courier New" pitchFamily="34" charset="-120"/>
              </a:rPr>
              <a:t>extends=</a:t>
            </a:r>
            <a:r>
              <a:rPr lang="en-US" sz="1100" dirty="0">
                <a:solidFill>
                  <a:srgbClr val="3DDC84"/>
                </a:solidFill>
                <a:latin typeface="Courier New" pitchFamily="34" charset="0"/>
                <a:ea typeface="Courier New" pitchFamily="34" charset="-122"/>
                <a:cs typeface="Courier New" pitchFamily="34" charset="-120"/>
              </a:rPr>
              <a:t>"Model"</a:t>
            </a:r>
            <a:r>
              <a:rPr lang="en-US" sz="1100" dirty="0">
                <a:solidFill>
                  <a:srgbClr val="E6EDF3"/>
                </a:solidFill>
                <a:latin typeface="Courier New" pitchFamily="34" charset="0"/>
                <a:ea typeface="Courier New" pitchFamily="34" charset="-122"/>
                <a:cs typeface="Courier New" pitchFamily="34" charset="-120"/>
              </a:rPr>
              <a:t> {</a:t>
            </a:r>
            <a:endParaRPr lang="en-US" sz="1100" dirty="0"/>
          </a:p>
          <a:p>
            <a:pPr marL="0" indent="0">
              <a:lnSpc>
                <a:spcPct val="115000"/>
              </a:lnSpc>
              <a:buNone/>
            </a:pPr>
            <a:r>
              <a:rPr lang="en-US" sz="1100" dirty="0">
                <a:solidFill>
                  <a:srgbClr val="E6EDF3"/>
                </a:solidFill>
                <a:latin typeface="Courier New" pitchFamily="34" charset="0"/>
                <a:ea typeface="Courier New" pitchFamily="34" charset="-122"/>
                <a:cs typeface="Courier New" pitchFamily="34" charset="-120"/>
              </a:rPr>
              <a:t>  </a:t>
            </a:r>
            <a:r>
              <a:rPr lang="en-US" sz="1100" dirty="0">
                <a:solidFill>
                  <a:srgbClr val="EF3B2D"/>
                </a:solidFill>
                <a:latin typeface="Courier New" pitchFamily="34" charset="0"/>
                <a:ea typeface="Courier New" pitchFamily="34" charset="-122"/>
                <a:cs typeface="Courier New" pitchFamily="34" charset="-120"/>
              </a:rPr>
              <a:t>function</a:t>
            </a:r>
            <a:r>
              <a:rPr lang="en-US" sz="1100" dirty="0">
                <a:solidFill>
                  <a:srgbClr val="E6EDF3"/>
                </a:solidFill>
                <a:latin typeface="Courier New" pitchFamily="34" charset="0"/>
                <a:ea typeface="Courier New" pitchFamily="34" charset="-122"/>
                <a:cs typeface="Courier New" pitchFamily="34" charset="-120"/>
              </a:rPr>
              <a:t> config() { hasMany(</a:t>
            </a:r>
            <a:r>
              <a:rPr lang="en-US" sz="1100" dirty="0">
                <a:solidFill>
                  <a:srgbClr val="3DDC84"/>
                </a:solidFill>
                <a:latin typeface="Courier New" pitchFamily="34" charset="0"/>
                <a:ea typeface="Courier New" pitchFamily="34" charset="-122"/>
                <a:cs typeface="Courier New" pitchFamily="34" charset="-120"/>
              </a:rPr>
              <a:t>"comments"</a:t>
            </a:r>
            <a:r>
              <a:rPr lang="en-US" sz="1100" dirty="0">
                <a:solidFill>
                  <a:srgbClr val="E6EDF3"/>
                </a:solidFill>
                <a:latin typeface="Courier New" pitchFamily="34" charset="0"/>
                <a:ea typeface="Courier New" pitchFamily="34" charset="-122"/>
                <a:cs typeface="Courier New" pitchFamily="34" charset="-120"/>
              </a:rPr>
              <a:t>); validatesPresenceOf(</a:t>
            </a:r>
            <a:r>
              <a:rPr lang="en-US" sz="1100" dirty="0">
                <a:solidFill>
                  <a:srgbClr val="3DDC84"/>
                </a:solidFill>
                <a:latin typeface="Courier New" pitchFamily="34" charset="0"/>
                <a:ea typeface="Courier New" pitchFamily="34" charset="-122"/>
                <a:cs typeface="Courier New" pitchFamily="34" charset="-120"/>
              </a:rPr>
              <a:t>"title,body"</a:t>
            </a:r>
            <a:r>
              <a:rPr lang="en-US" sz="1100" dirty="0">
                <a:solidFill>
                  <a:srgbClr val="E6EDF3"/>
                </a:solidFill>
                <a:latin typeface="Courier New" pitchFamily="34" charset="0"/>
                <a:ea typeface="Courier New" pitchFamily="34" charset="-122"/>
                <a:cs typeface="Courier New" pitchFamily="34" charset="-120"/>
              </a:rPr>
              <a:t>); }</a:t>
            </a:r>
            <a:endParaRPr lang="en-US" sz="1100" dirty="0"/>
          </a:p>
          <a:p>
            <a:pPr marL="0" indent="0">
              <a:lnSpc>
                <a:spcPct val="115000"/>
              </a:lnSpc>
              <a:buNone/>
            </a:pPr>
            <a:r>
              <a:rPr lang="en-US" sz="1100" dirty="0">
                <a:solidFill>
                  <a:srgbClr val="E6EDF3"/>
                </a:solidFill>
                <a:latin typeface="Courier New" pitchFamily="34" charset="0"/>
                <a:ea typeface="Courier New" pitchFamily="34" charset="-122"/>
                <a:cs typeface="Courier New" pitchFamily="34" charset="-120"/>
              </a:rPr>
              <a: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Image 0" descr="/home/claude/deck/assets/mark-t.png"/>
          <p:cNvPicPr>
            <a:picLocks noChangeAspect="1"/>
          </p:cNvPicPr>
          <p:nvPr/>
        </p:nvPicPr>
        <p:blipFill>
          <a:blip r:embed="rId3"/>
          <a:stretch>
            <a:fillRect/>
          </a:stretch>
        </p:blipFill>
        <p:spPr>
          <a:xfrm>
            <a:off x="8092440" y="384048"/>
            <a:ext cx="594360" cy="365760"/>
          </a:xfrm>
          <a:prstGeom prst="rect">
            <a:avLst/>
          </a:prstGeom>
        </p:spPr>
      </p:pic>
      <p:sp>
        <p:nvSpPr>
          <p:cNvPr id="3" name="Text 0"/>
          <p:cNvSpPr txBox="1"/>
          <p:nvPr/>
        </p:nvSpPr>
        <p:spPr>
          <a:xfrm>
            <a:off x="457200" y="320040"/>
            <a:ext cx="7498080" cy="640080"/>
          </a:xfrm>
          <a:prstGeom prst="rect">
            <a:avLst/>
          </a:prstGeom>
          <a:noFill/>
          <a:ln/>
        </p:spPr>
        <p:txBody>
          <a:bodyPr wrap="square" lIns="0" tIns="0" rIns="0" bIns="0" rtlCol="0" anchor="ctr"/>
          <a:lstStyle/>
          <a:p>
            <a:pPr marL="0" indent="0">
              <a:buNone/>
            </a:pPr>
            <a:r>
              <a:rPr lang="en-US" sz="3000" b="1" dirty="0">
                <a:solidFill>
                  <a:srgbClr val="1A2430"/>
                </a:solidFill>
                <a:latin typeface="Calibri" pitchFamily="34" charset="0"/>
                <a:ea typeface="Calibri" pitchFamily="34" charset="-122"/>
                <a:cs typeface="Calibri" pitchFamily="34" charset="-120"/>
              </a:rPr>
              <a:t>One request, end to end</a:t>
            </a:r>
            <a:endParaRPr lang="en-US" sz="3000" dirty="0"/>
          </a:p>
        </p:txBody>
      </p:sp>
      <p:sp>
        <p:nvSpPr>
          <p:cNvPr id="4" name="Text 1"/>
          <p:cNvSpPr txBox="1"/>
          <p:nvPr/>
        </p:nvSpPr>
        <p:spPr>
          <a:xfrm>
            <a:off x="457200" y="109728"/>
            <a:ext cx="5486400" cy="228600"/>
          </a:xfrm>
          <a:prstGeom prst="rect">
            <a:avLst/>
          </a:prstGeom>
          <a:noFill/>
          <a:ln/>
        </p:spPr>
        <p:txBody>
          <a:bodyPr wrap="square" lIns="0" tIns="0" rIns="0" bIns="0" rtlCol="0" anchor="ctr"/>
          <a:lstStyle/>
          <a:p>
            <a:pPr marL="0" indent="0">
              <a:buNone/>
            </a:pPr>
            <a:r>
              <a:rPr lang="en-US" sz="1000" b="1" kern="0" spc="200" dirty="0">
                <a:solidFill>
                  <a:srgbClr val="EF3B2D"/>
                </a:solidFill>
                <a:latin typeface="Calibri" pitchFamily="34" charset="0"/>
                <a:ea typeface="Calibri" pitchFamily="34" charset="-122"/>
                <a:cs typeface="Calibri" pitchFamily="34" charset="-120"/>
              </a:rPr>
              <a:t>HOW A PAGE GETS BUILT</a:t>
            </a:r>
            <a:endParaRPr lang="en-US" sz="1000" dirty="0"/>
          </a:p>
        </p:txBody>
      </p:sp>
      <p:sp>
        <p:nvSpPr>
          <p:cNvPr id="5" name="Text 2"/>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6B7785"/>
                </a:solidFill>
                <a:latin typeface="Calibri" pitchFamily="34" charset="0"/>
                <a:ea typeface="Calibri" pitchFamily="34" charset="-122"/>
                <a:cs typeface="Calibri" pitchFamily="34" charset="-120"/>
              </a:rPr>
              <a:t>wheels.dev   ·   Mid-Michigan CFUG · Sept 15, 2026</a:t>
            </a:r>
            <a:endParaRPr lang="en-US" sz="9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6B7785"/>
                </a:solidFill>
                <a:latin typeface="Calibri" pitchFamily="34" charset="0"/>
                <a:ea typeface="Calibri" pitchFamily="34" charset="-122"/>
                <a:cs typeface="Calibri" pitchFamily="34" charset="-120"/>
              </a:rPr>
              <a:t>8</a:t>
            </a:r>
            <a:endParaRPr lang="en-US" sz="900" dirty="0"/>
          </a:p>
        </p:txBody>
      </p:sp>
      <p:sp>
        <p:nvSpPr>
          <p:cNvPr id="7" name="Shape 4"/>
          <p:cNvSpPr/>
          <p:nvPr/>
        </p:nvSpPr>
        <p:spPr>
          <a:xfrm>
            <a:off x="457200" y="1280160"/>
            <a:ext cx="1508760" cy="2377440"/>
          </a:xfrm>
          <a:prstGeom prst="roundRect">
            <a:avLst>
              <a:gd name="adj" fmla="val 4848"/>
            </a:avLst>
          </a:prstGeom>
          <a:solidFill>
            <a:srgbClr val="F3F5F7"/>
          </a:solidFill>
          <a:ln w="12700">
            <a:solidFill>
              <a:srgbClr val="F3F5F7"/>
            </a:solidFill>
            <a:prstDash val="solid"/>
          </a:ln>
        </p:spPr>
        <p:txBody>
          <a:bodyPr/>
          <a:lstStyle/>
          <a:p>
            <a:endParaRPr lang="en-US"/>
          </a:p>
        </p:txBody>
      </p:sp>
      <p:sp>
        <p:nvSpPr>
          <p:cNvPr id="8" name="Text 5"/>
          <p:cNvSpPr txBox="1"/>
          <p:nvPr/>
        </p:nvSpPr>
        <p:spPr>
          <a:xfrm>
            <a:off x="548640" y="1417320"/>
            <a:ext cx="1325880" cy="365760"/>
          </a:xfrm>
          <a:prstGeom prst="rect">
            <a:avLst/>
          </a:prstGeom>
          <a:noFill/>
          <a:ln/>
        </p:spPr>
        <p:txBody>
          <a:bodyPr wrap="square" lIns="0" tIns="0" rIns="0" bIns="0" rtlCol="0" anchor="ctr"/>
          <a:lstStyle/>
          <a:p>
            <a:pPr marL="0" indent="0" algn="ctr">
              <a:buNone/>
            </a:pPr>
            <a:r>
              <a:rPr lang="en-US" sz="1600" b="1" dirty="0">
                <a:solidFill>
                  <a:srgbClr val="1A2430"/>
                </a:solidFill>
                <a:latin typeface="Calibri" pitchFamily="34" charset="0"/>
                <a:ea typeface="Calibri" pitchFamily="34" charset="-122"/>
                <a:cs typeface="Calibri" pitchFamily="34" charset="-120"/>
              </a:rPr>
              <a:t>Browser</a:t>
            </a:r>
            <a:endParaRPr lang="en-US" sz="1600" dirty="0"/>
          </a:p>
        </p:txBody>
      </p:sp>
      <p:sp>
        <p:nvSpPr>
          <p:cNvPr id="9" name="Text 6"/>
          <p:cNvSpPr txBox="1"/>
          <p:nvPr/>
        </p:nvSpPr>
        <p:spPr>
          <a:xfrm>
            <a:off x="548640" y="1874520"/>
            <a:ext cx="1325880" cy="1691640"/>
          </a:xfrm>
          <a:prstGeom prst="rect">
            <a:avLst/>
          </a:prstGeom>
          <a:noFill/>
          <a:ln/>
        </p:spPr>
        <p:txBody>
          <a:bodyPr wrap="square" lIns="0" tIns="0" rIns="0" bIns="0" rtlCol="0" anchor="t"/>
          <a:lstStyle/>
          <a:p>
            <a:pPr marL="0" indent="0" algn="ctr">
              <a:buNone/>
            </a:pPr>
            <a:r>
              <a:rPr lang="en-US" sz="950" dirty="0">
                <a:solidFill>
                  <a:srgbClr val="6B7785"/>
                </a:solidFill>
                <a:latin typeface="Courier New" pitchFamily="34" charset="0"/>
                <a:ea typeface="Courier New" pitchFamily="34" charset="-122"/>
                <a:cs typeface="Courier New" pitchFamily="34" charset="-120"/>
              </a:rPr>
              <a:t>GET /posts/42</a:t>
            </a:r>
            <a:endParaRPr lang="en-US" sz="950" dirty="0"/>
          </a:p>
        </p:txBody>
      </p:sp>
      <p:sp>
        <p:nvSpPr>
          <p:cNvPr id="10" name="Text 7"/>
          <p:cNvSpPr txBox="1"/>
          <p:nvPr/>
        </p:nvSpPr>
        <p:spPr>
          <a:xfrm>
            <a:off x="1920240" y="2240280"/>
            <a:ext cx="274320" cy="365760"/>
          </a:xfrm>
          <a:prstGeom prst="rect">
            <a:avLst/>
          </a:prstGeom>
          <a:noFill/>
          <a:ln/>
        </p:spPr>
        <p:txBody>
          <a:bodyPr wrap="square" lIns="0" tIns="0" rIns="0" bIns="0" rtlCol="0" anchor="ctr"/>
          <a:lstStyle/>
          <a:p>
            <a:pPr marL="0" indent="0" algn="ctr">
              <a:buNone/>
            </a:pPr>
            <a:r>
              <a:rPr lang="en-US" sz="2400" dirty="0">
                <a:solidFill>
                  <a:srgbClr val="EF3B2D"/>
                </a:solidFill>
                <a:latin typeface="Calibri" pitchFamily="34" charset="0"/>
                <a:ea typeface="Calibri" pitchFamily="34" charset="-122"/>
                <a:cs typeface="Calibri" pitchFamily="34" charset="-120"/>
              </a:rPr>
              <a:t>›</a:t>
            </a:r>
            <a:endParaRPr lang="en-US" sz="2400" dirty="0"/>
          </a:p>
        </p:txBody>
      </p:sp>
      <p:sp>
        <p:nvSpPr>
          <p:cNvPr id="11" name="Shape 8"/>
          <p:cNvSpPr/>
          <p:nvPr/>
        </p:nvSpPr>
        <p:spPr>
          <a:xfrm>
            <a:off x="2148840" y="1280160"/>
            <a:ext cx="1508760" cy="2377440"/>
          </a:xfrm>
          <a:prstGeom prst="roundRect">
            <a:avLst>
              <a:gd name="adj" fmla="val 4848"/>
            </a:avLst>
          </a:prstGeom>
          <a:solidFill>
            <a:srgbClr val="F3F5F7"/>
          </a:solidFill>
          <a:ln w="12700">
            <a:solidFill>
              <a:srgbClr val="F3F5F7"/>
            </a:solidFill>
            <a:prstDash val="solid"/>
          </a:ln>
        </p:spPr>
        <p:txBody>
          <a:bodyPr/>
          <a:lstStyle/>
          <a:p>
            <a:endParaRPr lang="en-US"/>
          </a:p>
        </p:txBody>
      </p:sp>
      <p:sp>
        <p:nvSpPr>
          <p:cNvPr id="12" name="Text 9"/>
          <p:cNvSpPr txBox="1"/>
          <p:nvPr/>
        </p:nvSpPr>
        <p:spPr>
          <a:xfrm>
            <a:off x="2240280" y="1417320"/>
            <a:ext cx="1325880" cy="365760"/>
          </a:xfrm>
          <a:prstGeom prst="rect">
            <a:avLst/>
          </a:prstGeom>
          <a:noFill/>
          <a:ln/>
        </p:spPr>
        <p:txBody>
          <a:bodyPr wrap="square" lIns="0" tIns="0" rIns="0" bIns="0" rtlCol="0" anchor="ctr"/>
          <a:lstStyle/>
          <a:p>
            <a:pPr marL="0" indent="0" algn="ctr">
              <a:buNone/>
            </a:pPr>
            <a:r>
              <a:rPr lang="en-US" sz="1600" b="1" dirty="0">
                <a:solidFill>
                  <a:srgbClr val="1A2430"/>
                </a:solidFill>
                <a:latin typeface="Calibri" pitchFamily="34" charset="0"/>
                <a:ea typeface="Calibri" pitchFamily="34" charset="-122"/>
                <a:cs typeface="Calibri" pitchFamily="34" charset="-120"/>
              </a:rPr>
              <a:t>Router</a:t>
            </a:r>
            <a:endParaRPr lang="en-US" sz="1600" dirty="0"/>
          </a:p>
        </p:txBody>
      </p:sp>
      <p:sp>
        <p:nvSpPr>
          <p:cNvPr id="13" name="Text 10"/>
          <p:cNvSpPr txBox="1"/>
          <p:nvPr/>
        </p:nvSpPr>
        <p:spPr>
          <a:xfrm>
            <a:off x="2240280" y="1874520"/>
            <a:ext cx="1325880" cy="1691640"/>
          </a:xfrm>
          <a:prstGeom prst="rect">
            <a:avLst/>
          </a:prstGeom>
          <a:noFill/>
          <a:ln/>
        </p:spPr>
        <p:txBody>
          <a:bodyPr wrap="square" lIns="0" tIns="0" rIns="0" bIns="0" rtlCol="0" anchor="t"/>
          <a:lstStyle/>
          <a:p>
            <a:pPr marL="0" indent="0" algn="ctr">
              <a:buNone/>
            </a:pPr>
            <a:r>
              <a:rPr lang="en-US" sz="950" dirty="0">
                <a:solidFill>
                  <a:srgbClr val="6B7785"/>
                </a:solidFill>
                <a:latin typeface="Courier New" pitchFamily="34" charset="0"/>
                <a:ea typeface="Courier New" pitchFamily="34" charset="-122"/>
                <a:cs typeface="Courier New" pitchFamily="34" charset="-120"/>
              </a:rPr>
              <a:t>config/routes.cfm</a:t>
            </a:r>
            <a:endParaRPr lang="en-US" sz="950" dirty="0"/>
          </a:p>
          <a:p>
            <a:pPr marL="0" indent="0" algn="ctr">
              <a:buNone/>
            </a:pPr>
            <a:r>
              <a:rPr lang="en-US" sz="950" dirty="0">
                <a:solidFill>
                  <a:srgbClr val="6B7785"/>
                </a:solidFill>
                <a:latin typeface="Courier New" pitchFamily="34" charset="0"/>
                <a:ea typeface="Courier New" pitchFamily="34" charset="-122"/>
                <a:cs typeface="Courier New" pitchFamily="34" charset="-120"/>
              </a:rPr>
              <a:t>.resources("posts") → Posts.show</a:t>
            </a:r>
            <a:endParaRPr lang="en-US" sz="950" dirty="0"/>
          </a:p>
        </p:txBody>
      </p:sp>
      <p:sp>
        <p:nvSpPr>
          <p:cNvPr id="14" name="Text 11"/>
          <p:cNvSpPr txBox="1"/>
          <p:nvPr/>
        </p:nvSpPr>
        <p:spPr>
          <a:xfrm>
            <a:off x="3611880" y="2240280"/>
            <a:ext cx="274320" cy="365760"/>
          </a:xfrm>
          <a:prstGeom prst="rect">
            <a:avLst/>
          </a:prstGeom>
          <a:noFill/>
          <a:ln/>
        </p:spPr>
        <p:txBody>
          <a:bodyPr wrap="square" lIns="0" tIns="0" rIns="0" bIns="0" rtlCol="0" anchor="ctr"/>
          <a:lstStyle/>
          <a:p>
            <a:pPr marL="0" indent="0" algn="ctr">
              <a:buNone/>
            </a:pPr>
            <a:r>
              <a:rPr lang="en-US" sz="2400" dirty="0">
                <a:solidFill>
                  <a:srgbClr val="EF3B2D"/>
                </a:solidFill>
                <a:latin typeface="Calibri" pitchFamily="34" charset="0"/>
                <a:ea typeface="Calibri" pitchFamily="34" charset="-122"/>
                <a:cs typeface="Calibri" pitchFamily="34" charset="-120"/>
              </a:rPr>
              <a:t>›</a:t>
            </a:r>
            <a:endParaRPr lang="en-US" sz="2400" dirty="0"/>
          </a:p>
        </p:txBody>
      </p:sp>
      <p:sp>
        <p:nvSpPr>
          <p:cNvPr id="15" name="Shape 12"/>
          <p:cNvSpPr/>
          <p:nvPr/>
        </p:nvSpPr>
        <p:spPr>
          <a:xfrm>
            <a:off x="3840480" y="1280160"/>
            <a:ext cx="1508760" cy="2377440"/>
          </a:xfrm>
          <a:prstGeom prst="roundRect">
            <a:avLst>
              <a:gd name="adj" fmla="val 4848"/>
            </a:avLst>
          </a:prstGeom>
          <a:solidFill>
            <a:srgbClr val="0C1620"/>
          </a:solidFill>
          <a:ln w="12700">
            <a:solidFill>
              <a:srgbClr val="0C1620"/>
            </a:solidFill>
            <a:prstDash val="solid"/>
          </a:ln>
        </p:spPr>
        <p:txBody>
          <a:bodyPr/>
          <a:lstStyle/>
          <a:p>
            <a:endParaRPr lang="en-US"/>
          </a:p>
        </p:txBody>
      </p:sp>
      <p:sp>
        <p:nvSpPr>
          <p:cNvPr id="16" name="Text 13"/>
          <p:cNvSpPr txBox="1"/>
          <p:nvPr/>
        </p:nvSpPr>
        <p:spPr>
          <a:xfrm>
            <a:off x="3931920" y="1417320"/>
            <a:ext cx="132588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Controller</a:t>
            </a:r>
            <a:endParaRPr lang="en-US" sz="1600" dirty="0"/>
          </a:p>
        </p:txBody>
      </p:sp>
      <p:sp>
        <p:nvSpPr>
          <p:cNvPr id="17" name="Text 14"/>
          <p:cNvSpPr txBox="1"/>
          <p:nvPr/>
        </p:nvSpPr>
        <p:spPr>
          <a:xfrm>
            <a:off x="3931920" y="1874520"/>
            <a:ext cx="1325880" cy="1691640"/>
          </a:xfrm>
          <a:prstGeom prst="rect">
            <a:avLst/>
          </a:prstGeom>
          <a:noFill/>
          <a:ln/>
        </p:spPr>
        <p:txBody>
          <a:bodyPr wrap="square" lIns="0" tIns="0" rIns="0" bIns="0" rtlCol="0" anchor="t"/>
          <a:lstStyle/>
          <a:p>
            <a:pPr marL="0" indent="0" algn="ctr">
              <a:buNone/>
            </a:pPr>
            <a:r>
              <a:rPr lang="en-US" sz="950" dirty="0">
                <a:solidFill>
                  <a:srgbClr val="C9D3DD"/>
                </a:solidFill>
                <a:latin typeface="Courier New" pitchFamily="34" charset="0"/>
                <a:ea typeface="Courier New" pitchFamily="34" charset="-122"/>
                <a:cs typeface="Courier New" pitchFamily="34" charset="-120"/>
              </a:rPr>
              <a:t>app/controllers/Posts.cfc</a:t>
            </a:r>
            <a:endParaRPr lang="en-US" sz="950" dirty="0"/>
          </a:p>
          <a:p>
            <a:pPr marL="0" indent="0" algn="ctr">
              <a:buNone/>
            </a:pPr>
            <a:r>
              <a:rPr lang="en-US" sz="950" dirty="0">
                <a:solidFill>
                  <a:srgbClr val="C9D3DD"/>
                </a:solidFill>
                <a:latin typeface="Courier New" pitchFamily="34" charset="0"/>
                <a:ea typeface="Courier New" pitchFamily="34" charset="-122"/>
                <a:cs typeface="Courier New" pitchFamily="34" charset="-120"/>
              </a:rPr>
              <a:t>post = model("Post").findByKey(params.key)</a:t>
            </a:r>
            <a:endParaRPr lang="en-US" sz="950" dirty="0"/>
          </a:p>
        </p:txBody>
      </p:sp>
      <p:sp>
        <p:nvSpPr>
          <p:cNvPr id="18" name="Text 15"/>
          <p:cNvSpPr txBox="1"/>
          <p:nvPr/>
        </p:nvSpPr>
        <p:spPr>
          <a:xfrm>
            <a:off x="5303520" y="2240280"/>
            <a:ext cx="274320" cy="365760"/>
          </a:xfrm>
          <a:prstGeom prst="rect">
            <a:avLst/>
          </a:prstGeom>
          <a:noFill/>
          <a:ln/>
        </p:spPr>
        <p:txBody>
          <a:bodyPr wrap="square" lIns="0" tIns="0" rIns="0" bIns="0" rtlCol="0" anchor="ctr"/>
          <a:lstStyle/>
          <a:p>
            <a:pPr marL="0" indent="0" algn="ctr">
              <a:buNone/>
            </a:pPr>
            <a:r>
              <a:rPr lang="en-US" sz="2400" dirty="0">
                <a:solidFill>
                  <a:srgbClr val="EF3B2D"/>
                </a:solidFill>
                <a:latin typeface="Calibri" pitchFamily="34" charset="0"/>
                <a:ea typeface="Calibri" pitchFamily="34" charset="-122"/>
                <a:cs typeface="Calibri" pitchFamily="34" charset="-120"/>
              </a:rPr>
              <a:t>›</a:t>
            </a:r>
            <a:endParaRPr lang="en-US" sz="2400" dirty="0"/>
          </a:p>
        </p:txBody>
      </p:sp>
      <p:sp>
        <p:nvSpPr>
          <p:cNvPr id="19" name="Shape 16"/>
          <p:cNvSpPr/>
          <p:nvPr/>
        </p:nvSpPr>
        <p:spPr>
          <a:xfrm>
            <a:off x="5532120" y="1280160"/>
            <a:ext cx="1508760" cy="2377440"/>
          </a:xfrm>
          <a:prstGeom prst="roundRect">
            <a:avLst>
              <a:gd name="adj" fmla="val 4848"/>
            </a:avLst>
          </a:prstGeom>
          <a:solidFill>
            <a:srgbClr val="0C1620"/>
          </a:solidFill>
          <a:ln w="12700">
            <a:solidFill>
              <a:srgbClr val="0C1620"/>
            </a:solidFill>
            <a:prstDash val="solid"/>
          </a:ln>
        </p:spPr>
        <p:txBody>
          <a:bodyPr/>
          <a:lstStyle/>
          <a:p>
            <a:endParaRPr lang="en-US"/>
          </a:p>
        </p:txBody>
      </p:sp>
      <p:sp>
        <p:nvSpPr>
          <p:cNvPr id="20" name="Text 17"/>
          <p:cNvSpPr txBox="1"/>
          <p:nvPr/>
        </p:nvSpPr>
        <p:spPr>
          <a:xfrm>
            <a:off x="5623560" y="1417320"/>
            <a:ext cx="132588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Model</a:t>
            </a:r>
            <a:endParaRPr lang="en-US" sz="1600" dirty="0"/>
          </a:p>
        </p:txBody>
      </p:sp>
      <p:sp>
        <p:nvSpPr>
          <p:cNvPr id="21" name="Text 18"/>
          <p:cNvSpPr txBox="1"/>
          <p:nvPr/>
        </p:nvSpPr>
        <p:spPr>
          <a:xfrm>
            <a:off x="5623560" y="1874520"/>
            <a:ext cx="1325880" cy="1691640"/>
          </a:xfrm>
          <a:prstGeom prst="rect">
            <a:avLst/>
          </a:prstGeom>
          <a:noFill/>
          <a:ln/>
        </p:spPr>
        <p:txBody>
          <a:bodyPr wrap="square" lIns="0" tIns="0" rIns="0" bIns="0" rtlCol="0" anchor="t"/>
          <a:lstStyle/>
          <a:p>
            <a:pPr marL="0" indent="0" algn="ctr">
              <a:buNone/>
            </a:pPr>
            <a:r>
              <a:rPr lang="en-US" sz="950" dirty="0">
                <a:solidFill>
                  <a:srgbClr val="C9D3DD"/>
                </a:solidFill>
                <a:latin typeface="Courier New" pitchFamily="34" charset="0"/>
                <a:ea typeface="Courier New" pitchFamily="34" charset="-122"/>
                <a:cs typeface="Courier New" pitchFamily="34" charset="-120"/>
              </a:rPr>
              <a:t>app/models/Post.cfc</a:t>
            </a:r>
            <a:endParaRPr lang="en-US" sz="950" dirty="0"/>
          </a:p>
          <a:p>
            <a:pPr marL="0" indent="0" algn="ctr">
              <a:buNone/>
            </a:pPr>
            <a:r>
              <a:rPr lang="en-US" sz="950" dirty="0">
                <a:solidFill>
                  <a:srgbClr val="C9D3DD"/>
                </a:solidFill>
                <a:latin typeface="Courier New" pitchFamily="34" charset="0"/>
                <a:ea typeface="Courier New" pitchFamily="34" charset="-122"/>
                <a:cs typeface="Courier New" pitchFamily="34" charset="-120"/>
              </a:rPr>
              <a:t>SQL generated, every value a cfqueryparam</a:t>
            </a:r>
            <a:endParaRPr lang="en-US" sz="950" dirty="0"/>
          </a:p>
        </p:txBody>
      </p:sp>
      <p:sp>
        <p:nvSpPr>
          <p:cNvPr id="22" name="Text 19"/>
          <p:cNvSpPr txBox="1"/>
          <p:nvPr/>
        </p:nvSpPr>
        <p:spPr>
          <a:xfrm>
            <a:off x="6995160" y="2240280"/>
            <a:ext cx="274320" cy="365760"/>
          </a:xfrm>
          <a:prstGeom prst="rect">
            <a:avLst/>
          </a:prstGeom>
          <a:noFill/>
          <a:ln/>
        </p:spPr>
        <p:txBody>
          <a:bodyPr wrap="square" lIns="0" tIns="0" rIns="0" bIns="0" rtlCol="0" anchor="ctr"/>
          <a:lstStyle/>
          <a:p>
            <a:pPr marL="0" indent="0" algn="ctr">
              <a:buNone/>
            </a:pPr>
            <a:r>
              <a:rPr lang="en-US" sz="2400" dirty="0">
                <a:solidFill>
                  <a:srgbClr val="EF3B2D"/>
                </a:solidFill>
                <a:latin typeface="Calibri" pitchFamily="34" charset="0"/>
                <a:ea typeface="Calibri" pitchFamily="34" charset="-122"/>
                <a:cs typeface="Calibri" pitchFamily="34" charset="-120"/>
              </a:rPr>
              <a:t>›</a:t>
            </a:r>
            <a:endParaRPr lang="en-US" sz="2400" dirty="0"/>
          </a:p>
        </p:txBody>
      </p:sp>
      <p:sp>
        <p:nvSpPr>
          <p:cNvPr id="23" name="Shape 20"/>
          <p:cNvSpPr/>
          <p:nvPr/>
        </p:nvSpPr>
        <p:spPr>
          <a:xfrm>
            <a:off x="7223760" y="1280160"/>
            <a:ext cx="1508760" cy="2377440"/>
          </a:xfrm>
          <a:prstGeom prst="roundRect">
            <a:avLst>
              <a:gd name="adj" fmla="val 4848"/>
            </a:avLst>
          </a:prstGeom>
          <a:solidFill>
            <a:srgbClr val="F3F5F7"/>
          </a:solidFill>
          <a:ln w="12700">
            <a:solidFill>
              <a:srgbClr val="F3F5F7"/>
            </a:solidFill>
            <a:prstDash val="solid"/>
          </a:ln>
        </p:spPr>
        <p:txBody>
          <a:bodyPr/>
          <a:lstStyle/>
          <a:p>
            <a:endParaRPr lang="en-US"/>
          </a:p>
        </p:txBody>
      </p:sp>
      <p:sp>
        <p:nvSpPr>
          <p:cNvPr id="24" name="Text 21"/>
          <p:cNvSpPr txBox="1"/>
          <p:nvPr/>
        </p:nvSpPr>
        <p:spPr>
          <a:xfrm>
            <a:off x="7315200" y="1417320"/>
            <a:ext cx="1325880" cy="365760"/>
          </a:xfrm>
          <a:prstGeom prst="rect">
            <a:avLst/>
          </a:prstGeom>
          <a:noFill/>
          <a:ln/>
        </p:spPr>
        <p:txBody>
          <a:bodyPr wrap="square" lIns="0" tIns="0" rIns="0" bIns="0" rtlCol="0" anchor="ctr"/>
          <a:lstStyle/>
          <a:p>
            <a:pPr marL="0" indent="0" algn="ctr">
              <a:buNone/>
            </a:pPr>
            <a:r>
              <a:rPr lang="en-US" sz="1600" b="1" dirty="0">
                <a:solidFill>
                  <a:srgbClr val="1A2430"/>
                </a:solidFill>
                <a:latin typeface="Calibri" pitchFamily="34" charset="0"/>
                <a:ea typeface="Calibri" pitchFamily="34" charset="-122"/>
                <a:cs typeface="Calibri" pitchFamily="34" charset="-120"/>
              </a:rPr>
              <a:t>View</a:t>
            </a:r>
            <a:endParaRPr lang="en-US" sz="1600" dirty="0"/>
          </a:p>
        </p:txBody>
      </p:sp>
      <p:sp>
        <p:nvSpPr>
          <p:cNvPr id="25" name="Text 22"/>
          <p:cNvSpPr txBox="1"/>
          <p:nvPr/>
        </p:nvSpPr>
        <p:spPr>
          <a:xfrm>
            <a:off x="7315200" y="1874520"/>
            <a:ext cx="1325880" cy="1691640"/>
          </a:xfrm>
          <a:prstGeom prst="rect">
            <a:avLst/>
          </a:prstGeom>
          <a:noFill/>
          <a:ln/>
        </p:spPr>
        <p:txBody>
          <a:bodyPr wrap="square" lIns="0" tIns="0" rIns="0" bIns="0" rtlCol="0" anchor="t"/>
          <a:lstStyle/>
          <a:p>
            <a:pPr marL="0" indent="0" algn="ctr">
              <a:buNone/>
            </a:pPr>
            <a:r>
              <a:rPr lang="en-US" sz="950" dirty="0">
                <a:solidFill>
                  <a:srgbClr val="6B7785"/>
                </a:solidFill>
                <a:latin typeface="Courier New" pitchFamily="34" charset="0"/>
                <a:ea typeface="Courier New" pitchFamily="34" charset="-122"/>
                <a:cs typeface="Courier New" pitchFamily="34" charset="-120"/>
              </a:rPr>
              <a:t>app/views/posts/show.cfm</a:t>
            </a:r>
            <a:endParaRPr lang="en-US" sz="950" dirty="0"/>
          </a:p>
          <a:p>
            <a:pPr marL="0" indent="0" algn="ctr">
              <a:buNone/>
            </a:pPr>
            <a:r>
              <a:rPr lang="en-US" sz="950" dirty="0">
                <a:solidFill>
                  <a:srgbClr val="6B7785"/>
                </a:solidFill>
                <a:latin typeface="Courier New" pitchFamily="34" charset="0"/>
                <a:ea typeface="Courier New" pitchFamily="34" charset="-122"/>
                <a:cs typeface="Courier New" pitchFamily="34" charset="-120"/>
              </a:rPr>
              <a:t>+ layout → HTML (or JSON)</a:t>
            </a:r>
            <a:endParaRPr lang="en-US" sz="950" dirty="0"/>
          </a:p>
        </p:txBody>
      </p:sp>
      <p:sp>
        <p:nvSpPr>
          <p:cNvPr id="26" name="Text 23"/>
          <p:cNvSpPr txBox="1"/>
          <p:nvPr/>
        </p:nvSpPr>
        <p:spPr>
          <a:xfrm>
            <a:off x="457200" y="3840480"/>
            <a:ext cx="8229600" cy="82296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rgbClr val="1A2430"/>
                </a:solidFill>
                <a:latin typeface="Calibri" pitchFamily="34" charset="0"/>
                <a:ea typeface="Calibri" pitchFamily="34" charset="-122"/>
                <a:cs typeface="Calibri" pitchFamily="34" charset="-120"/>
              </a:rPr>
              <a:t>You write the two dark boxes. The router, the SQL, the layout, the error pages, the CSRF token and the flash messages are the framework's job.</a:t>
            </a:r>
            <a:endParaRPr lang="en-US" sz="1250" dirty="0"/>
          </a:p>
          <a:p>
            <a:pPr marL="177800" indent="-177800">
              <a:spcAft>
                <a:spcPts val="400"/>
              </a:spcAft>
              <a:buSzPct val="100000"/>
              <a:buChar char="•"/>
            </a:pPr>
            <a:r>
              <a:rPr lang="en-US" sz="1250" dirty="0">
                <a:solidFill>
                  <a:srgbClr val="1A2430"/>
                </a:solidFill>
                <a:latin typeface="Calibri" pitchFamily="34" charset="0"/>
                <a:ea typeface="Calibri" pitchFamily="34" charset="-122"/>
                <a:cs typeface="Calibri" pitchFamily="34" charset="-120"/>
              </a:rPr>
              <a:t>Same controller can answer HTML, JSON or XML via renderWith() — the API story is the same story.</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pic>
        <p:nvPicPr>
          <p:cNvPr id="2" name="Image 0" descr="/home/claude/deck/assets/mark-t.png"/>
          <p:cNvPicPr>
            <a:picLocks noChangeAspect="1"/>
          </p:cNvPicPr>
          <p:nvPr/>
        </p:nvPicPr>
        <p:blipFill>
          <a:blip r:embed="rId3"/>
          <a:stretch>
            <a:fillRect/>
          </a:stretch>
        </p:blipFill>
        <p:spPr>
          <a:xfrm>
            <a:off x="8092440" y="384048"/>
            <a:ext cx="594360" cy="365760"/>
          </a:xfrm>
          <a:prstGeom prst="rect">
            <a:avLst/>
          </a:prstGeom>
        </p:spPr>
      </p:pic>
      <p:sp>
        <p:nvSpPr>
          <p:cNvPr id="3" name="Text 0"/>
          <p:cNvSpPr txBox="1"/>
          <p:nvPr/>
        </p:nvSpPr>
        <p:spPr>
          <a:xfrm>
            <a:off x="457200" y="320040"/>
            <a:ext cx="7498080" cy="640080"/>
          </a:xfrm>
          <a:prstGeom prst="rect">
            <a:avLst/>
          </a:prstGeom>
          <a:noFill/>
          <a:ln/>
        </p:spPr>
        <p:txBody>
          <a:bodyPr wrap="square" lIns="0" tIns="0" rIns="0" bIns="0" rtlCol="0" anchor="ctr"/>
          <a:lstStyle/>
          <a:p>
            <a:pPr marL="0" indent="0">
              <a:buNone/>
            </a:pPr>
            <a:r>
              <a:rPr lang="en-US" sz="3000" b="1" dirty="0">
                <a:solidFill>
                  <a:srgbClr val="1A2430"/>
                </a:solidFill>
                <a:latin typeface="Calibri" pitchFamily="34" charset="0"/>
                <a:ea typeface="Calibri" pitchFamily="34" charset="-122"/>
                <a:cs typeface="Calibri" pitchFamily="34" charset="-120"/>
              </a:rPr>
              <a:t>Your code and the framework never mix</a:t>
            </a:r>
            <a:endParaRPr lang="en-US" sz="3000" dirty="0"/>
          </a:p>
        </p:txBody>
      </p:sp>
      <p:sp>
        <p:nvSpPr>
          <p:cNvPr id="4" name="Text 1"/>
          <p:cNvSpPr txBox="1"/>
          <p:nvPr/>
        </p:nvSpPr>
        <p:spPr>
          <a:xfrm>
            <a:off x="457200" y="109728"/>
            <a:ext cx="5486400" cy="228600"/>
          </a:xfrm>
          <a:prstGeom prst="rect">
            <a:avLst/>
          </a:prstGeom>
          <a:noFill/>
          <a:ln/>
        </p:spPr>
        <p:txBody>
          <a:bodyPr wrap="square" lIns="0" tIns="0" rIns="0" bIns="0" rtlCol="0" anchor="ctr"/>
          <a:lstStyle/>
          <a:p>
            <a:pPr marL="0" indent="0">
              <a:buNone/>
            </a:pPr>
            <a:r>
              <a:rPr lang="en-US" sz="1000" b="1" kern="0" spc="200" dirty="0">
                <a:solidFill>
                  <a:srgbClr val="EF3B2D"/>
                </a:solidFill>
                <a:latin typeface="Calibri" pitchFamily="34" charset="0"/>
                <a:ea typeface="Calibri" pitchFamily="34" charset="-122"/>
                <a:cs typeface="Calibri" pitchFamily="34" charset="-120"/>
              </a:rPr>
              <a:t>PROJECT LAYOUT — NEW IN 3.0</a:t>
            </a:r>
            <a:endParaRPr lang="en-US" sz="1000" dirty="0"/>
          </a:p>
        </p:txBody>
      </p:sp>
      <p:sp>
        <p:nvSpPr>
          <p:cNvPr id="5" name="Text 2"/>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6B7785"/>
                </a:solidFill>
                <a:latin typeface="Calibri" pitchFamily="34" charset="0"/>
                <a:ea typeface="Calibri" pitchFamily="34" charset="-122"/>
                <a:cs typeface="Calibri" pitchFamily="34" charset="-120"/>
              </a:rPr>
              <a:t>wheels.dev   ·   Mid-Michigan CFUG · Sept 15, 2026</a:t>
            </a:r>
            <a:endParaRPr lang="en-US" sz="9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6B7785"/>
                </a:solidFill>
                <a:latin typeface="Calibri" pitchFamily="34" charset="0"/>
                <a:ea typeface="Calibri" pitchFamily="34" charset="-122"/>
                <a:cs typeface="Calibri" pitchFamily="34" charset="-120"/>
              </a:rPr>
              <a:t>9</a:t>
            </a:r>
            <a:endParaRPr lang="en-US" sz="900" dirty="0"/>
          </a:p>
        </p:txBody>
      </p:sp>
      <p:sp>
        <p:nvSpPr>
          <p:cNvPr id="7" name="Shape 4"/>
          <p:cNvSpPr/>
          <p:nvPr/>
        </p:nvSpPr>
        <p:spPr>
          <a:xfrm>
            <a:off x="457200" y="1188720"/>
            <a:ext cx="3931920" cy="3383280"/>
          </a:xfrm>
          <a:prstGeom prst="roundRect">
            <a:avLst>
              <a:gd name="adj" fmla="val 2162"/>
            </a:avLst>
          </a:prstGeom>
          <a:solidFill>
            <a:srgbClr val="16232F"/>
          </a:solidFill>
          <a:ln w="12700">
            <a:solidFill>
              <a:srgbClr val="16232F"/>
            </a:solidFill>
            <a:prstDash val="solid"/>
          </a:ln>
        </p:spPr>
        <p:txBody>
          <a:bodyPr/>
          <a:lstStyle/>
          <a:p>
            <a:endParaRPr lang="en-US"/>
          </a:p>
        </p:txBody>
      </p:sp>
      <p:sp>
        <p:nvSpPr>
          <p:cNvPr id="8" name="Shape 5"/>
          <p:cNvSpPr/>
          <p:nvPr/>
        </p:nvSpPr>
        <p:spPr>
          <a:xfrm>
            <a:off x="594360" y="1307592"/>
            <a:ext cx="91440" cy="91440"/>
          </a:xfrm>
          <a:prstGeom prst="ellipse">
            <a:avLst/>
          </a:prstGeom>
          <a:solidFill>
            <a:srgbClr val="EF3B2D"/>
          </a:solidFill>
          <a:ln w="12700">
            <a:solidFill>
              <a:srgbClr val="EF3B2D"/>
            </a:solidFill>
            <a:prstDash val="solid"/>
          </a:ln>
        </p:spPr>
        <p:txBody>
          <a:bodyPr/>
          <a:lstStyle/>
          <a:p>
            <a:endParaRPr lang="en-US"/>
          </a:p>
        </p:txBody>
      </p:sp>
      <p:sp>
        <p:nvSpPr>
          <p:cNvPr id="9" name="Shape 6"/>
          <p:cNvSpPr/>
          <p:nvPr/>
        </p:nvSpPr>
        <p:spPr>
          <a:xfrm>
            <a:off x="758952" y="1307592"/>
            <a:ext cx="91440" cy="91440"/>
          </a:xfrm>
          <a:prstGeom prst="ellipse">
            <a:avLst/>
          </a:prstGeom>
          <a:solidFill>
            <a:srgbClr val="F5B62E"/>
          </a:solidFill>
          <a:ln w="12700">
            <a:solidFill>
              <a:srgbClr val="F5B62E"/>
            </a:solidFill>
            <a:prstDash val="solid"/>
          </a:ln>
        </p:spPr>
        <p:txBody>
          <a:bodyPr/>
          <a:lstStyle/>
          <a:p>
            <a:endParaRPr lang="en-US"/>
          </a:p>
        </p:txBody>
      </p:sp>
      <p:sp>
        <p:nvSpPr>
          <p:cNvPr id="10" name="Shape 7"/>
          <p:cNvSpPr/>
          <p:nvPr/>
        </p:nvSpPr>
        <p:spPr>
          <a:xfrm>
            <a:off x="923544" y="1307592"/>
            <a:ext cx="91440" cy="91440"/>
          </a:xfrm>
          <a:prstGeom prst="ellipse">
            <a:avLst/>
          </a:prstGeom>
          <a:solidFill>
            <a:srgbClr val="3DDC84"/>
          </a:solidFill>
          <a:ln w="12700">
            <a:solidFill>
              <a:srgbClr val="3DDC84"/>
            </a:solidFill>
            <a:prstDash val="solid"/>
          </a:ln>
        </p:spPr>
        <p:txBody>
          <a:bodyPr/>
          <a:lstStyle/>
          <a:p>
            <a:endParaRPr lang="en-US"/>
          </a:p>
        </p:txBody>
      </p:sp>
      <p:sp>
        <p:nvSpPr>
          <p:cNvPr id="11" name="Text 8"/>
          <p:cNvSpPr txBox="1"/>
          <p:nvPr/>
        </p:nvSpPr>
        <p:spPr>
          <a:xfrm>
            <a:off x="640080" y="1508760"/>
            <a:ext cx="3566160" cy="2971800"/>
          </a:xfrm>
          <a:prstGeom prst="rect">
            <a:avLst/>
          </a:prstGeom>
          <a:noFill/>
          <a:ln/>
        </p:spPr>
        <p:txBody>
          <a:bodyPr wrap="square" lIns="0" tIns="0" rIns="0" bIns="0" rtlCol="0" anchor="t"/>
          <a:lstStyle/>
          <a:p>
            <a:pPr marL="0" indent="0">
              <a:lnSpc>
                <a:spcPct val="115000"/>
              </a:lnSpc>
              <a:buNone/>
            </a:pPr>
            <a:r>
              <a:rPr lang="en-US" sz="1150" dirty="0">
                <a:solidFill>
                  <a:srgbClr val="E6EDF3"/>
                </a:solidFill>
                <a:latin typeface="Courier New" pitchFamily="34" charset="0"/>
                <a:ea typeface="Courier New" pitchFamily="34" charset="-122"/>
                <a:cs typeface="Courier New" pitchFamily="34" charset="-120"/>
              </a:rPr>
              <a:t>myapp/</a:t>
            </a:r>
            <a:endParaRPr lang="en-US" sz="1150" dirty="0"/>
          </a:p>
          <a:p>
            <a:pPr marL="0" indent="0">
              <a:lnSpc>
                <a:spcPct val="115000"/>
              </a:lnSpc>
              <a:buNone/>
            </a:pPr>
            <a:r>
              <a:rPr lang="en-US" sz="1150" dirty="0">
                <a:solidFill>
                  <a:srgbClr val="E6EDF3"/>
                </a:solidFill>
                <a:latin typeface="Courier New" pitchFamily="34" charset="0"/>
                <a:ea typeface="Courier New" pitchFamily="34" charset="-122"/>
                <a:cs typeface="Courier New" pitchFamily="34" charset="-120"/>
              </a:rPr>
              <a:t>├── </a:t>
            </a:r>
            <a:r>
              <a:rPr lang="en-US" sz="1150" dirty="0">
                <a:solidFill>
                  <a:srgbClr val="EF3B2D"/>
                </a:solidFill>
                <a:latin typeface="Courier New" pitchFamily="34" charset="0"/>
                <a:ea typeface="Courier New" pitchFamily="34" charset="-122"/>
                <a:cs typeface="Courier New" pitchFamily="34" charset="-120"/>
              </a:rPr>
              <a:t>app/</a:t>
            </a:r>
            <a:r>
              <a:rPr lang="en-US" sz="1150" dirty="0">
                <a:solidFill>
                  <a:srgbClr val="E6EDF3"/>
                </a:solidFill>
                <a:latin typeface="Courier New" pitchFamily="34" charset="0"/>
                <a:ea typeface="Courier New" pitchFamily="34" charset="-122"/>
                <a:cs typeface="Courier New" pitchFamily="34" charset="-120"/>
              </a:rPr>
              <a:t>            </a:t>
            </a:r>
            <a:r>
              <a:rPr lang="en-US" sz="1150" dirty="0">
                <a:solidFill>
                  <a:srgbClr val="9AA7B4"/>
                </a:solidFill>
                <a:latin typeface="Courier New" pitchFamily="34" charset="0"/>
                <a:ea typeface="Courier New" pitchFamily="34" charset="-122"/>
                <a:cs typeface="Courier New" pitchFamily="34" charset="-120"/>
              </a:rPr>
              <a:t>← yours</a:t>
            </a:r>
            <a:endParaRPr lang="en-US" sz="1150" dirty="0"/>
          </a:p>
          <a:p>
            <a:pPr marL="0" indent="0">
              <a:lnSpc>
                <a:spcPct val="115000"/>
              </a:lnSpc>
              <a:buNone/>
            </a:pPr>
            <a:r>
              <a:rPr lang="en-US" sz="1150" dirty="0">
                <a:solidFill>
                  <a:srgbClr val="E6EDF3"/>
                </a:solidFill>
                <a:latin typeface="Courier New" pitchFamily="34" charset="0"/>
                <a:ea typeface="Courier New" pitchFamily="34" charset="-122"/>
                <a:cs typeface="Courier New" pitchFamily="34" charset="-120"/>
              </a:rPr>
              <a:t>│   ├── controllers/</a:t>
            </a:r>
            <a:endParaRPr lang="en-US" sz="1150" dirty="0"/>
          </a:p>
          <a:p>
            <a:pPr marL="0" indent="0">
              <a:lnSpc>
                <a:spcPct val="115000"/>
              </a:lnSpc>
              <a:buNone/>
            </a:pPr>
            <a:r>
              <a:rPr lang="en-US" sz="1150" dirty="0">
                <a:solidFill>
                  <a:srgbClr val="E6EDF3"/>
                </a:solidFill>
                <a:latin typeface="Courier New" pitchFamily="34" charset="0"/>
                <a:ea typeface="Courier New" pitchFamily="34" charset="-122"/>
                <a:cs typeface="Courier New" pitchFamily="34" charset="-120"/>
              </a:rPr>
              <a:t>│   ├── models/</a:t>
            </a:r>
            <a:endParaRPr lang="en-US" sz="1150" dirty="0"/>
          </a:p>
          <a:p>
            <a:pPr marL="0" indent="0">
              <a:lnSpc>
                <a:spcPct val="115000"/>
              </a:lnSpc>
              <a:buNone/>
            </a:pPr>
            <a:r>
              <a:rPr lang="en-US" sz="1150" dirty="0">
                <a:solidFill>
                  <a:srgbClr val="E6EDF3"/>
                </a:solidFill>
                <a:latin typeface="Courier New" pitchFamily="34" charset="0"/>
                <a:ea typeface="Courier New" pitchFamily="34" charset="-122"/>
                <a:cs typeface="Courier New" pitchFamily="34" charset="-120"/>
              </a:rPr>
              <a:t>│   ├── views/</a:t>
            </a:r>
            <a:endParaRPr lang="en-US" sz="1150" dirty="0"/>
          </a:p>
          <a:p>
            <a:pPr marL="0" indent="0">
              <a:lnSpc>
                <a:spcPct val="115000"/>
              </a:lnSpc>
              <a:buNone/>
            </a:pPr>
            <a:r>
              <a:rPr lang="en-US" sz="1150" dirty="0">
                <a:solidFill>
                  <a:srgbClr val="E6EDF3"/>
                </a:solidFill>
                <a:latin typeface="Courier New" pitchFamily="34" charset="0"/>
                <a:ea typeface="Courier New" pitchFamily="34" charset="-122"/>
                <a:cs typeface="Courier New" pitchFamily="34" charset="-120"/>
              </a:rPr>
              <a:t>│   ├── policies/</a:t>
            </a:r>
            <a:endParaRPr lang="en-US" sz="1150" dirty="0"/>
          </a:p>
          <a:p>
            <a:pPr marL="0" indent="0">
              <a:lnSpc>
                <a:spcPct val="115000"/>
              </a:lnSpc>
              <a:buNone/>
            </a:pPr>
            <a:r>
              <a:rPr lang="en-US" sz="1150" dirty="0">
                <a:solidFill>
                  <a:srgbClr val="E6EDF3"/>
                </a:solidFill>
                <a:latin typeface="Courier New" pitchFamily="34" charset="0"/>
                <a:ea typeface="Courier New" pitchFamily="34" charset="-122"/>
                <a:cs typeface="Courier New" pitchFamily="34" charset="-120"/>
              </a:rPr>
              <a:t>│   └── migrator/migrations/</a:t>
            </a:r>
            <a:endParaRPr lang="en-US" sz="1150" dirty="0"/>
          </a:p>
          <a:p>
            <a:pPr marL="0" indent="0">
              <a:lnSpc>
                <a:spcPct val="115000"/>
              </a:lnSpc>
              <a:buNone/>
            </a:pPr>
            <a:r>
              <a:rPr lang="en-US" sz="1150" dirty="0">
                <a:solidFill>
                  <a:srgbClr val="E6EDF3"/>
                </a:solidFill>
                <a:latin typeface="Courier New" pitchFamily="34" charset="0"/>
                <a:ea typeface="Courier New" pitchFamily="34" charset="-122"/>
                <a:cs typeface="Courier New" pitchFamily="34" charset="-120"/>
              </a:rPr>
              <a:t>├── </a:t>
            </a:r>
            <a:r>
              <a:rPr lang="en-US" sz="1150" dirty="0">
                <a:solidFill>
                  <a:srgbClr val="EF3B2D"/>
                </a:solidFill>
                <a:latin typeface="Courier New" pitchFamily="34" charset="0"/>
                <a:ea typeface="Courier New" pitchFamily="34" charset="-122"/>
                <a:cs typeface="Courier New" pitchFamily="34" charset="-120"/>
              </a:rPr>
              <a:t>config/</a:t>
            </a:r>
            <a:r>
              <a:rPr lang="en-US" sz="1150" dirty="0">
                <a:solidFill>
                  <a:srgbClr val="E6EDF3"/>
                </a:solidFill>
                <a:latin typeface="Courier New" pitchFamily="34" charset="0"/>
                <a:ea typeface="Courier New" pitchFamily="34" charset="-122"/>
                <a:cs typeface="Courier New" pitchFamily="34" charset="-120"/>
              </a:rPr>
              <a:t>         </a:t>
            </a:r>
            <a:r>
              <a:rPr lang="en-US" sz="1150" dirty="0">
                <a:solidFill>
                  <a:srgbClr val="9AA7B4"/>
                </a:solidFill>
                <a:latin typeface="Courier New" pitchFamily="34" charset="0"/>
                <a:ea typeface="Courier New" pitchFamily="34" charset="-122"/>
                <a:cs typeface="Courier New" pitchFamily="34" charset="-120"/>
              </a:rPr>
              <a:t>← routes, settings</a:t>
            </a:r>
            <a:endParaRPr lang="en-US" sz="1150" dirty="0"/>
          </a:p>
          <a:p>
            <a:pPr marL="0" indent="0">
              <a:lnSpc>
                <a:spcPct val="115000"/>
              </a:lnSpc>
              <a:buNone/>
            </a:pPr>
            <a:r>
              <a:rPr lang="en-US" sz="1150" dirty="0">
                <a:solidFill>
                  <a:srgbClr val="E6EDF3"/>
                </a:solidFill>
                <a:latin typeface="Courier New" pitchFamily="34" charset="0"/>
                <a:ea typeface="Courier New" pitchFamily="34" charset="-122"/>
                <a:cs typeface="Courier New" pitchFamily="34" charset="-120"/>
              </a:rPr>
              <a:t>├── db/              </a:t>
            </a:r>
            <a:r>
              <a:rPr lang="en-US" sz="1150" dirty="0">
                <a:solidFill>
                  <a:srgbClr val="9AA7B4"/>
                </a:solidFill>
                <a:latin typeface="Courier New" pitchFamily="34" charset="0"/>
                <a:ea typeface="Courier New" pitchFamily="34" charset="-122"/>
                <a:cs typeface="Courier New" pitchFamily="34" charset="-120"/>
              </a:rPr>
              <a:t>← SQLite by default</a:t>
            </a:r>
            <a:endParaRPr lang="en-US" sz="1150" dirty="0"/>
          </a:p>
          <a:p>
            <a:pPr marL="0" indent="0">
              <a:lnSpc>
                <a:spcPct val="115000"/>
              </a:lnSpc>
              <a:buNone/>
            </a:pPr>
            <a:r>
              <a:rPr lang="en-US" sz="1150" dirty="0">
                <a:solidFill>
                  <a:srgbClr val="E6EDF3"/>
                </a:solidFill>
                <a:latin typeface="Courier New" pitchFamily="34" charset="0"/>
                <a:ea typeface="Courier New" pitchFamily="34" charset="-122"/>
                <a:cs typeface="Courier New" pitchFamily="34" charset="-120"/>
              </a:rPr>
              <a:t>├── public/          </a:t>
            </a:r>
            <a:r>
              <a:rPr lang="en-US" sz="1150" dirty="0">
                <a:solidFill>
                  <a:srgbClr val="9AA7B4"/>
                </a:solidFill>
                <a:latin typeface="Courier New" pitchFamily="34" charset="0"/>
                <a:ea typeface="Courier New" pitchFamily="34" charset="-122"/>
                <a:cs typeface="Courier New" pitchFamily="34" charset="-120"/>
              </a:rPr>
              <a:t>← web root</a:t>
            </a:r>
            <a:endParaRPr lang="en-US" sz="1150" dirty="0"/>
          </a:p>
          <a:p>
            <a:pPr marL="0" indent="0">
              <a:lnSpc>
                <a:spcPct val="115000"/>
              </a:lnSpc>
              <a:buNone/>
            </a:pPr>
            <a:r>
              <a:rPr lang="en-US" sz="1150" dirty="0">
                <a:solidFill>
                  <a:srgbClr val="E6EDF3"/>
                </a:solidFill>
                <a:latin typeface="Courier New" pitchFamily="34" charset="0"/>
                <a:ea typeface="Courier New" pitchFamily="34" charset="-122"/>
                <a:cs typeface="Courier New" pitchFamily="34" charset="-120"/>
              </a:rPr>
              <a:t>├── tests/specs/     </a:t>
            </a:r>
            <a:r>
              <a:rPr lang="en-US" sz="1150" dirty="0">
                <a:solidFill>
                  <a:srgbClr val="9AA7B4"/>
                </a:solidFill>
                <a:latin typeface="Courier New" pitchFamily="34" charset="0"/>
                <a:ea typeface="Courier New" pitchFamily="34" charset="-122"/>
                <a:cs typeface="Courier New" pitchFamily="34" charset="-120"/>
              </a:rPr>
              <a:t>← </a:t>
            </a:r>
            <a:r>
              <a:rPr lang="en-US" sz="1150" dirty="0" err="1">
                <a:solidFill>
                  <a:srgbClr val="9AA7B4"/>
                </a:solidFill>
                <a:latin typeface="Courier New" pitchFamily="34" charset="0"/>
                <a:ea typeface="Courier New" pitchFamily="34" charset="-122"/>
                <a:cs typeface="Courier New" pitchFamily="34" charset="-120"/>
              </a:rPr>
              <a:t>WheelsTest</a:t>
            </a:r>
            <a:endParaRPr lang="en-US" sz="1150" dirty="0"/>
          </a:p>
          <a:p>
            <a:pPr marL="0" indent="0">
              <a:lnSpc>
                <a:spcPct val="115000"/>
              </a:lnSpc>
              <a:buNone/>
            </a:pPr>
            <a:r>
              <a:rPr lang="en-US" sz="1150" dirty="0">
                <a:solidFill>
                  <a:srgbClr val="E6EDF3"/>
                </a:solidFill>
                <a:latin typeface="Courier New" pitchFamily="34" charset="0"/>
                <a:ea typeface="Courier New" pitchFamily="34" charset="-122"/>
                <a:cs typeface="Courier New" pitchFamily="34" charset="-120"/>
              </a:rPr>
              <a:t>└── </a:t>
            </a:r>
            <a:r>
              <a:rPr lang="en-US" sz="1150" dirty="0">
                <a:solidFill>
                  <a:srgbClr val="9AA7B4"/>
                </a:solidFill>
                <a:latin typeface="Courier New" pitchFamily="34" charset="0"/>
                <a:ea typeface="Courier New" pitchFamily="34" charset="-122"/>
                <a:cs typeface="Courier New" pitchFamily="34" charset="-120"/>
              </a:rPr>
              <a:t>vendor/wheels/</a:t>
            </a:r>
            <a:r>
              <a:rPr lang="en-US" sz="1150" dirty="0">
                <a:solidFill>
                  <a:srgbClr val="E6EDF3"/>
                </a:solidFill>
                <a:latin typeface="Courier New" pitchFamily="34" charset="0"/>
                <a:ea typeface="Courier New" pitchFamily="34" charset="-122"/>
                <a:cs typeface="Courier New" pitchFamily="34" charset="-120"/>
              </a:rPr>
              <a:t>  </a:t>
            </a:r>
            <a:r>
              <a:rPr lang="en-US" sz="1150" dirty="0">
                <a:solidFill>
                  <a:srgbClr val="9AA7B4"/>
                </a:solidFill>
                <a:latin typeface="Courier New" pitchFamily="34" charset="0"/>
                <a:ea typeface="Courier New" pitchFamily="34" charset="-122"/>
                <a:cs typeface="Courier New" pitchFamily="34" charset="-120"/>
              </a:rPr>
              <a:t>← the framework</a:t>
            </a:r>
            <a:endParaRPr lang="en-US" sz="1150" dirty="0"/>
          </a:p>
        </p:txBody>
      </p:sp>
      <p:sp>
        <p:nvSpPr>
          <p:cNvPr id="12" name="Text 9"/>
          <p:cNvSpPr txBox="1"/>
          <p:nvPr/>
        </p:nvSpPr>
        <p:spPr>
          <a:xfrm>
            <a:off x="4663440" y="1188720"/>
            <a:ext cx="4023360" cy="338328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rgbClr val="1A2430"/>
                </a:solidFill>
                <a:latin typeface="Calibri" pitchFamily="34" charset="0"/>
                <a:ea typeface="Calibri" pitchFamily="34" charset="-122"/>
                <a:cs typeface="Calibri" pitchFamily="34" charset="-120"/>
              </a:rPr>
              <a:t>Framework core lives in vendor/wheels. Upgrading is replacing one directory — no diffing your app against the new release.</a:t>
            </a:r>
            <a:endParaRPr lang="en-US" sz="1300" dirty="0"/>
          </a:p>
          <a:p>
            <a:pPr marL="177800" indent="-177800">
              <a:spcAft>
                <a:spcPts val="1000"/>
              </a:spcAft>
              <a:buSzPct val="100000"/>
              <a:buChar char="•"/>
            </a:pPr>
            <a:r>
              <a:rPr lang="en-US" sz="1300" dirty="0">
                <a:solidFill>
                  <a:srgbClr val="1A2430"/>
                </a:solidFill>
                <a:latin typeface="Calibri" pitchFamily="34" charset="0"/>
                <a:ea typeface="Calibri" pitchFamily="34" charset="-122"/>
                <a:cs typeface="Calibri" pitchFamily="34" charset="-120"/>
              </a:rPr>
              <a:t>Web root is public/ — models, config and tests are not reachable from a URL.</a:t>
            </a:r>
            <a:endParaRPr lang="en-US" sz="1300" dirty="0"/>
          </a:p>
          <a:p>
            <a:pPr marL="177800" indent="-177800">
              <a:spcAft>
                <a:spcPts val="1000"/>
              </a:spcAft>
              <a:buSzPct val="100000"/>
              <a:buChar char="•"/>
            </a:pPr>
            <a:r>
              <a:rPr lang="en-US" sz="1300" dirty="0">
                <a:solidFill>
                  <a:srgbClr val="1A2430"/>
                </a:solidFill>
                <a:latin typeface="Calibri" pitchFamily="34" charset="0"/>
                <a:ea typeface="Calibri" pitchFamily="34" charset="-122"/>
                <a:cs typeface="Calibri" pitchFamily="34" charset="-120"/>
              </a:rPr>
              <a:t>Migrations are versioned CFCs in your repo. Schema travels with code.</a:t>
            </a:r>
            <a:endParaRPr lang="en-US" sz="1300" dirty="0"/>
          </a:p>
          <a:p>
            <a:pPr marL="177800" indent="-177800">
              <a:spcAft>
                <a:spcPts val="1000"/>
              </a:spcAft>
              <a:buSzPct val="100000"/>
              <a:buChar char="•"/>
            </a:pPr>
            <a:r>
              <a:rPr lang="en-US" sz="1300" dirty="0">
                <a:solidFill>
                  <a:srgbClr val="1A2430"/>
                </a:solidFill>
                <a:latin typeface="Calibri" pitchFamily="34" charset="0"/>
                <a:ea typeface="Calibri" pitchFamily="34" charset="-122"/>
                <a:cs typeface="Calibri" pitchFamily="34" charset="-120"/>
              </a:rPr>
              <a:t>Environments: development / testing / production, each with its own settings file and datasource.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pic>
        <p:nvPicPr>
          <p:cNvPr id="2" name="Image 0" descr="/home/claude/deck/assets/mark-t.png"/>
          <p:cNvPicPr>
            <a:picLocks noChangeAspect="1"/>
          </p:cNvPicPr>
          <p:nvPr/>
        </p:nvPicPr>
        <p:blipFill>
          <a:blip r:embed="rId3"/>
          <a:stretch>
            <a:fillRect/>
          </a:stretch>
        </p:blipFill>
        <p:spPr>
          <a:xfrm>
            <a:off x="8092440" y="384048"/>
            <a:ext cx="594360" cy="365760"/>
          </a:xfrm>
          <a:prstGeom prst="rect">
            <a:avLst/>
          </a:prstGeom>
        </p:spPr>
      </p:pic>
      <p:sp>
        <p:nvSpPr>
          <p:cNvPr id="3" name="Text 0"/>
          <p:cNvSpPr txBox="1"/>
          <p:nvPr/>
        </p:nvSpPr>
        <p:spPr>
          <a:xfrm>
            <a:off x="457200" y="320040"/>
            <a:ext cx="7498080" cy="640080"/>
          </a:xfrm>
          <a:prstGeom prst="rect">
            <a:avLst/>
          </a:prstGeom>
          <a:noFill/>
          <a:ln/>
        </p:spPr>
        <p:txBody>
          <a:bodyPr wrap="square" lIns="0" tIns="0" rIns="0" bIns="0" rtlCol="0" anchor="ctr"/>
          <a:lstStyle/>
          <a:p>
            <a:pPr marL="0" indent="0">
              <a:buNone/>
            </a:pPr>
            <a:r>
              <a:rPr lang="en-US" sz="3000" b="1" dirty="0">
                <a:solidFill>
                  <a:srgbClr val="1A2430"/>
                </a:solidFill>
                <a:latin typeface="Calibri" pitchFamily="34" charset="0"/>
                <a:ea typeface="Calibri" pitchFamily="34" charset="-122"/>
                <a:cs typeface="Calibri" pitchFamily="34" charset="-120"/>
              </a:rPr>
              <a:t>The model layer in one screen</a:t>
            </a:r>
            <a:endParaRPr lang="en-US" sz="3000" dirty="0"/>
          </a:p>
        </p:txBody>
      </p:sp>
      <p:sp>
        <p:nvSpPr>
          <p:cNvPr id="4" name="Text 1"/>
          <p:cNvSpPr txBox="1"/>
          <p:nvPr/>
        </p:nvSpPr>
        <p:spPr>
          <a:xfrm>
            <a:off x="457200" y="109728"/>
            <a:ext cx="5486400" cy="228600"/>
          </a:xfrm>
          <a:prstGeom prst="rect">
            <a:avLst/>
          </a:prstGeom>
          <a:noFill/>
          <a:ln/>
        </p:spPr>
        <p:txBody>
          <a:bodyPr wrap="square" lIns="0" tIns="0" rIns="0" bIns="0" rtlCol="0" anchor="ctr"/>
          <a:lstStyle/>
          <a:p>
            <a:pPr marL="0" indent="0">
              <a:buNone/>
            </a:pPr>
            <a:r>
              <a:rPr lang="en-US" sz="1000" b="1" kern="0" spc="200" dirty="0">
                <a:solidFill>
                  <a:srgbClr val="EF3B2D"/>
                </a:solidFill>
                <a:latin typeface="Calibri" pitchFamily="34" charset="0"/>
                <a:ea typeface="Calibri" pitchFamily="34" charset="-122"/>
                <a:cs typeface="Calibri" pitchFamily="34" charset="-120"/>
              </a:rPr>
              <a:t>ORM, QUERY BUILDER, MIGRATIONS</a:t>
            </a:r>
            <a:endParaRPr lang="en-US" sz="1000" dirty="0"/>
          </a:p>
        </p:txBody>
      </p:sp>
      <p:sp>
        <p:nvSpPr>
          <p:cNvPr id="5" name="Text 2"/>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6B7785"/>
                </a:solidFill>
                <a:latin typeface="Calibri" pitchFamily="34" charset="0"/>
                <a:ea typeface="Calibri" pitchFamily="34" charset="-122"/>
                <a:cs typeface="Calibri" pitchFamily="34" charset="-120"/>
              </a:rPr>
              <a:t>wheels.dev   ·   Mid-Michigan CFUG · Sept 15, 2026</a:t>
            </a:r>
            <a:endParaRPr lang="en-US" sz="9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6B7785"/>
                </a:solidFill>
                <a:latin typeface="Calibri" pitchFamily="34" charset="0"/>
                <a:ea typeface="Calibri" pitchFamily="34" charset="-122"/>
                <a:cs typeface="Calibri" pitchFamily="34" charset="-120"/>
              </a:rPr>
              <a:t>10</a:t>
            </a:r>
            <a:endParaRPr lang="en-US" sz="900" dirty="0"/>
          </a:p>
        </p:txBody>
      </p:sp>
      <p:sp>
        <p:nvSpPr>
          <p:cNvPr id="7" name="Shape 4"/>
          <p:cNvSpPr/>
          <p:nvPr/>
        </p:nvSpPr>
        <p:spPr>
          <a:xfrm>
            <a:off x="457200" y="1188720"/>
            <a:ext cx="5120640" cy="3383280"/>
          </a:xfrm>
          <a:prstGeom prst="roundRect">
            <a:avLst>
              <a:gd name="adj" fmla="val 2162"/>
            </a:avLst>
          </a:prstGeom>
          <a:solidFill>
            <a:srgbClr val="16232F"/>
          </a:solidFill>
          <a:ln w="12700">
            <a:solidFill>
              <a:srgbClr val="16232F"/>
            </a:solidFill>
            <a:prstDash val="solid"/>
          </a:ln>
        </p:spPr>
        <p:txBody>
          <a:bodyPr/>
          <a:lstStyle/>
          <a:p>
            <a:endParaRPr lang="en-US"/>
          </a:p>
        </p:txBody>
      </p:sp>
      <p:sp>
        <p:nvSpPr>
          <p:cNvPr id="8" name="Shape 5"/>
          <p:cNvSpPr/>
          <p:nvPr/>
        </p:nvSpPr>
        <p:spPr>
          <a:xfrm>
            <a:off x="594360" y="1307592"/>
            <a:ext cx="91440" cy="91440"/>
          </a:xfrm>
          <a:prstGeom prst="ellipse">
            <a:avLst/>
          </a:prstGeom>
          <a:solidFill>
            <a:srgbClr val="EF3B2D"/>
          </a:solidFill>
          <a:ln w="12700">
            <a:solidFill>
              <a:srgbClr val="EF3B2D"/>
            </a:solidFill>
            <a:prstDash val="solid"/>
          </a:ln>
        </p:spPr>
        <p:txBody>
          <a:bodyPr/>
          <a:lstStyle/>
          <a:p>
            <a:endParaRPr lang="en-US"/>
          </a:p>
        </p:txBody>
      </p:sp>
      <p:sp>
        <p:nvSpPr>
          <p:cNvPr id="9" name="Shape 6"/>
          <p:cNvSpPr/>
          <p:nvPr/>
        </p:nvSpPr>
        <p:spPr>
          <a:xfrm>
            <a:off x="758952" y="1307592"/>
            <a:ext cx="91440" cy="91440"/>
          </a:xfrm>
          <a:prstGeom prst="ellipse">
            <a:avLst/>
          </a:prstGeom>
          <a:solidFill>
            <a:srgbClr val="F5B62E"/>
          </a:solidFill>
          <a:ln w="12700">
            <a:solidFill>
              <a:srgbClr val="F5B62E"/>
            </a:solidFill>
            <a:prstDash val="solid"/>
          </a:ln>
        </p:spPr>
        <p:txBody>
          <a:bodyPr/>
          <a:lstStyle/>
          <a:p>
            <a:endParaRPr lang="en-US"/>
          </a:p>
        </p:txBody>
      </p:sp>
      <p:sp>
        <p:nvSpPr>
          <p:cNvPr id="10" name="Shape 7"/>
          <p:cNvSpPr/>
          <p:nvPr/>
        </p:nvSpPr>
        <p:spPr>
          <a:xfrm>
            <a:off x="923544" y="1307592"/>
            <a:ext cx="91440" cy="91440"/>
          </a:xfrm>
          <a:prstGeom prst="ellipse">
            <a:avLst/>
          </a:prstGeom>
          <a:solidFill>
            <a:srgbClr val="3DDC84"/>
          </a:solidFill>
          <a:ln w="12700">
            <a:solidFill>
              <a:srgbClr val="3DDC84"/>
            </a:solidFill>
            <a:prstDash val="solid"/>
          </a:ln>
        </p:spPr>
        <p:txBody>
          <a:bodyPr/>
          <a:lstStyle/>
          <a:p>
            <a:endParaRPr lang="en-US"/>
          </a:p>
        </p:txBody>
      </p:sp>
      <p:sp>
        <p:nvSpPr>
          <p:cNvPr id="11" name="Text 8"/>
          <p:cNvSpPr txBox="1"/>
          <p:nvPr/>
        </p:nvSpPr>
        <p:spPr>
          <a:xfrm>
            <a:off x="640080" y="1508760"/>
            <a:ext cx="4754880" cy="2971800"/>
          </a:xfrm>
          <a:prstGeom prst="rect">
            <a:avLst/>
          </a:prstGeom>
          <a:noFill/>
          <a:ln/>
        </p:spPr>
        <p:txBody>
          <a:bodyPr wrap="square" lIns="0" tIns="0" rIns="0" bIns="0" rtlCol="0" anchor="t"/>
          <a:lstStyle/>
          <a:p>
            <a:pPr marL="0" indent="0">
              <a:lnSpc>
                <a:spcPct val="115000"/>
              </a:lnSpc>
              <a:buNone/>
            </a:pPr>
            <a:r>
              <a:rPr lang="en-US" sz="1050" dirty="0">
                <a:solidFill>
                  <a:srgbClr val="9AA7B4"/>
                </a:solidFill>
                <a:latin typeface="Courier New" pitchFamily="34" charset="0"/>
                <a:ea typeface="Courier New" pitchFamily="34" charset="-122"/>
                <a:cs typeface="Courier New" pitchFamily="34" charset="-120"/>
              </a:rPr>
              <a:t>// finders</a:t>
            </a:r>
            <a:endParaRPr lang="en-US" sz="1050" dirty="0"/>
          </a:p>
          <a:p>
            <a:pPr marL="0" indent="0">
              <a:lnSpc>
                <a:spcPct val="115000"/>
              </a:lnSpc>
              <a:buNone/>
            </a:pPr>
            <a:r>
              <a:rPr lang="en-US" sz="1050" dirty="0">
                <a:solidFill>
                  <a:srgbClr val="E6EDF3"/>
                </a:solidFill>
                <a:latin typeface="Courier New" pitchFamily="34" charset="0"/>
                <a:ea typeface="Courier New" pitchFamily="34" charset="-122"/>
                <a:cs typeface="Courier New" pitchFamily="34" charset="-120"/>
              </a:rPr>
              <a:t>post  = model(</a:t>
            </a:r>
            <a:r>
              <a:rPr lang="en-US" sz="1050" dirty="0">
                <a:solidFill>
                  <a:srgbClr val="3DDC84"/>
                </a:solidFill>
                <a:latin typeface="Courier New" pitchFamily="34" charset="0"/>
                <a:ea typeface="Courier New" pitchFamily="34" charset="-122"/>
                <a:cs typeface="Courier New" pitchFamily="34" charset="-120"/>
              </a:rPr>
              <a:t>"Post"</a:t>
            </a:r>
            <a:r>
              <a:rPr lang="en-US" sz="1050" dirty="0">
                <a:solidFill>
                  <a:srgbClr val="E6EDF3"/>
                </a:solidFill>
                <a:latin typeface="Courier New" pitchFamily="34" charset="0"/>
                <a:ea typeface="Courier New" pitchFamily="34" charset="-122"/>
                <a:cs typeface="Courier New" pitchFamily="34" charset="-120"/>
              </a:rPr>
              <a:t>).findByKey(42);</a:t>
            </a:r>
            <a:endParaRPr lang="en-US" sz="1050" dirty="0"/>
          </a:p>
          <a:p>
            <a:pPr marL="0" indent="0">
              <a:lnSpc>
                <a:spcPct val="115000"/>
              </a:lnSpc>
              <a:buNone/>
            </a:pPr>
            <a:r>
              <a:rPr lang="en-US" sz="1050" dirty="0">
                <a:solidFill>
                  <a:srgbClr val="E6EDF3"/>
                </a:solidFill>
                <a:latin typeface="Courier New" pitchFamily="34" charset="0"/>
                <a:ea typeface="Courier New" pitchFamily="34" charset="-122"/>
                <a:cs typeface="Courier New" pitchFamily="34" charset="-120"/>
              </a:rPr>
              <a:t>posts = model(</a:t>
            </a:r>
            <a:r>
              <a:rPr lang="en-US" sz="1050" dirty="0">
                <a:solidFill>
                  <a:srgbClr val="3DDC84"/>
                </a:solidFill>
                <a:latin typeface="Courier New" pitchFamily="34" charset="0"/>
                <a:ea typeface="Courier New" pitchFamily="34" charset="-122"/>
                <a:cs typeface="Courier New" pitchFamily="34" charset="-120"/>
              </a:rPr>
              <a:t>"Post"</a:t>
            </a:r>
            <a:r>
              <a:rPr lang="en-US" sz="1050" dirty="0">
                <a:solidFill>
                  <a:srgbClr val="E6EDF3"/>
                </a:solidFill>
                <a:latin typeface="Courier New" pitchFamily="34" charset="0"/>
                <a:ea typeface="Courier New" pitchFamily="34" charset="-122"/>
                <a:cs typeface="Courier New" pitchFamily="34" charset="-120"/>
              </a:rPr>
              <a:t>).findAll(where=</a:t>
            </a:r>
            <a:r>
              <a:rPr lang="en-US" sz="1050" dirty="0">
                <a:solidFill>
                  <a:srgbClr val="3DDC84"/>
                </a:solidFill>
                <a:latin typeface="Courier New" pitchFamily="34" charset="0"/>
                <a:ea typeface="Courier New" pitchFamily="34" charset="-122"/>
                <a:cs typeface="Courier New" pitchFamily="34" charset="-120"/>
              </a:rPr>
              <a:t>"publishedAt &lt;= :now"</a:t>
            </a:r>
            <a:r>
              <a:rPr lang="en-US" sz="1050" dirty="0">
                <a:solidFill>
                  <a:srgbClr val="E6EDF3"/>
                </a:solidFill>
                <a:latin typeface="Courier New" pitchFamily="34" charset="0"/>
                <a:ea typeface="Courier New" pitchFamily="34" charset="-122"/>
                <a:cs typeface="Courier New" pitchFamily="34" charset="-120"/>
              </a:rPr>
              <a:t>,</a:t>
            </a:r>
            <a:endParaRPr lang="en-US" sz="1050" dirty="0"/>
          </a:p>
          <a:p>
            <a:pPr marL="0" indent="0">
              <a:lnSpc>
                <a:spcPct val="115000"/>
              </a:lnSpc>
              <a:buNone/>
            </a:pPr>
            <a:r>
              <a:rPr lang="en-US" sz="1050" dirty="0">
                <a:solidFill>
                  <a:srgbClr val="E6EDF3"/>
                </a:solidFill>
                <a:latin typeface="Courier New" pitchFamily="34" charset="0"/>
                <a:ea typeface="Courier New" pitchFamily="34" charset="-122"/>
                <a:cs typeface="Courier New" pitchFamily="34" charset="-120"/>
              </a:rPr>
              <a:t>          order=</a:t>
            </a:r>
            <a:r>
              <a:rPr lang="en-US" sz="1050" dirty="0">
                <a:solidFill>
                  <a:srgbClr val="3DDC84"/>
                </a:solidFill>
                <a:latin typeface="Courier New" pitchFamily="34" charset="0"/>
                <a:ea typeface="Courier New" pitchFamily="34" charset="-122"/>
                <a:cs typeface="Courier New" pitchFamily="34" charset="-120"/>
              </a:rPr>
              <a:t>"publishedAt DESC"</a:t>
            </a:r>
            <a:r>
              <a:rPr lang="en-US" sz="1050" dirty="0">
                <a:solidFill>
                  <a:srgbClr val="E6EDF3"/>
                </a:solidFill>
                <a:latin typeface="Courier New" pitchFamily="34" charset="0"/>
                <a:ea typeface="Courier New" pitchFamily="34" charset="-122"/>
                <a:cs typeface="Courier New" pitchFamily="34" charset="-120"/>
              </a:rPr>
              <a:t>, include=</a:t>
            </a:r>
            <a:r>
              <a:rPr lang="en-US" sz="1050" dirty="0">
                <a:solidFill>
                  <a:srgbClr val="3DDC84"/>
                </a:solidFill>
                <a:latin typeface="Courier New" pitchFamily="34" charset="0"/>
                <a:ea typeface="Courier New" pitchFamily="34" charset="-122"/>
                <a:cs typeface="Courier New" pitchFamily="34" charset="-120"/>
              </a:rPr>
              <a:t>"comments"</a:t>
            </a:r>
            <a:r>
              <a:rPr lang="en-US" sz="1050" dirty="0">
                <a:solidFill>
                  <a:srgbClr val="E6EDF3"/>
                </a:solidFill>
                <a:latin typeface="Courier New" pitchFamily="34" charset="0"/>
                <a:ea typeface="Courier New" pitchFamily="34" charset="-122"/>
                <a:cs typeface="Courier New" pitchFamily="34" charset="-120"/>
              </a:rPr>
              <a:t>);</a:t>
            </a:r>
            <a:endParaRPr lang="en-US" sz="1050" dirty="0"/>
          </a:p>
          <a:p>
            <a:pPr marL="0" indent="0">
              <a:lnSpc>
                <a:spcPct val="115000"/>
              </a:lnSpc>
              <a:buNone/>
            </a:pPr>
            <a:endParaRPr lang="en-US" sz="1050" dirty="0"/>
          </a:p>
          <a:p>
            <a:pPr marL="0" indent="0">
              <a:lnSpc>
                <a:spcPct val="115000"/>
              </a:lnSpc>
              <a:buNone/>
            </a:pPr>
            <a:r>
              <a:rPr lang="en-US" sz="1050" dirty="0">
                <a:solidFill>
                  <a:srgbClr val="9AA7B4"/>
                </a:solidFill>
                <a:latin typeface="Courier New" pitchFamily="34" charset="0"/>
                <a:ea typeface="Courier New" pitchFamily="34" charset="-122"/>
                <a:cs typeface="Courier New" pitchFamily="34" charset="-120"/>
              </a:rPr>
              <a:t>// chainable builder (4.x)</a:t>
            </a:r>
            <a:endParaRPr lang="en-US" sz="1050" dirty="0"/>
          </a:p>
          <a:p>
            <a:pPr marL="0" indent="0">
              <a:lnSpc>
                <a:spcPct val="115000"/>
              </a:lnSpc>
              <a:buNone/>
            </a:pPr>
            <a:r>
              <a:rPr lang="en-US" sz="1050" dirty="0">
                <a:solidFill>
                  <a:srgbClr val="E6EDF3"/>
                </a:solidFill>
                <a:latin typeface="Courier New" pitchFamily="34" charset="0"/>
                <a:ea typeface="Courier New" pitchFamily="34" charset="-122"/>
                <a:cs typeface="Courier New" pitchFamily="34" charset="-120"/>
              </a:rPr>
              <a:t>model(</a:t>
            </a:r>
            <a:r>
              <a:rPr lang="en-US" sz="1050" dirty="0">
                <a:solidFill>
                  <a:srgbClr val="3DDC84"/>
                </a:solidFill>
                <a:latin typeface="Courier New" pitchFamily="34" charset="0"/>
                <a:ea typeface="Courier New" pitchFamily="34" charset="-122"/>
                <a:cs typeface="Courier New" pitchFamily="34" charset="-120"/>
              </a:rPr>
              <a:t>"Post"</a:t>
            </a:r>
            <a:r>
              <a:rPr lang="en-US" sz="1050" dirty="0">
                <a:solidFill>
                  <a:srgbClr val="E6EDF3"/>
                </a:solidFill>
                <a:latin typeface="Courier New" pitchFamily="34" charset="0"/>
                <a:ea typeface="Courier New" pitchFamily="34" charset="-122"/>
                <a:cs typeface="Courier New" pitchFamily="34" charset="-120"/>
              </a:rPr>
              <a:t>).select(</a:t>
            </a:r>
            <a:r>
              <a:rPr lang="en-US" sz="1050" dirty="0">
                <a:solidFill>
                  <a:srgbClr val="3DDC84"/>
                </a:solidFill>
                <a:latin typeface="Courier New" pitchFamily="34" charset="0"/>
                <a:ea typeface="Courier New" pitchFamily="34" charset="-122"/>
                <a:cs typeface="Courier New" pitchFamily="34" charset="-120"/>
              </a:rPr>
              <a:t>"id,title"</a:t>
            </a:r>
            <a:r>
              <a:rPr lang="en-US" sz="1050" dirty="0">
                <a:solidFill>
                  <a:srgbClr val="E6EDF3"/>
                </a:solidFill>
                <a:latin typeface="Courier New" pitchFamily="34" charset="0"/>
                <a:ea typeface="Courier New" pitchFamily="34" charset="-122"/>
                <a:cs typeface="Courier New" pitchFamily="34" charset="-120"/>
              </a:rPr>
              <a:t>)</a:t>
            </a:r>
            <a:endParaRPr lang="en-US" sz="1050" dirty="0"/>
          </a:p>
          <a:p>
            <a:pPr marL="0" indent="0">
              <a:lnSpc>
                <a:spcPct val="115000"/>
              </a:lnSpc>
              <a:buNone/>
            </a:pPr>
            <a:r>
              <a:rPr lang="en-US" sz="1050" dirty="0">
                <a:solidFill>
                  <a:srgbClr val="E6EDF3"/>
                </a:solidFill>
                <a:latin typeface="Courier New" pitchFamily="34" charset="0"/>
                <a:ea typeface="Courier New" pitchFamily="34" charset="-122"/>
                <a:cs typeface="Courier New" pitchFamily="34" charset="-120"/>
              </a:rPr>
              <a:t>  .where(</a:t>
            </a:r>
            <a:r>
              <a:rPr lang="en-US" sz="1050" dirty="0">
                <a:solidFill>
                  <a:srgbClr val="3DDC84"/>
                </a:solidFill>
                <a:latin typeface="Courier New" pitchFamily="34" charset="0"/>
                <a:ea typeface="Courier New" pitchFamily="34" charset="-122"/>
                <a:cs typeface="Courier New" pitchFamily="34" charset="-120"/>
              </a:rPr>
              <a:t>"title LIKE :q"</a:t>
            </a:r>
            <a:r>
              <a:rPr lang="en-US" sz="1050" dirty="0">
                <a:solidFill>
                  <a:srgbClr val="E6EDF3"/>
                </a:solidFill>
                <a:latin typeface="Courier New" pitchFamily="34" charset="0"/>
                <a:ea typeface="Courier New" pitchFamily="34" charset="-122"/>
                <a:cs typeface="Courier New" pitchFamily="34" charset="-120"/>
              </a:rPr>
              <a:t>, {q: </a:t>
            </a:r>
            <a:r>
              <a:rPr lang="en-US" sz="1050" dirty="0">
                <a:solidFill>
                  <a:srgbClr val="3DDC84"/>
                </a:solidFill>
                <a:latin typeface="Courier New" pitchFamily="34" charset="0"/>
                <a:ea typeface="Courier New" pitchFamily="34" charset="-122"/>
                <a:cs typeface="Courier New" pitchFamily="34" charset="-120"/>
              </a:rPr>
              <a:t>"%wheels%"</a:t>
            </a:r>
            <a:r>
              <a:rPr lang="en-US" sz="1050" dirty="0">
                <a:solidFill>
                  <a:srgbClr val="E6EDF3"/>
                </a:solidFill>
                <a:latin typeface="Courier New" pitchFamily="34" charset="0"/>
                <a:ea typeface="Courier New" pitchFamily="34" charset="-122"/>
                <a:cs typeface="Courier New" pitchFamily="34" charset="-120"/>
              </a:rPr>
              <a:t>})</a:t>
            </a:r>
            <a:endParaRPr lang="en-US" sz="1050" dirty="0"/>
          </a:p>
          <a:p>
            <a:pPr marL="0" indent="0">
              <a:lnSpc>
                <a:spcPct val="115000"/>
              </a:lnSpc>
              <a:buNone/>
            </a:pPr>
            <a:r>
              <a:rPr lang="en-US" sz="1050" dirty="0">
                <a:solidFill>
                  <a:srgbClr val="E6EDF3"/>
                </a:solidFill>
                <a:latin typeface="Courier New" pitchFamily="34" charset="0"/>
                <a:ea typeface="Courier New" pitchFamily="34" charset="-122"/>
                <a:cs typeface="Courier New" pitchFamily="34" charset="-120"/>
              </a:rPr>
              <a:t>  .orderBy(</a:t>
            </a:r>
            <a:r>
              <a:rPr lang="en-US" sz="1050" dirty="0">
                <a:solidFill>
                  <a:srgbClr val="3DDC84"/>
                </a:solidFill>
                <a:latin typeface="Courier New" pitchFamily="34" charset="0"/>
                <a:ea typeface="Courier New" pitchFamily="34" charset="-122"/>
                <a:cs typeface="Courier New" pitchFamily="34" charset="-120"/>
              </a:rPr>
              <a:t>"publishedAt DESC"</a:t>
            </a:r>
            <a:r>
              <a:rPr lang="en-US" sz="1050" dirty="0">
                <a:solidFill>
                  <a:srgbClr val="E6EDF3"/>
                </a:solidFill>
                <a:latin typeface="Courier New" pitchFamily="34" charset="0"/>
                <a:ea typeface="Courier New" pitchFamily="34" charset="-122"/>
                <a:cs typeface="Courier New" pitchFamily="34" charset="-120"/>
              </a:rPr>
              <a:t>).limit(10).get();</a:t>
            </a:r>
            <a:endParaRPr lang="en-US" sz="1050" dirty="0"/>
          </a:p>
          <a:p>
            <a:pPr marL="0" indent="0">
              <a:lnSpc>
                <a:spcPct val="115000"/>
              </a:lnSpc>
              <a:buNone/>
            </a:pPr>
            <a:endParaRPr lang="en-US" sz="1050" dirty="0"/>
          </a:p>
          <a:p>
            <a:pPr marL="0" indent="0">
              <a:lnSpc>
                <a:spcPct val="115000"/>
              </a:lnSpc>
              <a:buNone/>
            </a:pPr>
            <a:r>
              <a:rPr lang="en-US" sz="1050" dirty="0">
                <a:solidFill>
                  <a:srgbClr val="9AA7B4"/>
                </a:solidFill>
                <a:latin typeface="Courier New" pitchFamily="34" charset="0"/>
                <a:ea typeface="Courier New" pitchFamily="34" charset="-122"/>
                <a:cs typeface="Courier New" pitchFamily="34" charset="-120"/>
              </a:rPr>
              <a:t>// write path</a:t>
            </a:r>
            <a:endParaRPr lang="en-US" sz="1050" dirty="0"/>
          </a:p>
          <a:p>
            <a:pPr marL="0" indent="0">
              <a:lnSpc>
                <a:spcPct val="115000"/>
              </a:lnSpc>
              <a:buNone/>
            </a:pPr>
            <a:r>
              <a:rPr lang="en-US" sz="1050" dirty="0">
                <a:solidFill>
                  <a:srgbClr val="E6EDF3"/>
                </a:solidFill>
                <a:latin typeface="Courier New" pitchFamily="34" charset="0"/>
                <a:ea typeface="Courier New" pitchFamily="34" charset="-122"/>
                <a:cs typeface="Courier New" pitchFamily="34" charset="-120"/>
              </a:rPr>
              <a:t>post = model(</a:t>
            </a:r>
            <a:r>
              <a:rPr lang="en-US" sz="1050" dirty="0">
                <a:solidFill>
                  <a:srgbClr val="3DDC84"/>
                </a:solidFill>
                <a:latin typeface="Courier New" pitchFamily="34" charset="0"/>
                <a:ea typeface="Courier New" pitchFamily="34" charset="-122"/>
                <a:cs typeface="Courier New" pitchFamily="34" charset="-120"/>
              </a:rPr>
              <a:t>"Post"</a:t>
            </a:r>
            <a:r>
              <a:rPr lang="en-US" sz="1050" dirty="0">
                <a:solidFill>
                  <a:srgbClr val="E6EDF3"/>
                </a:solidFill>
                <a:latin typeface="Courier New" pitchFamily="34" charset="0"/>
                <a:ea typeface="Courier New" pitchFamily="34" charset="-122"/>
                <a:cs typeface="Courier New" pitchFamily="34" charset="-120"/>
              </a:rPr>
              <a:t>).new(params.post);</a:t>
            </a:r>
            <a:endParaRPr lang="en-US" sz="1050" dirty="0"/>
          </a:p>
          <a:p>
            <a:pPr marL="0" indent="0">
              <a:lnSpc>
                <a:spcPct val="115000"/>
              </a:lnSpc>
              <a:buNone/>
            </a:pPr>
            <a:r>
              <a:rPr lang="en-US" sz="1050" dirty="0">
                <a:solidFill>
                  <a:srgbClr val="EF3B2D"/>
                </a:solidFill>
                <a:latin typeface="Courier New" pitchFamily="34" charset="0"/>
                <a:ea typeface="Courier New" pitchFamily="34" charset="-122"/>
                <a:cs typeface="Courier New" pitchFamily="34" charset="-120"/>
              </a:rPr>
              <a:t>if</a:t>
            </a:r>
            <a:r>
              <a:rPr lang="en-US" sz="1050" dirty="0">
                <a:solidFill>
                  <a:srgbClr val="E6EDF3"/>
                </a:solidFill>
                <a:latin typeface="Courier New" pitchFamily="34" charset="0"/>
                <a:ea typeface="Courier New" pitchFamily="34" charset="-122"/>
                <a:cs typeface="Courier New" pitchFamily="34" charset="-120"/>
              </a:rPr>
              <a:t> (post.save()) redirectTo(route=</a:t>
            </a:r>
            <a:r>
              <a:rPr lang="en-US" sz="1050" dirty="0">
                <a:solidFill>
                  <a:srgbClr val="3DDC84"/>
                </a:solidFill>
                <a:latin typeface="Courier New" pitchFamily="34" charset="0"/>
                <a:ea typeface="Courier New" pitchFamily="34" charset="-122"/>
                <a:cs typeface="Courier New" pitchFamily="34" charset="-120"/>
              </a:rPr>
              <a:t>"post"</a:t>
            </a:r>
            <a:r>
              <a:rPr lang="en-US" sz="1050" dirty="0">
                <a:solidFill>
                  <a:srgbClr val="E6EDF3"/>
                </a:solidFill>
                <a:latin typeface="Courier New" pitchFamily="34" charset="0"/>
                <a:ea typeface="Courier New" pitchFamily="34" charset="-122"/>
                <a:cs typeface="Courier New" pitchFamily="34" charset="-120"/>
              </a:rPr>
              <a:t>, key=post.id);</a:t>
            </a:r>
            <a:endParaRPr lang="en-US" sz="1050" dirty="0"/>
          </a:p>
          <a:p>
            <a:pPr marL="0" indent="0">
              <a:lnSpc>
                <a:spcPct val="115000"/>
              </a:lnSpc>
              <a:buNone/>
            </a:pPr>
            <a:r>
              <a:rPr lang="en-US" sz="1050" dirty="0">
                <a:solidFill>
                  <a:srgbClr val="EF3B2D"/>
                </a:solidFill>
                <a:latin typeface="Courier New" pitchFamily="34" charset="0"/>
                <a:ea typeface="Courier New" pitchFamily="34" charset="-122"/>
                <a:cs typeface="Courier New" pitchFamily="34" charset="-120"/>
              </a:rPr>
              <a:t>else</a:t>
            </a:r>
            <a:r>
              <a:rPr lang="en-US" sz="1050" dirty="0">
                <a:solidFill>
                  <a:srgbClr val="E6EDF3"/>
                </a:solidFill>
                <a:latin typeface="Courier New" pitchFamily="34" charset="0"/>
                <a:ea typeface="Courier New" pitchFamily="34" charset="-122"/>
                <a:cs typeface="Courier New" pitchFamily="34" charset="-120"/>
              </a:rPr>
              <a:t>  renderView(</a:t>
            </a:r>
            <a:r>
              <a:rPr lang="en-US" sz="1050" dirty="0">
                <a:solidFill>
                  <a:srgbClr val="3DDC84"/>
                </a:solidFill>
                <a:latin typeface="Courier New" pitchFamily="34" charset="0"/>
                <a:ea typeface="Courier New" pitchFamily="34" charset="-122"/>
                <a:cs typeface="Courier New" pitchFamily="34" charset="-120"/>
              </a:rPr>
              <a:t>"new"</a:t>
            </a:r>
            <a:r>
              <a:rPr lang="en-US" sz="1050" dirty="0">
                <a:solidFill>
                  <a:srgbClr val="E6EDF3"/>
                </a:solidFill>
                <a:latin typeface="Courier New" pitchFamily="34" charset="0"/>
                <a:ea typeface="Courier New" pitchFamily="34" charset="-122"/>
                <a:cs typeface="Courier New" pitchFamily="34" charset="-120"/>
              </a:rPr>
              <a:t>);  </a:t>
            </a:r>
            <a:r>
              <a:rPr lang="en-US" sz="1050" dirty="0">
                <a:solidFill>
                  <a:srgbClr val="9AA7B4"/>
                </a:solidFill>
                <a:latin typeface="Courier New" pitchFamily="34" charset="0"/>
                <a:ea typeface="Courier New" pitchFamily="34" charset="-122"/>
                <a:cs typeface="Courier New" pitchFamily="34" charset="-120"/>
              </a:rPr>
              <a:t>// errors ride along</a:t>
            </a:r>
            <a:endParaRPr lang="en-US" sz="1050" dirty="0"/>
          </a:p>
        </p:txBody>
      </p:sp>
      <p:sp>
        <p:nvSpPr>
          <p:cNvPr id="12" name="Text 9"/>
          <p:cNvSpPr txBox="1"/>
          <p:nvPr/>
        </p:nvSpPr>
        <p:spPr>
          <a:xfrm>
            <a:off x="5852160" y="1188720"/>
            <a:ext cx="2834640" cy="274320"/>
          </a:xfrm>
          <a:prstGeom prst="rect">
            <a:avLst/>
          </a:prstGeom>
          <a:noFill/>
          <a:ln/>
        </p:spPr>
        <p:txBody>
          <a:bodyPr wrap="square" lIns="0" tIns="0" rIns="0" bIns="0" rtlCol="0" anchor="ctr"/>
          <a:lstStyle/>
          <a:p>
            <a:pPr marL="0" indent="0">
              <a:buNone/>
            </a:pPr>
            <a:r>
              <a:rPr lang="en-US" sz="1350" b="1" dirty="0">
                <a:solidFill>
                  <a:srgbClr val="1A2430"/>
                </a:solidFill>
                <a:latin typeface="Calibri" pitchFamily="34" charset="0"/>
                <a:ea typeface="Calibri" pitchFamily="34" charset="-122"/>
                <a:cs typeface="Calibri" pitchFamily="34" charset="-120"/>
              </a:rPr>
              <a:t>Every value is a cfqueryparam</a:t>
            </a:r>
            <a:endParaRPr lang="en-US" sz="1350" dirty="0"/>
          </a:p>
        </p:txBody>
      </p:sp>
      <p:sp>
        <p:nvSpPr>
          <p:cNvPr id="13" name="Text 10"/>
          <p:cNvSpPr txBox="1"/>
          <p:nvPr/>
        </p:nvSpPr>
        <p:spPr>
          <a:xfrm>
            <a:off x="5852160" y="1463040"/>
            <a:ext cx="2834640" cy="502920"/>
          </a:xfrm>
          <a:prstGeom prst="rect">
            <a:avLst/>
          </a:prstGeom>
          <a:noFill/>
          <a:ln/>
        </p:spPr>
        <p:txBody>
          <a:bodyPr wrap="square" lIns="0" tIns="0" rIns="0" bIns="0" rtlCol="0" anchor="t"/>
          <a:lstStyle/>
          <a:p>
            <a:pPr marL="0" indent="0">
              <a:buNone/>
            </a:pPr>
            <a:r>
              <a:rPr lang="en-US" sz="1100" dirty="0">
                <a:solidFill>
                  <a:srgbClr val="6B7785"/>
                </a:solidFill>
                <a:latin typeface="Calibri" pitchFamily="34" charset="0"/>
                <a:ea typeface="Calibri" pitchFamily="34" charset="-122"/>
                <a:cs typeface="Calibri" pitchFamily="34" charset="-120"/>
              </a:rPr>
              <a:t>You cannot accidentally write a SQL injection with the finder API.</a:t>
            </a:r>
            <a:endParaRPr lang="en-US" sz="1100" dirty="0"/>
          </a:p>
        </p:txBody>
      </p:sp>
      <p:sp>
        <p:nvSpPr>
          <p:cNvPr id="14" name="Text 11"/>
          <p:cNvSpPr txBox="1"/>
          <p:nvPr/>
        </p:nvSpPr>
        <p:spPr>
          <a:xfrm>
            <a:off x="5852160" y="2039112"/>
            <a:ext cx="2834640" cy="274320"/>
          </a:xfrm>
          <a:prstGeom prst="rect">
            <a:avLst/>
          </a:prstGeom>
          <a:noFill/>
          <a:ln/>
        </p:spPr>
        <p:txBody>
          <a:bodyPr wrap="square" lIns="0" tIns="0" rIns="0" bIns="0" rtlCol="0" anchor="ctr"/>
          <a:lstStyle/>
          <a:p>
            <a:pPr marL="0" indent="0">
              <a:buNone/>
            </a:pPr>
            <a:r>
              <a:rPr lang="en-US" sz="1350" b="1" dirty="0">
                <a:solidFill>
                  <a:srgbClr val="1A2430"/>
                </a:solidFill>
                <a:latin typeface="Calibri" pitchFamily="34" charset="0"/>
                <a:ea typeface="Calibri" pitchFamily="34" charset="-122"/>
                <a:cs typeface="Calibri" pitchFamily="34" charset="-120"/>
              </a:rPr>
              <a:t>Associations</a:t>
            </a:r>
            <a:endParaRPr lang="en-US" sz="1350" dirty="0"/>
          </a:p>
        </p:txBody>
      </p:sp>
      <p:sp>
        <p:nvSpPr>
          <p:cNvPr id="15" name="Text 12"/>
          <p:cNvSpPr txBox="1"/>
          <p:nvPr/>
        </p:nvSpPr>
        <p:spPr>
          <a:xfrm>
            <a:off x="5852160" y="2313432"/>
            <a:ext cx="2834640" cy="502920"/>
          </a:xfrm>
          <a:prstGeom prst="rect">
            <a:avLst/>
          </a:prstGeom>
          <a:noFill/>
          <a:ln/>
        </p:spPr>
        <p:txBody>
          <a:bodyPr wrap="square" lIns="0" tIns="0" rIns="0" bIns="0" rtlCol="0" anchor="t"/>
          <a:lstStyle/>
          <a:p>
            <a:pPr marL="0" indent="0">
              <a:buNone/>
            </a:pPr>
            <a:r>
              <a:rPr lang="en-US" sz="1100" dirty="0">
                <a:solidFill>
                  <a:srgbClr val="6B7785"/>
                </a:solidFill>
                <a:latin typeface="Calibri" pitchFamily="34" charset="0"/>
                <a:ea typeface="Calibri" pitchFamily="34" charset="-122"/>
                <a:cs typeface="Calibri" pitchFamily="34" charset="-120"/>
              </a:rPr>
              <a:t>hasMany · belongsTo · hasOne, eager-loaded with include=</a:t>
            </a:r>
            <a:endParaRPr lang="en-US" sz="1100" dirty="0"/>
          </a:p>
        </p:txBody>
      </p:sp>
      <p:sp>
        <p:nvSpPr>
          <p:cNvPr id="16" name="Text 13"/>
          <p:cNvSpPr txBox="1"/>
          <p:nvPr/>
        </p:nvSpPr>
        <p:spPr>
          <a:xfrm>
            <a:off x="5852160" y="2889504"/>
            <a:ext cx="2834640" cy="274320"/>
          </a:xfrm>
          <a:prstGeom prst="rect">
            <a:avLst/>
          </a:prstGeom>
          <a:noFill/>
          <a:ln/>
        </p:spPr>
        <p:txBody>
          <a:bodyPr wrap="square" lIns="0" tIns="0" rIns="0" bIns="0" rtlCol="0" anchor="ctr"/>
          <a:lstStyle/>
          <a:p>
            <a:pPr marL="0" indent="0">
              <a:buNone/>
            </a:pPr>
            <a:r>
              <a:rPr lang="en-US" sz="1350" b="1" dirty="0">
                <a:solidFill>
                  <a:srgbClr val="1A2430"/>
                </a:solidFill>
                <a:latin typeface="Calibri" pitchFamily="34" charset="0"/>
                <a:ea typeface="Calibri" pitchFamily="34" charset="-122"/>
                <a:cs typeface="Calibri" pitchFamily="34" charset="-120"/>
              </a:rPr>
              <a:t>Validations &amp; callbacks</a:t>
            </a:r>
            <a:endParaRPr lang="en-US" sz="1350" dirty="0"/>
          </a:p>
        </p:txBody>
      </p:sp>
      <p:sp>
        <p:nvSpPr>
          <p:cNvPr id="17" name="Text 14"/>
          <p:cNvSpPr txBox="1"/>
          <p:nvPr/>
        </p:nvSpPr>
        <p:spPr>
          <a:xfrm>
            <a:off x="5852160" y="3163824"/>
            <a:ext cx="2834640" cy="502920"/>
          </a:xfrm>
          <a:prstGeom prst="rect">
            <a:avLst/>
          </a:prstGeom>
          <a:noFill/>
          <a:ln/>
        </p:spPr>
        <p:txBody>
          <a:bodyPr wrap="square" lIns="0" tIns="0" rIns="0" bIns="0" rtlCol="0" anchor="t"/>
          <a:lstStyle/>
          <a:p>
            <a:pPr marL="0" indent="0">
              <a:buNone/>
            </a:pPr>
            <a:r>
              <a:rPr lang="en-US" sz="1100" dirty="0">
                <a:solidFill>
                  <a:srgbClr val="6B7785"/>
                </a:solidFill>
                <a:latin typeface="Calibri" pitchFamily="34" charset="0"/>
                <a:ea typeface="Calibri" pitchFamily="34" charset="-122"/>
                <a:cs typeface="Calibri" pitchFamily="34" charset="-120"/>
              </a:rPr>
              <a:t>validatesPresenceOf, validatesUniquenessOf, beforeSave…</a:t>
            </a:r>
            <a:endParaRPr lang="en-US" sz="1100" dirty="0"/>
          </a:p>
        </p:txBody>
      </p:sp>
      <p:sp>
        <p:nvSpPr>
          <p:cNvPr id="18" name="Text 15"/>
          <p:cNvSpPr txBox="1"/>
          <p:nvPr/>
        </p:nvSpPr>
        <p:spPr>
          <a:xfrm>
            <a:off x="5852160" y="3739896"/>
            <a:ext cx="2834640" cy="274320"/>
          </a:xfrm>
          <a:prstGeom prst="rect">
            <a:avLst/>
          </a:prstGeom>
          <a:noFill/>
          <a:ln/>
        </p:spPr>
        <p:txBody>
          <a:bodyPr wrap="square" lIns="0" tIns="0" rIns="0" bIns="0" rtlCol="0" anchor="ctr"/>
          <a:lstStyle/>
          <a:p>
            <a:pPr marL="0" indent="0">
              <a:buNone/>
            </a:pPr>
            <a:r>
              <a:rPr lang="en-US" sz="1350" b="1" dirty="0">
                <a:solidFill>
                  <a:srgbClr val="1A2430"/>
                </a:solidFill>
                <a:latin typeface="Calibri" pitchFamily="34" charset="0"/>
                <a:ea typeface="Calibri" pitchFamily="34" charset="-122"/>
                <a:cs typeface="Calibri" pitchFamily="34" charset="-120"/>
              </a:rPr>
              <a:t>Migrations</a:t>
            </a:r>
            <a:endParaRPr lang="en-US" sz="1350" dirty="0"/>
          </a:p>
        </p:txBody>
      </p:sp>
      <p:sp>
        <p:nvSpPr>
          <p:cNvPr id="19" name="Text 16"/>
          <p:cNvSpPr txBox="1"/>
          <p:nvPr/>
        </p:nvSpPr>
        <p:spPr>
          <a:xfrm>
            <a:off x="5852160" y="4014216"/>
            <a:ext cx="2834640" cy="502920"/>
          </a:xfrm>
          <a:prstGeom prst="rect">
            <a:avLst/>
          </a:prstGeom>
          <a:noFill/>
          <a:ln/>
        </p:spPr>
        <p:txBody>
          <a:bodyPr wrap="square" lIns="0" tIns="0" rIns="0" bIns="0" rtlCol="0" anchor="t"/>
          <a:lstStyle/>
          <a:p>
            <a:pPr marL="0" indent="0">
              <a:buNone/>
            </a:pPr>
            <a:r>
              <a:rPr lang="en-US" sz="1100" dirty="0">
                <a:solidFill>
                  <a:srgbClr val="6B7785"/>
                </a:solidFill>
                <a:latin typeface="Calibri" pitchFamily="34" charset="0"/>
                <a:ea typeface="Calibri" pitchFamily="34" charset="-122"/>
                <a:cs typeface="Calibri" pitchFamily="34" charset="-120"/>
              </a:rPr>
              <a:t>wheels migrate latest — same schema on SQLite locally, SQL Server in prod</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pic>
        <p:nvPicPr>
          <p:cNvPr id="2" name="Image 0" descr="/home/claude/deck/assets/mark-t.png"/>
          <p:cNvPicPr>
            <a:picLocks noChangeAspect="1"/>
          </p:cNvPicPr>
          <p:nvPr/>
        </p:nvPicPr>
        <p:blipFill>
          <a:blip r:embed="rId3"/>
          <a:stretch>
            <a:fillRect/>
          </a:stretch>
        </p:blipFill>
        <p:spPr>
          <a:xfrm>
            <a:off x="8092440" y="384048"/>
            <a:ext cx="594360" cy="365760"/>
          </a:xfrm>
          <a:prstGeom prst="rect">
            <a:avLst/>
          </a:prstGeom>
        </p:spPr>
      </p:pic>
      <p:sp>
        <p:nvSpPr>
          <p:cNvPr id="3" name="Text 0"/>
          <p:cNvSpPr txBox="1"/>
          <p:nvPr/>
        </p:nvSpPr>
        <p:spPr>
          <a:xfrm>
            <a:off x="457200" y="320040"/>
            <a:ext cx="7498080" cy="640080"/>
          </a:xfrm>
          <a:prstGeom prst="rect">
            <a:avLst/>
          </a:prstGeom>
          <a:noFill/>
          <a:ln/>
        </p:spPr>
        <p:txBody>
          <a:bodyPr wrap="square" lIns="0" tIns="0" rIns="0" bIns="0" rtlCol="0" anchor="ctr"/>
          <a:lstStyle/>
          <a:p>
            <a:pPr marL="0" indent="0">
              <a:buNone/>
            </a:pPr>
            <a:r>
              <a:rPr lang="en-US" sz="3000" b="1" dirty="0">
                <a:solidFill>
                  <a:srgbClr val="1A2430"/>
                </a:solidFill>
                <a:latin typeface="Calibri" pitchFamily="34" charset="0"/>
                <a:ea typeface="Calibri" pitchFamily="34" charset="-122"/>
                <a:cs typeface="Calibri" pitchFamily="34" charset="-120"/>
              </a:rPr>
              <a:t>The CLI: one binary, no CommandBox</a:t>
            </a:r>
            <a:endParaRPr lang="en-US" sz="3000" dirty="0"/>
          </a:p>
        </p:txBody>
      </p:sp>
      <p:sp>
        <p:nvSpPr>
          <p:cNvPr id="4" name="Text 1"/>
          <p:cNvSpPr txBox="1"/>
          <p:nvPr/>
        </p:nvSpPr>
        <p:spPr>
          <a:xfrm>
            <a:off x="457200" y="109728"/>
            <a:ext cx="5486400" cy="228600"/>
          </a:xfrm>
          <a:prstGeom prst="rect">
            <a:avLst/>
          </a:prstGeom>
          <a:noFill/>
          <a:ln/>
        </p:spPr>
        <p:txBody>
          <a:bodyPr wrap="square" lIns="0" tIns="0" rIns="0" bIns="0" rtlCol="0" anchor="ctr"/>
          <a:lstStyle/>
          <a:p>
            <a:pPr marL="0" indent="0">
              <a:buNone/>
            </a:pPr>
            <a:r>
              <a:rPr lang="en-US" sz="1000" b="1" kern="0" spc="200" dirty="0">
                <a:solidFill>
                  <a:srgbClr val="EF3B2D"/>
                </a:solidFill>
                <a:latin typeface="Calibri" pitchFamily="34" charset="0"/>
                <a:ea typeface="Calibri" pitchFamily="34" charset="-122"/>
                <a:cs typeface="Calibri" pitchFamily="34" charset="-120"/>
              </a:rPr>
              <a:t>NEW IN 4.0</a:t>
            </a:r>
            <a:endParaRPr lang="en-US" sz="1000" dirty="0"/>
          </a:p>
        </p:txBody>
      </p:sp>
      <p:sp>
        <p:nvSpPr>
          <p:cNvPr id="5" name="Text 2"/>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6B7785"/>
                </a:solidFill>
                <a:latin typeface="Calibri" pitchFamily="34" charset="0"/>
                <a:ea typeface="Calibri" pitchFamily="34" charset="-122"/>
                <a:cs typeface="Calibri" pitchFamily="34" charset="-120"/>
              </a:rPr>
              <a:t>wheels.dev   ·   Mid-Michigan CFUG · Sept 15, 2026</a:t>
            </a:r>
            <a:endParaRPr lang="en-US" sz="9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6B7785"/>
                </a:solidFill>
                <a:latin typeface="Calibri" pitchFamily="34" charset="0"/>
                <a:ea typeface="Calibri" pitchFamily="34" charset="-122"/>
                <a:cs typeface="Calibri" pitchFamily="34" charset="-120"/>
              </a:rPr>
              <a:t>11</a:t>
            </a:r>
            <a:endParaRPr lang="en-US" sz="900" dirty="0"/>
          </a:p>
        </p:txBody>
      </p:sp>
      <p:sp>
        <p:nvSpPr>
          <p:cNvPr id="7" name="Shape 4"/>
          <p:cNvSpPr/>
          <p:nvPr/>
        </p:nvSpPr>
        <p:spPr>
          <a:xfrm>
            <a:off x="457200" y="1188720"/>
            <a:ext cx="4206240" cy="1764792"/>
          </a:xfrm>
          <a:prstGeom prst="roundRect">
            <a:avLst>
              <a:gd name="adj" fmla="val 4706"/>
            </a:avLst>
          </a:prstGeom>
          <a:solidFill>
            <a:srgbClr val="16232F"/>
          </a:solidFill>
          <a:ln w="12700">
            <a:solidFill>
              <a:srgbClr val="16232F"/>
            </a:solidFill>
            <a:prstDash val="solid"/>
          </a:ln>
        </p:spPr>
        <p:txBody>
          <a:bodyPr/>
          <a:lstStyle/>
          <a:p>
            <a:endParaRPr lang="en-US"/>
          </a:p>
        </p:txBody>
      </p:sp>
      <p:sp>
        <p:nvSpPr>
          <p:cNvPr id="8" name="Shape 5"/>
          <p:cNvSpPr/>
          <p:nvPr/>
        </p:nvSpPr>
        <p:spPr>
          <a:xfrm>
            <a:off x="594360" y="1307592"/>
            <a:ext cx="91440" cy="91440"/>
          </a:xfrm>
          <a:prstGeom prst="ellipse">
            <a:avLst/>
          </a:prstGeom>
          <a:solidFill>
            <a:srgbClr val="EF3B2D"/>
          </a:solidFill>
          <a:ln w="12700">
            <a:solidFill>
              <a:srgbClr val="EF3B2D"/>
            </a:solidFill>
            <a:prstDash val="solid"/>
          </a:ln>
        </p:spPr>
        <p:txBody>
          <a:bodyPr/>
          <a:lstStyle/>
          <a:p>
            <a:endParaRPr lang="en-US"/>
          </a:p>
        </p:txBody>
      </p:sp>
      <p:sp>
        <p:nvSpPr>
          <p:cNvPr id="9" name="Shape 6"/>
          <p:cNvSpPr/>
          <p:nvPr/>
        </p:nvSpPr>
        <p:spPr>
          <a:xfrm>
            <a:off x="758952" y="1307592"/>
            <a:ext cx="91440" cy="91440"/>
          </a:xfrm>
          <a:prstGeom prst="ellipse">
            <a:avLst/>
          </a:prstGeom>
          <a:solidFill>
            <a:srgbClr val="F5B62E"/>
          </a:solidFill>
          <a:ln w="12700">
            <a:solidFill>
              <a:srgbClr val="F5B62E"/>
            </a:solidFill>
            <a:prstDash val="solid"/>
          </a:ln>
        </p:spPr>
        <p:txBody>
          <a:bodyPr/>
          <a:lstStyle/>
          <a:p>
            <a:endParaRPr lang="en-US"/>
          </a:p>
        </p:txBody>
      </p:sp>
      <p:sp>
        <p:nvSpPr>
          <p:cNvPr id="10" name="Shape 7"/>
          <p:cNvSpPr/>
          <p:nvPr/>
        </p:nvSpPr>
        <p:spPr>
          <a:xfrm>
            <a:off x="923544" y="1307592"/>
            <a:ext cx="91440" cy="91440"/>
          </a:xfrm>
          <a:prstGeom prst="ellipse">
            <a:avLst/>
          </a:prstGeom>
          <a:solidFill>
            <a:srgbClr val="3DDC84"/>
          </a:solidFill>
          <a:ln w="12700">
            <a:solidFill>
              <a:srgbClr val="3DDC84"/>
            </a:solidFill>
            <a:prstDash val="solid"/>
          </a:ln>
        </p:spPr>
        <p:txBody>
          <a:bodyPr/>
          <a:lstStyle/>
          <a:p>
            <a:endParaRPr lang="en-US"/>
          </a:p>
        </p:txBody>
      </p:sp>
      <p:sp>
        <p:nvSpPr>
          <p:cNvPr id="11" name="Text 8"/>
          <p:cNvSpPr txBox="1"/>
          <p:nvPr/>
        </p:nvSpPr>
        <p:spPr>
          <a:xfrm>
            <a:off x="640080" y="1508760"/>
            <a:ext cx="3840480" cy="1408176"/>
          </a:xfrm>
          <a:prstGeom prst="rect">
            <a:avLst/>
          </a:prstGeom>
          <a:noFill/>
          <a:ln/>
        </p:spPr>
        <p:txBody>
          <a:bodyPr wrap="square" lIns="0" tIns="0" rIns="0" bIns="0" rtlCol="0" anchor="t"/>
          <a:lstStyle/>
          <a:p>
            <a:pPr marL="0" indent="0">
              <a:lnSpc>
                <a:spcPct val="115000"/>
              </a:lnSpc>
              <a:buNone/>
            </a:pPr>
            <a:r>
              <a:rPr lang="en-US" sz="1150" dirty="0">
                <a:solidFill>
                  <a:srgbClr val="EF3B2D"/>
                </a:solidFill>
                <a:latin typeface="Courier New" pitchFamily="34" charset="0"/>
                <a:ea typeface="Courier New" pitchFamily="34" charset="-122"/>
                <a:cs typeface="Courier New" pitchFamily="34" charset="-120"/>
              </a:rPr>
              <a:t>$ </a:t>
            </a:r>
            <a:r>
              <a:rPr lang="en-US" sz="1150" dirty="0">
                <a:solidFill>
                  <a:srgbClr val="E6EDF3"/>
                </a:solidFill>
                <a:latin typeface="Courier New" pitchFamily="34" charset="0"/>
                <a:ea typeface="Courier New" pitchFamily="34" charset="-122"/>
                <a:cs typeface="Courier New" pitchFamily="34" charset="-120"/>
              </a:rPr>
              <a:t>brew tap wheels-dev/wheels</a:t>
            </a:r>
            <a:endParaRPr lang="en-US" sz="1150" dirty="0"/>
          </a:p>
          <a:p>
            <a:pPr marL="0" indent="0">
              <a:lnSpc>
                <a:spcPct val="115000"/>
              </a:lnSpc>
              <a:buNone/>
            </a:pPr>
            <a:r>
              <a:rPr lang="en-US" sz="1150" dirty="0">
                <a:solidFill>
                  <a:srgbClr val="EF3B2D"/>
                </a:solidFill>
                <a:latin typeface="Courier New" pitchFamily="34" charset="0"/>
                <a:ea typeface="Courier New" pitchFamily="34" charset="-122"/>
                <a:cs typeface="Courier New" pitchFamily="34" charset="-120"/>
              </a:rPr>
              <a:t>$ </a:t>
            </a:r>
            <a:r>
              <a:rPr lang="en-US" sz="1150" dirty="0">
                <a:solidFill>
                  <a:srgbClr val="E6EDF3"/>
                </a:solidFill>
                <a:latin typeface="Courier New" pitchFamily="34" charset="0"/>
                <a:ea typeface="Courier New" pitchFamily="34" charset="-122"/>
                <a:cs typeface="Courier New" pitchFamily="34" charset="-120"/>
              </a:rPr>
              <a:t>brew install wheels        </a:t>
            </a:r>
            <a:endParaRPr lang="en-US" sz="1150" dirty="0"/>
          </a:p>
          <a:p>
            <a:pPr>
              <a:lnSpc>
                <a:spcPct val="115000"/>
              </a:lnSpc>
            </a:pPr>
            <a:r>
              <a:rPr lang="en-US" sz="1150" dirty="0">
                <a:solidFill>
                  <a:srgbClr val="9AA7B4"/>
                </a:solidFill>
                <a:latin typeface="Courier New" pitchFamily="34" charset="0"/>
                <a:ea typeface="Courier New" pitchFamily="34" charset="-122"/>
                <a:cs typeface="Courier New" pitchFamily="34" charset="-120"/>
              </a:rPr>
              <a:t># brew install wheels-be</a:t>
            </a:r>
            <a:endParaRPr lang="en-US" sz="1150" dirty="0"/>
          </a:p>
          <a:p>
            <a:pPr>
              <a:lnSpc>
                <a:spcPct val="115000"/>
              </a:lnSpc>
            </a:pPr>
            <a:r>
              <a:rPr lang="en-US" sz="1150" dirty="0">
                <a:solidFill>
                  <a:srgbClr val="9AA7B4"/>
                </a:solidFill>
                <a:latin typeface="Courier New" pitchFamily="34" charset="0"/>
                <a:ea typeface="Courier New" pitchFamily="34" charset="-122"/>
                <a:cs typeface="Courier New" pitchFamily="34" charset="-120"/>
              </a:rPr>
              <a:t># or scoop on Windows</a:t>
            </a:r>
            <a:endParaRPr lang="en-US" sz="1150" dirty="0"/>
          </a:p>
          <a:p>
            <a:pPr marL="0" indent="0">
              <a:lnSpc>
                <a:spcPct val="115000"/>
              </a:lnSpc>
              <a:buNone/>
            </a:pPr>
            <a:r>
              <a:rPr lang="en-US" sz="1150" dirty="0">
                <a:solidFill>
                  <a:srgbClr val="EF3B2D"/>
                </a:solidFill>
                <a:latin typeface="Courier New" pitchFamily="34" charset="0"/>
                <a:ea typeface="Courier New" pitchFamily="34" charset="-122"/>
                <a:cs typeface="Courier New" pitchFamily="34" charset="-120"/>
              </a:rPr>
              <a:t>$ </a:t>
            </a:r>
            <a:r>
              <a:rPr lang="en-US" sz="1150" dirty="0">
                <a:solidFill>
                  <a:srgbClr val="E6EDF3"/>
                </a:solidFill>
                <a:latin typeface="Courier New" pitchFamily="34" charset="0"/>
                <a:ea typeface="Courier New" pitchFamily="34" charset="-122"/>
                <a:cs typeface="Courier New" pitchFamily="34" charset="-120"/>
              </a:rPr>
              <a:t>wheels new myapp &amp;&amp; cd myapp</a:t>
            </a:r>
            <a:endParaRPr lang="en-US" sz="1150" dirty="0"/>
          </a:p>
          <a:p>
            <a:pPr marL="0" indent="0">
              <a:lnSpc>
                <a:spcPct val="115000"/>
              </a:lnSpc>
              <a:buNone/>
            </a:pPr>
            <a:r>
              <a:rPr lang="en-US" sz="1150" dirty="0">
                <a:solidFill>
                  <a:srgbClr val="EF3B2D"/>
                </a:solidFill>
                <a:latin typeface="Courier New" pitchFamily="34" charset="0"/>
                <a:ea typeface="Courier New" pitchFamily="34" charset="-122"/>
                <a:cs typeface="Courier New" pitchFamily="34" charset="-120"/>
              </a:rPr>
              <a:t>$ </a:t>
            </a:r>
            <a:r>
              <a:rPr lang="en-US" sz="1150" dirty="0">
                <a:solidFill>
                  <a:srgbClr val="E6EDF3"/>
                </a:solidFill>
                <a:latin typeface="Courier New" pitchFamily="34" charset="0"/>
                <a:ea typeface="Courier New" pitchFamily="34" charset="-122"/>
                <a:cs typeface="Courier New" pitchFamily="34" charset="-120"/>
              </a:rPr>
              <a:t>wheels start               </a:t>
            </a:r>
            <a:endParaRPr lang="en-US" sz="1150" dirty="0"/>
          </a:p>
          <a:p>
            <a:pPr marL="0" indent="0">
              <a:lnSpc>
                <a:spcPct val="115000"/>
              </a:lnSpc>
              <a:buNone/>
            </a:pPr>
            <a:r>
              <a:rPr lang="en-US" sz="1150" dirty="0">
                <a:solidFill>
                  <a:srgbClr val="9AA7B4"/>
                </a:solidFill>
                <a:latin typeface="Courier New" pitchFamily="34" charset="0"/>
                <a:ea typeface="Courier New" pitchFamily="34" charset="-122"/>
                <a:cs typeface="Courier New" pitchFamily="34" charset="-120"/>
              </a:rPr>
              <a:t># Lucee ships inside the CLI</a:t>
            </a:r>
            <a:endParaRPr lang="en-US" sz="1150" dirty="0"/>
          </a:p>
        </p:txBody>
      </p:sp>
      <p:sp>
        <p:nvSpPr>
          <p:cNvPr id="12" name="Text 9"/>
          <p:cNvSpPr txBox="1"/>
          <p:nvPr/>
        </p:nvSpPr>
        <p:spPr>
          <a:xfrm>
            <a:off x="457200" y="3044952"/>
            <a:ext cx="4206240" cy="822960"/>
          </a:xfrm>
          <a:prstGeom prst="rect">
            <a:avLst/>
          </a:prstGeom>
          <a:noFill/>
          <a:ln/>
        </p:spPr>
        <p:txBody>
          <a:bodyPr wrap="square" lIns="0" tIns="0" rIns="0" bIns="0" rtlCol="0" anchor="ctr"/>
          <a:lstStyle/>
          <a:p>
            <a:pPr marL="0" indent="0">
              <a:buNone/>
            </a:pPr>
            <a:r>
              <a:rPr lang="en-US" sz="1250" dirty="0">
                <a:solidFill>
                  <a:srgbClr val="6B7785"/>
                </a:solidFill>
                <a:latin typeface="Calibri" pitchFamily="34" charset="0"/>
                <a:ea typeface="Calibri" pitchFamily="34" charset="-122"/>
                <a:cs typeface="Calibri" pitchFamily="34" charset="-120"/>
              </a:rPr>
              <a:t>Only dependency: Java 21. The CLI bundles LuCLI + Lucee, so a laptop with no CFML engine installed is running a Wheels app about a minute after brew finishes.</a:t>
            </a:r>
            <a:endParaRPr lang="en-US" sz="1250" dirty="0"/>
          </a:p>
        </p:txBody>
      </p:sp>
      <p:sp>
        <p:nvSpPr>
          <p:cNvPr id="13" name="Text 10"/>
          <p:cNvSpPr txBox="1"/>
          <p:nvPr/>
        </p:nvSpPr>
        <p:spPr>
          <a:xfrm>
            <a:off x="4937760" y="1188720"/>
            <a:ext cx="3749040" cy="292608"/>
          </a:xfrm>
          <a:prstGeom prst="rect">
            <a:avLst/>
          </a:prstGeom>
          <a:noFill/>
          <a:ln/>
        </p:spPr>
        <p:txBody>
          <a:bodyPr wrap="square" lIns="0" tIns="0" rIns="0" bIns="0" rtlCol="0" anchor="ctr"/>
          <a:lstStyle/>
          <a:p>
            <a:pPr marL="0" indent="0">
              <a:buNone/>
            </a:pPr>
            <a:r>
              <a:rPr lang="en-US" sz="1200" b="1" dirty="0">
                <a:solidFill>
                  <a:srgbClr val="1A2430"/>
                </a:solidFill>
                <a:latin typeface="Courier New" pitchFamily="34" charset="0"/>
                <a:ea typeface="Courier New" pitchFamily="34" charset="-122"/>
                <a:cs typeface="Courier New" pitchFamily="34" charset="-120"/>
              </a:rPr>
              <a:t>new · start · stop · reload</a:t>
            </a:r>
            <a:endParaRPr lang="en-US" sz="1200" dirty="0"/>
          </a:p>
        </p:txBody>
      </p:sp>
      <p:sp>
        <p:nvSpPr>
          <p:cNvPr id="14" name="Text 11"/>
          <p:cNvSpPr txBox="1"/>
          <p:nvPr/>
        </p:nvSpPr>
        <p:spPr>
          <a:xfrm>
            <a:off x="4937760" y="1481328"/>
            <a:ext cx="3749040" cy="274320"/>
          </a:xfrm>
          <a:prstGeom prst="rect">
            <a:avLst/>
          </a:prstGeom>
          <a:noFill/>
          <a:ln/>
        </p:spPr>
        <p:txBody>
          <a:bodyPr wrap="square" lIns="0" tIns="0" rIns="0" bIns="0" rtlCol="0" anchor="ctr"/>
          <a:lstStyle/>
          <a:p>
            <a:pPr marL="0" indent="0">
              <a:buNone/>
            </a:pPr>
            <a:r>
              <a:rPr lang="en-US" sz="1100" dirty="0">
                <a:solidFill>
                  <a:srgbClr val="6B7785"/>
                </a:solidFill>
                <a:latin typeface="Calibri" pitchFamily="34" charset="0"/>
                <a:ea typeface="Calibri" pitchFamily="34" charset="-122"/>
                <a:cs typeface="Calibri" pitchFamily="34" charset="-120"/>
              </a:rPr>
              <a:t>project lifecycle</a:t>
            </a:r>
            <a:endParaRPr lang="en-US" sz="1100" dirty="0"/>
          </a:p>
        </p:txBody>
      </p:sp>
      <p:sp>
        <p:nvSpPr>
          <p:cNvPr id="15" name="Text 12"/>
          <p:cNvSpPr txBox="1"/>
          <p:nvPr/>
        </p:nvSpPr>
        <p:spPr>
          <a:xfrm>
            <a:off x="4937760" y="1847088"/>
            <a:ext cx="3749040" cy="292608"/>
          </a:xfrm>
          <a:prstGeom prst="rect">
            <a:avLst/>
          </a:prstGeom>
          <a:noFill/>
          <a:ln/>
        </p:spPr>
        <p:txBody>
          <a:bodyPr wrap="square" lIns="0" tIns="0" rIns="0" bIns="0" rtlCol="0" anchor="ctr"/>
          <a:lstStyle/>
          <a:p>
            <a:pPr marL="0" indent="0">
              <a:buNone/>
            </a:pPr>
            <a:r>
              <a:rPr lang="en-US" sz="1200" b="1" dirty="0">
                <a:solidFill>
                  <a:srgbClr val="1A2430"/>
                </a:solidFill>
                <a:latin typeface="Courier New" pitchFamily="34" charset="0"/>
                <a:ea typeface="Courier New" pitchFamily="34" charset="-122"/>
                <a:cs typeface="Courier New" pitchFamily="34" charset="-120"/>
              </a:rPr>
              <a:t>generate scaffold | model | controller | auth | policy | api-resource | migration</a:t>
            </a:r>
            <a:endParaRPr lang="en-US" sz="1200" dirty="0"/>
          </a:p>
        </p:txBody>
      </p:sp>
      <p:sp>
        <p:nvSpPr>
          <p:cNvPr id="16" name="Text 13"/>
          <p:cNvSpPr txBox="1"/>
          <p:nvPr/>
        </p:nvSpPr>
        <p:spPr>
          <a:xfrm>
            <a:off x="4937760" y="2139696"/>
            <a:ext cx="3749040" cy="274320"/>
          </a:xfrm>
          <a:prstGeom prst="rect">
            <a:avLst/>
          </a:prstGeom>
          <a:noFill/>
          <a:ln/>
        </p:spPr>
        <p:txBody>
          <a:bodyPr wrap="square" lIns="0" tIns="0" rIns="0" bIns="0" rtlCol="0" anchor="ctr"/>
          <a:lstStyle/>
          <a:p>
            <a:pPr marL="0" indent="0">
              <a:buNone/>
            </a:pPr>
            <a:r>
              <a:rPr lang="en-US" sz="1100" dirty="0">
                <a:solidFill>
                  <a:srgbClr val="6B7785"/>
                </a:solidFill>
                <a:latin typeface="Calibri" pitchFamily="34" charset="0"/>
                <a:ea typeface="Calibri" pitchFamily="34" charset="-122"/>
                <a:cs typeface="Calibri" pitchFamily="34" charset="-120"/>
              </a:rPr>
              <a:t>code you own, with headers</a:t>
            </a:r>
            <a:endParaRPr lang="en-US" sz="1100" dirty="0"/>
          </a:p>
        </p:txBody>
      </p:sp>
      <p:sp>
        <p:nvSpPr>
          <p:cNvPr id="17" name="Text 14"/>
          <p:cNvSpPr txBox="1"/>
          <p:nvPr/>
        </p:nvSpPr>
        <p:spPr>
          <a:xfrm>
            <a:off x="4937760" y="2505456"/>
            <a:ext cx="3749040" cy="292608"/>
          </a:xfrm>
          <a:prstGeom prst="rect">
            <a:avLst/>
          </a:prstGeom>
          <a:noFill/>
          <a:ln/>
        </p:spPr>
        <p:txBody>
          <a:bodyPr wrap="square" lIns="0" tIns="0" rIns="0" bIns="0" rtlCol="0" anchor="ctr"/>
          <a:lstStyle/>
          <a:p>
            <a:pPr marL="0" indent="0">
              <a:buNone/>
            </a:pPr>
            <a:r>
              <a:rPr lang="en-US" sz="1200" b="1" dirty="0">
                <a:solidFill>
                  <a:srgbClr val="1A2430"/>
                </a:solidFill>
                <a:latin typeface="Courier New" pitchFamily="34" charset="0"/>
                <a:ea typeface="Courier New" pitchFamily="34" charset="-122"/>
                <a:cs typeface="Courier New" pitchFamily="34" charset="-120"/>
              </a:rPr>
              <a:t>migrate latest · routes · console</a:t>
            </a:r>
            <a:endParaRPr lang="en-US" sz="1200" dirty="0"/>
          </a:p>
        </p:txBody>
      </p:sp>
      <p:sp>
        <p:nvSpPr>
          <p:cNvPr id="18" name="Text 15"/>
          <p:cNvSpPr txBox="1"/>
          <p:nvPr/>
        </p:nvSpPr>
        <p:spPr>
          <a:xfrm>
            <a:off x="4937760" y="2798064"/>
            <a:ext cx="3749040" cy="274320"/>
          </a:xfrm>
          <a:prstGeom prst="rect">
            <a:avLst/>
          </a:prstGeom>
          <a:noFill/>
          <a:ln/>
        </p:spPr>
        <p:txBody>
          <a:bodyPr wrap="square" lIns="0" tIns="0" rIns="0" bIns="0" rtlCol="0" anchor="ctr"/>
          <a:lstStyle/>
          <a:p>
            <a:pPr marL="0" indent="0">
              <a:buNone/>
            </a:pPr>
            <a:r>
              <a:rPr lang="en-US" sz="1100" dirty="0">
                <a:solidFill>
                  <a:srgbClr val="6B7785"/>
                </a:solidFill>
                <a:latin typeface="Calibri" pitchFamily="34" charset="0"/>
                <a:ea typeface="Calibri" pitchFamily="34" charset="-122"/>
                <a:cs typeface="Calibri" pitchFamily="34" charset="-120"/>
              </a:rPr>
              <a:t>schema, routing table, REPL</a:t>
            </a:r>
            <a:endParaRPr lang="en-US" sz="1100" dirty="0"/>
          </a:p>
        </p:txBody>
      </p:sp>
      <p:sp>
        <p:nvSpPr>
          <p:cNvPr id="19" name="Text 16"/>
          <p:cNvSpPr txBox="1"/>
          <p:nvPr/>
        </p:nvSpPr>
        <p:spPr>
          <a:xfrm>
            <a:off x="4937760" y="3163824"/>
            <a:ext cx="3749040" cy="292608"/>
          </a:xfrm>
          <a:prstGeom prst="rect">
            <a:avLst/>
          </a:prstGeom>
          <a:noFill/>
          <a:ln/>
        </p:spPr>
        <p:txBody>
          <a:bodyPr wrap="square" lIns="0" tIns="0" rIns="0" bIns="0" rtlCol="0" anchor="ctr"/>
          <a:lstStyle/>
          <a:p>
            <a:pPr marL="0" indent="0">
              <a:buNone/>
            </a:pPr>
            <a:r>
              <a:rPr lang="en-US" sz="1200" b="1" dirty="0">
                <a:solidFill>
                  <a:srgbClr val="1A2430"/>
                </a:solidFill>
                <a:latin typeface="Courier New" pitchFamily="34" charset="0"/>
                <a:ea typeface="Courier New" pitchFamily="34" charset="-122"/>
                <a:cs typeface="Courier New" pitchFamily="34" charset="-120"/>
              </a:rPr>
              <a:t>test · doctor · info · stats · notes</a:t>
            </a:r>
            <a:endParaRPr lang="en-US" sz="1200" dirty="0"/>
          </a:p>
        </p:txBody>
      </p:sp>
      <p:sp>
        <p:nvSpPr>
          <p:cNvPr id="20" name="Text 17"/>
          <p:cNvSpPr txBox="1"/>
          <p:nvPr/>
        </p:nvSpPr>
        <p:spPr>
          <a:xfrm>
            <a:off x="4937760" y="3456432"/>
            <a:ext cx="3749040" cy="274320"/>
          </a:xfrm>
          <a:prstGeom prst="rect">
            <a:avLst/>
          </a:prstGeom>
          <a:noFill/>
          <a:ln/>
        </p:spPr>
        <p:txBody>
          <a:bodyPr wrap="square" lIns="0" tIns="0" rIns="0" bIns="0" rtlCol="0" anchor="ctr"/>
          <a:lstStyle/>
          <a:p>
            <a:pPr marL="0" indent="0">
              <a:buNone/>
            </a:pPr>
            <a:r>
              <a:rPr lang="en-US" sz="1100" dirty="0" err="1">
                <a:solidFill>
                  <a:srgbClr val="6B7785"/>
                </a:solidFill>
                <a:latin typeface="Calibri" pitchFamily="34" charset="0"/>
                <a:ea typeface="Calibri" pitchFamily="34" charset="-122"/>
                <a:cs typeface="Calibri" pitchFamily="34" charset="-120"/>
              </a:rPr>
              <a:t>WheelsBox</a:t>
            </a:r>
            <a:r>
              <a:rPr lang="en-US" sz="1100" dirty="0">
                <a:solidFill>
                  <a:srgbClr val="6B7785"/>
                </a:solidFill>
                <a:latin typeface="Calibri" pitchFamily="34" charset="0"/>
                <a:ea typeface="Calibri" pitchFamily="34" charset="-122"/>
                <a:cs typeface="Calibri" pitchFamily="34" charset="-120"/>
              </a:rPr>
              <a:t> runner and diagnostics</a:t>
            </a:r>
            <a:endParaRPr lang="en-US" sz="1100" dirty="0"/>
          </a:p>
        </p:txBody>
      </p:sp>
      <p:sp>
        <p:nvSpPr>
          <p:cNvPr id="21" name="Text 18"/>
          <p:cNvSpPr txBox="1"/>
          <p:nvPr/>
        </p:nvSpPr>
        <p:spPr>
          <a:xfrm>
            <a:off x="4937760" y="3822192"/>
            <a:ext cx="3749040" cy="292608"/>
          </a:xfrm>
          <a:prstGeom prst="rect">
            <a:avLst/>
          </a:prstGeom>
          <a:noFill/>
          <a:ln/>
        </p:spPr>
        <p:txBody>
          <a:bodyPr wrap="square" lIns="0" tIns="0" rIns="0" bIns="0" rtlCol="0" anchor="ctr"/>
          <a:lstStyle/>
          <a:p>
            <a:pPr marL="0" indent="0">
              <a:buNone/>
            </a:pPr>
            <a:r>
              <a:rPr lang="en-US" sz="1200" b="1" dirty="0">
                <a:solidFill>
                  <a:srgbClr val="1A2430"/>
                </a:solidFill>
                <a:latin typeface="Courier New" pitchFamily="34" charset="0"/>
                <a:ea typeface="Courier New" pitchFamily="34" charset="-122"/>
                <a:cs typeface="Courier New" pitchFamily="34" charset="-120"/>
              </a:rPr>
              <a:t>mcp</a:t>
            </a:r>
            <a:endParaRPr lang="en-US" sz="1200" dirty="0"/>
          </a:p>
        </p:txBody>
      </p:sp>
      <p:sp>
        <p:nvSpPr>
          <p:cNvPr id="22" name="Text 19"/>
          <p:cNvSpPr txBox="1"/>
          <p:nvPr/>
        </p:nvSpPr>
        <p:spPr>
          <a:xfrm>
            <a:off x="4937760" y="4114800"/>
            <a:ext cx="3749040" cy="274320"/>
          </a:xfrm>
          <a:prstGeom prst="rect">
            <a:avLst/>
          </a:prstGeom>
          <a:noFill/>
          <a:ln/>
        </p:spPr>
        <p:txBody>
          <a:bodyPr wrap="square" lIns="0" tIns="0" rIns="0" bIns="0" rtlCol="0" anchor="ctr"/>
          <a:lstStyle/>
          <a:p>
            <a:pPr marL="0" indent="0">
              <a:buNone/>
            </a:pPr>
            <a:r>
              <a:rPr lang="en-US" sz="1100" dirty="0">
                <a:solidFill>
                  <a:srgbClr val="6B7785"/>
                </a:solidFill>
                <a:latin typeface="Calibri" pitchFamily="34" charset="0"/>
                <a:ea typeface="Calibri" pitchFamily="34" charset="-122"/>
                <a:cs typeface="Calibri" pitchFamily="34" charset="-120"/>
              </a:rPr>
              <a:t>every command as an MCP tool for AI agents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1620"/>
        </a:solidFill>
        <a:effectLst/>
      </p:bgPr>
    </p:bg>
    <p:spTree>
      <p:nvGrpSpPr>
        <p:cNvPr id="1" name=""/>
        <p:cNvGrpSpPr/>
        <p:nvPr/>
      </p:nvGrpSpPr>
      <p:grpSpPr>
        <a:xfrm>
          <a:off x="0" y="0"/>
          <a:ext cx="0" cy="0"/>
          <a:chOff x="0" y="0"/>
          <a:chExt cx="0" cy="0"/>
        </a:xfrm>
      </p:grpSpPr>
      <p:pic>
        <p:nvPicPr>
          <p:cNvPr id="2" name="Image 0" descr="/home/claude/deck/assets/mark-t.png"/>
          <p:cNvPicPr>
            <a:picLocks noChangeAspect="1"/>
          </p:cNvPicPr>
          <p:nvPr/>
        </p:nvPicPr>
        <p:blipFill>
          <a:blip r:embed="rId3"/>
          <a:stretch>
            <a:fillRect/>
          </a:stretch>
        </p:blipFill>
        <p:spPr>
          <a:xfrm>
            <a:off x="8092440" y="384048"/>
            <a:ext cx="594360" cy="365760"/>
          </a:xfrm>
          <a:prstGeom prst="rect">
            <a:avLst/>
          </a:prstGeom>
        </p:spPr>
      </p:pic>
      <p:sp>
        <p:nvSpPr>
          <p:cNvPr id="3" name="Text 0"/>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9AA7B4"/>
                </a:solidFill>
                <a:latin typeface="Calibri" pitchFamily="34" charset="0"/>
                <a:ea typeface="Calibri" pitchFamily="34" charset="-122"/>
                <a:cs typeface="Calibri" pitchFamily="34" charset="-120"/>
              </a:rPr>
              <a:t>wheels.dev   ·   Mid-Michigan CFUG · Sept 15, 2026</a:t>
            </a:r>
            <a:endParaRPr lang="en-US" sz="900" dirty="0"/>
          </a:p>
        </p:txBody>
      </p:sp>
      <p:sp>
        <p:nvSpPr>
          <p:cNvPr id="4" name="Text 1"/>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9AA7B4"/>
                </a:solidFill>
                <a:latin typeface="Calibri" pitchFamily="34" charset="0"/>
                <a:ea typeface="Calibri" pitchFamily="34" charset="-122"/>
                <a:cs typeface="Calibri" pitchFamily="34" charset="-120"/>
              </a:rPr>
              <a:t>12</a:t>
            </a:r>
            <a:endParaRPr lang="en-US" sz="900" dirty="0"/>
          </a:p>
        </p:txBody>
      </p:sp>
      <p:sp>
        <p:nvSpPr>
          <p:cNvPr id="5" name="Text 2"/>
          <p:cNvSpPr txBox="1"/>
          <p:nvPr/>
        </p:nvSpPr>
        <p:spPr>
          <a:xfrm>
            <a:off x="457200" y="548640"/>
            <a:ext cx="5486400" cy="274320"/>
          </a:xfrm>
          <a:prstGeom prst="rect">
            <a:avLst/>
          </a:prstGeom>
          <a:noFill/>
          <a:ln/>
        </p:spPr>
        <p:txBody>
          <a:bodyPr wrap="square" lIns="0" tIns="0" rIns="0" bIns="0" rtlCol="0" anchor="ctr"/>
          <a:lstStyle/>
          <a:p>
            <a:pPr marL="0" indent="0">
              <a:buNone/>
            </a:pPr>
            <a:r>
              <a:rPr lang="en-US" sz="1100" b="1" kern="0" spc="300" dirty="0">
                <a:solidFill>
                  <a:srgbClr val="EF3B2D"/>
                </a:solidFill>
                <a:latin typeface="Calibri" pitchFamily="34" charset="0"/>
                <a:ea typeface="Calibri" pitchFamily="34" charset="-122"/>
                <a:cs typeface="Calibri" pitchFamily="34" charset="-120"/>
              </a:rPr>
              <a:t>THE NEXT 50 MINUTES</a:t>
            </a:r>
            <a:endParaRPr lang="en-US" sz="1100" dirty="0"/>
          </a:p>
        </p:txBody>
      </p:sp>
      <p:sp>
        <p:nvSpPr>
          <p:cNvPr id="6" name="Text 3"/>
          <p:cNvSpPr txBox="1"/>
          <p:nvPr/>
        </p:nvSpPr>
        <p:spPr>
          <a:xfrm>
            <a:off x="457200" y="868680"/>
            <a:ext cx="8229600" cy="548640"/>
          </a:xfrm>
          <a:prstGeom prst="rect">
            <a:avLst/>
          </a:prstGeom>
          <a:noFill/>
          <a:ln/>
        </p:spPr>
        <p:txBody>
          <a:bodyPr wrap="square" lIns="0" tIns="0" rIns="0" bIns="0"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With no IDE and no config files, we're going to build a blog with:</a:t>
            </a:r>
            <a:endParaRPr lang="en-US" sz="2400" dirty="0"/>
          </a:p>
        </p:txBody>
      </p:sp>
      <p:sp>
        <p:nvSpPr>
          <p:cNvPr id="7" name="Shape 4"/>
          <p:cNvSpPr/>
          <p:nvPr/>
        </p:nvSpPr>
        <p:spPr>
          <a:xfrm>
            <a:off x="457200" y="1764792"/>
            <a:ext cx="384048" cy="384048"/>
          </a:xfrm>
          <a:prstGeom prst="ellipse">
            <a:avLst/>
          </a:prstGeom>
          <a:solidFill>
            <a:srgbClr val="EF3B2D"/>
          </a:solidFill>
          <a:ln w="12700">
            <a:solidFill>
              <a:srgbClr val="EF3B2D"/>
            </a:solidFill>
            <a:prstDash val="solid"/>
          </a:ln>
        </p:spPr>
        <p:txBody>
          <a:bodyPr/>
          <a:lstStyle/>
          <a:p>
            <a:endParaRPr lang="en-US"/>
          </a:p>
        </p:txBody>
      </p:sp>
      <p:sp>
        <p:nvSpPr>
          <p:cNvPr id="8" name="Text 5"/>
          <p:cNvSpPr txBox="1"/>
          <p:nvPr/>
        </p:nvSpPr>
        <p:spPr>
          <a:xfrm>
            <a:off x="457200" y="1764792"/>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9" name="Text 6"/>
          <p:cNvSpPr txBox="1"/>
          <p:nvPr/>
        </p:nvSpPr>
        <p:spPr>
          <a:xfrm>
            <a:off x="1005840" y="1691640"/>
            <a:ext cx="3566160" cy="548640"/>
          </a:xfrm>
          <a:prstGeom prst="rect">
            <a:avLst/>
          </a:prstGeom>
          <a:noFill/>
          <a:ln/>
        </p:spPr>
        <p:txBody>
          <a:bodyPr wrap="square" lIns="0" tIns="0" rIns="0" bIns="0" rtlCol="0" anchor="ctr"/>
          <a:lstStyle/>
          <a:p>
            <a:pPr marL="0" indent="0">
              <a:buNone/>
            </a:pPr>
            <a:r>
              <a:rPr lang="en-US" sz="1700" dirty="0">
                <a:solidFill>
                  <a:srgbClr val="FFFFFF"/>
                </a:solidFill>
                <a:latin typeface="Calibri" pitchFamily="34" charset="0"/>
                <a:ea typeface="Calibri" pitchFamily="34" charset="-122"/>
                <a:cs typeface="Calibri" pitchFamily="34" charset="-120"/>
              </a:rPr>
              <a:t>Posts — full CRUD, validated</a:t>
            </a:r>
            <a:endParaRPr lang="en-US" sz="1700" dirty="0"/>
          </a:p>
        </p:txBody>
      </p:sp>
      <p:sp>
        <p:nvSpPr>
          <p:cNvPr id="10" name="Shape 7"/>
          <p:cNvSpPr/>
          <p:nvPr/>
        </p:nvSpPr>
        <p:spPr>
          <a:xfrm>
            <a:off x="4663440" y="1764792"/>
            <a:ext cx="384048" cy="384048"/>
          </a:xfrm>
          <a:prstGeom prst="ellipse">
            <a:avLst/>
          </a:prstGeom>
          <a:solidFill>
            <a:srgbClr val="EF3B2D"/>
          </a:solidFill>
          <a:ln w="12700">
            <a:solidFill>
              <a:srgbClr val="EF3B2D"/>
            </a:solidFill>
            <a:prstDash val="solid"/>
          </a:ln>
        </p:spPr>
        <p:txBody>
          <a:bodyPr/>
          <a:lstStyle/>
          <a:p>
            <a:endParaRPr lang="en-US"/>
          </a:p>
        </p:txBody>
      </p:sp>
      <p:sp>
        <p:nvSpPr>
          <p:cNvPr id="11" name="Text 8"/>
          <p:cNvSpPr txBox="1"/>
          <p:nvPr/>
        </p:nvSpPr>
        <p:spPr>
          <a:xfrm>
            <a:off x="4663440" y="1764792"/>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2" name="Text 9"/>
          <p:cNvSpPr txBox="1"/>
          <p:nvPr/>
        </p:nvSpPr>
        <p:spPr>
          <a:xfrm>
            <a:off x="5212080" y="1691640"/>
            <a:ext cx="3566160" cy="548640"/>
          </a:xfrm>
          <a:prstGeom prst="rect">
            <a:avLst/>
          </a:prstGeom>
          <a:noFill/>
          <a:ln/>
        </p:spPr>
        <p:txBody>
          <a:bodyPr wrap="square" lIns="0" tIns="0" rIns="0" bIns="0" rtlCol="0" anchor="ctr"/>
          <a:lstStyle/>
          <a:p>
            <a:pPr marL="0" indent="0">
              <a:buNone/>
            </a:pPr>
            <a:r>
              <a:rPr lang="en-US" sz="1700" dirty="0">
                <a:solidFill>
                  <a:srgbClr val="FFFFFF"/>
                </a:solidFill>
                <a:latin typeface="Calibri" pitchFamily="34" charset="0"/>
                <a:ea typeface="Calibri" pitchFamily="34" charset="-122"/>
                <a:cs typeface="Calibri" pitchFamily="34" charset="-120"/>
              </a:rPr>
              <a:t>Comments — associated to posts</a:t>
            </a:r>
            <a:endParaRPr lang="en-US" sz="1700" dirty="0"/>
          </a:p>
        </p:txBody>
      </p:sp>
      <p:sp>
        <p:nvSpPr>
          <p:cNvPr id="13" name="Shape 10"/>
          <p:cNvSpPr/>
          <p:nvPr/>
        </p:nvSpPr>
        <p:spPr>
          <a:xfrm>
            <a:off x="457200" y="2542032"/>
            <a:ext cx="384048" cy="384048"/>
          </a:xfrm>
          <a:prstGeom prst="ellipse">
            <a:avLst/>
          </a:prstGeom>
          <a:solidFill>
            <a:srgbClr val="EF3B2D"/>
          </a:solidFill>
          <a:ln w="12700">
            <a:solidFill>
              <a:srgbClr val="EF3B2D"/>
            </a:solidFill>
            <a:prstDash val="solid"/>
          </a:ln>
        </p:spPr>
        <p:txBody>
          <a:bodyPr/>
          <a:lstStyle/>
          <a:p>
            <a:endParaRPr lang="en-US"/>
          </a:p>
        </p:txBody>
      </p:sp>
      <p:sp>
        <p:nvSpPr>
          <p:cNvPr id="14" name="Text 11"/>
          <p:cNvSpPr txBox="1"/>
          <p:nvPr/>
        </p:nvSpPr>
        <p:spPr>
          <a:xfrm>
            <a:off x="457200" y="2542032"/>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5" name="Text 12"/>
          <p:cNvSpPr txBox="1"/>
          <p:nvPr/>
        </p:nvSpPr>
        <p:spPr>
          <a:xfrm>
            <a:off x="1005840" y="2468880"/>
            <a:ext cx="3566160" cy="548640"/>
          </a:xfrm>
          <a:prstGeom prst="rect">
            <a:avLst/>
          </a:prstGeom>
          <a:noFill/>
          <a:ln/>
        </p:spPr>
        <p:txBody>
          <a:bodyPr wrap="square" lIns="0" tIns="0" rIns="0" bIns="0" rtlCol="0" anchor="ctr"/>
          <a:lstStyle/>
          <a:p>
            <a:pPr marL="0" indent="0">
              <a:buNone/>
            </a:pPr>
            <a:r>
              <a:rPr lang="en-US" sz="1700" dirty="0">
                <a:solidFill>
                  <a:srgbClr val="FFFFFF"/>
                </a:solidFill>
                <a:latin typeface="Calibri" pitchFamily="34" charset="0"/>
                <a:ea typeface="Calibri" pitchFamily="34" charset="-122"/>
                <a:cs typeface="Calibri" pitchFamily="34" charset="-120"/>
              </a:rPr>
              <a:t>User accounts with properly hashed passwords</a:t>
            </a:r>
            <a:endParaRPr lang="en-US" sz="1700" dirty="0"/>
          </a:p>
        </p:txBody>
      </p:sp>
      <p:sp>
        <p:nvSpPr>
          <p:cNvPr id="16" name="Shape 13"/>
          <p:cNvSpPr/>
          <p:nvPr/>
        </p:nvSpPr>
        <p:spPr>
          <a:xfrm>
            <a:off x="4663440" y="2542032"/>
            <a:ext cx="384048" cy="384048"/>
          </a:xfrm>
          <a:prstGeom prst="ellipse">
            <a:avLst/>
          </a:prstGeom>
          <a:solidFill>
            <a:srgbClr val="EF3B2D"/>
          </a:solidFill>
          <a:ln w="12700">
            <a:solidFill>
              <a:srgbClr val="EF3B2D"/>
            </a:solidFill>
            <a:prstDash val="solid"/>
          </a:ln>
        </p:spPr>
        <p:txBody>
          <a:bodyPr/>
          <a:lstStyle/>
          <a:p>
            <a:endParaRPr lang="en-US"/>
          </a:p>
        </p:txBody>
      </p:sp>
      <p:sp>
        <p:nvSpPr>
          <p:cNvPr id="17" name="Text 14"/>
          <p:cNvSpPr txBox="1"/>
          <p:nvPr/>
        </p:nvSpPr>
        <p:spPr>
          <a:xfrm>
            <a:off x="4663440" y="2542032"/>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8" name="Text 15"/>
          <p:cNvSpPr txBox="1"/>
          <p:nvPr/>
        </p:nvSpPr>
        <p:spPr>
          <a:xfrm>
            <a:off x="5212080" y="2468880"/>
            <a:ext cx="3566160" cy="548640"/>
          </a:xfrm>
          <a:prstGeom prst="rect">
            <a:avLst/>
          </a:prstGeom>
          <a:noFill/>
          <a:ln/>
        </p:spPr>
        <p:txBody>
          <a:bodyPr wrap="square" lIns="0" tIns="0" rIns="0" bIns="0" rtlCol="0" anchor="ctr"/>
          <a:lstStyle/>
          <a:p>
            <a:pPr marL="0" indent="0">
              <a:buNone/>
            </a:pPr>
            <a:r>
              <a:rPr lang="en-US" sz="1700" dirty="0">
                <a:solidFill>
                  <a:srgbClr val="FFFFFF"/>
                </a:solidFill>
                <a:latin typeface="Calibri" pitchFamily="34" charset="0"/>
                <a:ea typeface="Calibri" pitchFamily="34" charset="-122"/>
                <a:cs typeface="Calibri" pitchFamily="34" charset="-120"/>
              </a:rPr>
              <a:t>Authorization policies (default-deny)</a:t>
            </a:r>
            <a:endParaRPr lang="en-US" sz="1700" dirty="0"/>
          </a:p>
        </p:txBody>
      </p:sp>
      <p:sp>
        <p:nvSpPr>
          <p:cNvPr id="19" name="Shape 16"/>
          <p:cNvSpPr/>
          <p:nvPr/>
        </p:nvSpPr>
        <p:spPr>
          <a:xfrm>
            <a:off x="457200" y="3319272"/>
            <a:ext cx="384048" cy="384048"/>
          </a:xfrm>
          <a:prstGeom prst="ellipse">
            <a:avLst/>
          </a:prstGeom>
          <a:solidFill>
            <a:srgbClr val="EF3B2D"/>
          </a:solidFill>
          <a:ln w="12700">
            <a:solidFill>
              <a:srgbClr val="EF3B2D"/>
            </a:solidFill>
            <a:prstDash val="solid"/>
          </a:ln>
        </p:spPr>
        <p:txBody>
          <a:bodyPr/>
          <a:lstStyle/>
          <a:p>
            <a:endParaRPr lang="en-US"/>
          </a:p>
        </p:txBody>
      </p:sp>
      <p:sp>
        <p:nvSpPr>
          <p:cNvPr id="20" name="Text 17"/>
          <p:cNvSpPr txBox="1"/>
          <p:nvPr/>
        </p:nvSpPr>
        <p:spPr>
          <a:xfrm>
            <a:off x="457200" y="3319272"/>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21" name="Text 18"/>
          <p:cNvSpPr txBox="1"/>
          <p:nvPr/>
        </p:nvSpPr>
        <p:spPr>
          <a:xfrm>
            <a:off x="1005840" y="3246120"/>
            <a:ext cx="3566160" cy="548640"/>
          </a:xfrm>
          <a:prstGeom prst="rect">
            <a:avLst/>
          </a:prstGeom>
          <a:noFill/>
          <a:ln/>
        </p:spPr>
        <p:txBody>
          <a:bodyPr wrap="square" lIns="0" tIns="0" rIns="0" bIns="0" rtlCol="0" anchor="ctr"/>
          <a:lstStyle/>
          <a:p>
            <a:pPr marL="0" indent="0">
              <a:buNone/>
            </a:pPr>
            <a:r>
              <a:rPr lang="en-US" sz="1700" dirty="0">
                <a:solidFill>
                  <a:srgbClr val="FFFFFF"/>
                </a:solidFill>
                <a:latin typeface="Calibri" pitchFamily="34" charset="0"/>
                <a:ea typeface="Calibri" pitchFamily="34" charset="-122"/>
                <a:cs typeface="Calibri" pitchFamily="34" charset="-120"/>
              </a:rPr>
              <a:t>A passing test suite</a:t>
            </a:r>
            <a:endParaRPr lang="en-US" sz="1700" dirty="0"/>
          </a:p>
        </p:txBody>
      </p:sp>
      <p:sp>
        <p:nvSpPr>
          <p:cNvPr id="22" name="Shape 19"/>
          <p:cNvSpPr/>
          <p:nvPr/>
        </p:nvSpPr>
        <p:spPr>
          <a:xfrm>
            <a:off x="4663440" y="3319272"/>
            <a:ext cx="384048" cy="384048"/>
          </a:xfrm>
          <a:prstGeom prst="ellipse">
            <a:avLst/>
          </a:prstGeom>
          <a:solidFill>
            <a:srgbClr val="EF3B2D"/>
          </a:solidFill>
          <a:ln w="12700">
            <a:solidFill>
              <a:srgbClr val="EF3B2D"/>
            </a:solidFill>
            <a:prstDash val="solid"/>
          </a:ln>
        </p:spPr>
        <p:txBody>
          <a:bodyPr/>
          <a:lstStyle/>
          <a:p>
            <a:endParaRPr lang="en-US"/>
          </a:p>
        </p:txBody>
      </p:sp>
      <p:sp>
        <p:nvSpPr>
          <p:cNvPr id="23" name="Text 20"/>
          <p:cNvSpPr txBox="1"/>
          <p:nvPr/>
        </p:nvSpPr>
        <p:spPr>
          <a:xfrm>
            <a:off x="4663440" y="3319272"/>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24" name="Text 21"/>
          <p:cNvSpPr txBox="1"/>
          <p:nvPr/>
        </p:nvSpPr>
        <p:spPr>
          <a:xfrm>
            <a:off x="5212080" y="3246120"/>
            <a:ext cx="3566160" cy="548640"/>
          </a:xfrm>
          <a:prstGeom prst="rect">
            <a:avLst/>
          </a:prstGeom>
          <a:noFill/>
          <a:ln/>
        </p:spPr>
        <p:txBody>
          <a:bodyPr wrap="square" lIns="0" tIns="0" rIns="0" bIns="0" rtlCol="0" anchor="ctr"/>
          <a:lstStyle/>
          <a:p>
            <a:pPr marL="0" indent="0">
              <a:buNone/>
            </a:pPr>
            <a:r>
              <a:rPr lang="en-US" sz="1700" dirty="0">
                <a:solidFill>
                  <a:srgbClr val="FFFFFF"/>
                </a:solidFill>
                <a:latin typeface="Calibri" pitchFamily="34" charset="0"/>
                <a:ea typeface="Calibri" pitchFamily="34" charset="-122"/>
                <a:cs typeface="Calibri" pitchFamily="34" charset="-120"/>
              </a:rPr>
              <a:t>…and a JSON API, for free</a:t>
            </a:r>
            <a:endParaRPr lang="en-US" sz="1700" dirty="0"/>
          </a:p>
        </p:txBody>
      </p:sp>
      <p:sp>
        <p:nvSpPr>
          <p:cNvPr id="25" name="Text 22"/>
          <p:cNvSpPr txBox="1"/>
          <p:nvPr/>
        </p:nvSpPr>
        <p:spPr>
          <a:xfrm>
            <a:off x="457200" y="4114800"/>
            <a:ext cx="8229600" cy="457200"/>
          </a:xfrm>
          <a:prstGeom prst="rect">
            <a:avLst/>
          </a:prstGeom>
          <a:noFill/>
          <a:ln/>
        </p:spPr>
        <p:txBody>
          <a:bodyPr wrap="square" lIns="0" tIns="0" rIns="0" bIns="0" rtlCol="0" anchor="ctr"/>
          <a:lstStyle/>
          <a:p>
            <a:pPr marL="0" indent="0">
              <a:buNone/>
            </a:pPr>
            <a:r>
              <a:rPr lang="en-US" sz="1800" i="1" dirty="0">
                <a:solidFill>
                  <a:srgbClr val="C9D3DD"/>
                </a:solidFill>
                <a:latin typeface="Calibri" pitchFamily="34" charset="0"/>
                <a:ea typeface="Calibri" pitchFamily="34" charset="-122"/>
                <a:cs typeface="Calibri" pitchFamily="34" charset="-120"/>
              </a:rPr>
              <a:t>Every command I type is a command you can type tonight.</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1620"/>
        </a:solidFill>
        <a:effectLst/>
      </p:bgPr>
    </p:bg>
    <p:spTree>
      <p:nvGrpSpPr>
        <p:cNvPr id="1" name=""/>
        <p:cNvGrpSpPr/>
        <p:nvPr/>
      </p:nvGrpSpPr>
      <p:grpSpPr>
        <a:xfrm>
          <a:off x="0" y="0"/>
          <a:ext cx="0" cy="0"/>
          <a:chOff x="0" y="0"/>
          <a:chExt cx="0" cy="0"/>
        </a:xfrm>
      </p:grpSpPr>
      <p:pic>
        <p:nvPicPr>
          <p:cNvPr id="2" name="Image 0" descr="/home/claude/deck/assets/mark-t.png"/>
          <p:cNvPicPr>
            <a:picLocks noChangeAspect="1"/>
          </p:cNvPicPr>
          <p:nvPr/>
        </p:nvPicPr>
        <p:blipFill>
          <a:blip r:embed="rId3"/>
          <a:stretch>
            <a:fillRect/>
          </a:stretch>
        </p:blipFill>
        <p:spPr>
          <a:xfrm>
            <a:off x="8092440" y="384048"/>
            <a:ext cx="594360" cy="365760"/>
          </a:xfrm>
          <a:prstGeom prst="rect">
            <a:avLst/>
          </a:prstGeom>
        </p:spPr>
      </p:pic>
      <p:sp>
        <p:nvSpPr>
          <p:cNvPr id="3" name="Text 0"/>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9AA7B4"/>
                </a:solidFill>
                <a:latin typeface="Calibri" pitchFamily="34" charset="0"/>
                <a:ea typeface="Calibri" pitchFamily="34" charset="-122"/>
                <a:cs typeface="Calibri" pitchFamily="34" charset="-120"/>
              </a:rPr>
              <a:t>wheels.dev   ·   Mid-Michigan CFUG · Sept 15, 2026</a:t>
            </a:r>
            <a:endParaRPr lang="en-US" sz="900" dirty="0"/>
          </a:p>
        </p:txBody>
      </p:sp>
      <p:sp>
        <p:nvSpPr>
          <p:cNvPr id="4" name="Text 1"/>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9AA7B4"/>
                </a:solidFill>
                <a:latin typeface="Calibri" pitchFamily="34" charset="0"/>
                <a:ea typeface="Calibri" pitchFamily="34" charset="-122"/>
                <a:cs typeface="Calibri" pitchFamily="34" charset="-120"/>
              </a:rPr>
              <a:t>13</a:t>
            </a:r>
            <a:endParaRPr lang="en-US" sz="900" dirty="0"/>
          </a:p>
        </p:txBody>
      </p:sp>
      <p:sp>
        <p:nvSpPr>
          <p:cNvPr id="5" name="Text 2"/>
          <p:cNvSpPr txBox="1"/>
          <p:nvPr/>
        </p:nvSpPr>
        <p:spPr>
          <a:xfrm>
            <a:off x="457200" y="320040"/>
            <a:ext cx="5486400" cy="274320"/>
          </a:xfrm>
          <a:prstGeom prst="rect">
            <a:avLst/>
          </a:prstGeom>
          <a:noFill/>
          <a:ln/>
        </p:spPr>
        <p:txBody>
          <a:bodyPr wrap="square" lIns="0" tIns="0" rIns="0" bIns="0" rtlCol="0" anchor="ctr"/>
          <a:lstStyle/>
          <a:p>
            <a:pPr marL="0" indent="0">
              <a:buNone/>
            </a:pPr>
            <a:r>
              <a:rPr lang="en-US" sz="1000" b="1" kern="0" spc="200" dirty="0">
                <a:solidFill>
                  <a:srgbClr val="EF3B2D"/>
                </a:solidFill>
                <a:latin typeface="Calibri" pitchFamily="34" charset="0"/>
                <a:ea typeface="Calibri" pitchFamily="34" charset="-122"/>
                <a:cs typeface="Calibri" pitchFamily="34" charset="-120"/>
              </a:rPr>
              <a:t>LIVE DEMO · BEAT 1 OF 8 · ~4 MIN</a:t>
            </a:r>
            <a:endParaRPr lang="en-US" sz="1000" dirty="0"/>
          </a:p>
        </p:txBody>
      </p:sp>
      <p:sp>
        <p:nvSpPr>
          <p:cNvPr id="6" name="Text 3"/>
          <p:cNvSpPr txBox="1"/>
          <p:nvPr/>
        </p:nvSpPr>
        <p:spPr>
          <a:xfrm>
            <a:off x="457200" y="594360"/>
            <a:ext cx="7498080" cy="64008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A running app in one command</a:t>
            </a:r>
            <a:endParaRPr lang="en-US" sz="3000" dirty="0"/>
          </a:p>
        </p:txBody>
      </p:sp>
      <p:sp>
        <p:nvSpPr>
          <p:cNvPr id="7" name="Shape 4"/>
          <p:cNvSpPr/>
          <p:nvPr/>
        </p:nvSpPr>
        <p:spPr>
          <a:xfrm>
            <a:off x="457200" y="1417320"/>
            <a:ext cx="4937760" cy="3108960"/>
          </a:xfrm>
          <a:prstGeom prst="roundRect">
            <a:avLst>
              <a:gd name="adj" fmla="val 2353"/>
            </a:avLst>
          </a:prstGeom>
          <a:solidFill>
            <a:srgbClr val="060D14"/>
          </a:solidFill>
          <a:ln w="12700">
            <a:solidFill>
              <a:srgbClr val="060D14"/>
            </a:solidFill>
            <a:prstDash val="solid"/>
          </a:ln>
        </p:spPr>
        <p:txBody>
          <a:bodyPr/>
          <a:lstStyle/>
          <a:p>
            <a:endParaRPr lang="en-US"/>
          </a:p>
        </p:txBody>
      </p:sp>
      <p:sp>
        <p:nvSpPr>
          <p:cNvPr id="8" name="Shape 5"/>
          <p:cNvSpPr/>
          <p:nvPr/>
        </p:nvSpPr>
        <p:spPr>
          <a:xfrm>
            <a:off x="594360" y="1536192"/>
            <a:ext cx="91440" cy="91440"/>
          </a:xfrm>
          <a:prstGeom prst="ellipse">
            <a:avLst/>
          </a:prstGeom>
          <a:solidFill>
            <a:srgbClr val="EF3B2D"/>
          </a:solidFill>
          <a:ln w="12700">
            <a:solidFill>
              <a:srgbClr val="EF3B2D"/>
            </a:solidFill>
            <a:prstDash val="solid"/>
          </a:ln>
        </p:spPr>
        <p:txBody>
          <a:bodyPr/>
          <a:lstStyle/>
          <a:p>
            <a:endParaRPr lang="en-US"/>
          </a:p>
        </p:txBody>
      </p:sp>
      <p:sp>
        <p:nvSpPr>
          <p:cNvPr id="9" name="Shape 6"/>
          <p:cNvSpPr/>
          <p:nvPr/>
        </p:nvSpPr>
        <p:spPr>
          <a:xfrm>
            <a:off x="758952" y="1536192"/>
            <a:ext cx="91440" cy="91440"/>
          </a:xfrm>
          <a:prstGeom prst="ellipse">
            <a:avLst/>
          </a:prstGeom>
          <a:solidFill>
            <a:srgbClr val="F5B62E"/>
          </a:solidFill>
          <a:ln w="12700">
            <a:solidFill>
              <a:srgbClr val="F5B62E"/>
            </a:solidFill>
            <a:prstDash val="solid"/>
          </a:ln>
        </p:spPr>
        <p:txBody>
          <a:bodyPr/>
          <a:lstStyle/>
          <a:p>
            <a:endParaRPr lang="en-US"/>
          </a:p>
        </p:txBody>
      </p:sp>
      <p:sp>
        <p:nvSpPr>
          <p:cNvPr id="10" name="Shape 7"/>
          <p:cNvSpPr/>
          <p:nvPr/>
        </p:nvSpPr>
        <p:spPr>
          <a:xfrm>
            <a:off x="923544" y="1536192"/>
            <a:ext cx="91440" cy="91440"/>
          </a:xfrm>
          <a:prstGeom prst="ellipse">
            <a:avLst/>
          </a:prstGeom>
          <a:solidFill>
            <a:srgbClr val="3DDC84"/>
          </a:solidFill>
          <a:ln w="12700">
            <a:solidFill>
              <a:srgbClr val="3DDC84"/>
            </a:solidFill>
            <a:prstDash val="solid"/>
          </a:ln>
        </p:spPr>
        <p:txBody>
          <a:bodyPr/>
          <a:lstStyle/>
          <a:p>
            <a:endParaRPr lang="en-US"/>
          </a:p>
        </p:txBody>
      </p:sp>
      <p:sp>
        <p:nvSpPr>
          <p:cNvPr id="11" name="Text 8"/>
          <p:cNvSpPr txBox="1"/>
          <p:nvPr/>
        </p:nvSpPr>
        <p:spPr>
          <a:xfrm>
            <a:off x="640080" y="1737360"/>
            <a:ext cx="4572000" cy="2697480"/>
          </a:xfrm>
          <a:prstGeom prst="rect">
            <a:avLst/>
          </a:prstGeom>
          <a:noFill/>
          <a:ln/>
        </p:spPr>
        <p:txBody>
          <a:bodyPr wrap="square" lIns="0" tIns="0" rIns="0" bIns="0" rtlCol="0" anchor="t"/>
          <a:lstStyle/>
          <a:p>
            <a:pPr marL="0" indent="0">
              <a:lnSpc>
                <a:spcPct val="115000"/>
              </a:lnSpc>
              <a:buNone/>
            </a:pPr>
            <a:r>
              <a:rPr lang="en-US" sz="1100" dirty="0">
                <a:solidFill>
                  <a:srgbClr val="EF3B2D"/>
                </a:solidFill>
                <a:latin typeface="Courier New" pitchFamily="34" charset="0"/>
                <a:ea typeface="Courier New" pitchFamily="34" charset="-122"/>
                <a:cs typeface="Courier New" pitchFamily="34" charset="-120"/>
              </a:rPr>
              <a:t>$ </a:t>
            </a:r>
            <a:r>
              <a:rPr lang="en-US" sz="1100" dirty="0">
                <a:solidFill>
                  <a:srgbClr val="E6EDF3"/>
                </a:solidFill>
                <a:latin typeface="Courier New" pitchFamily="34" charset="0"/>
                <a:ea typeface="Courier New" pitchFamily="34" charset="-122"/>
                <a:cs typeface="Courier New" pitchFamily="34" charset="-120"/>
              </a:rPr>
              <a:t>cd ~/demo</a:t>
            </a:r>
            <a:endParaRPr lang="en-US" sz="1100" dirty="0"/>
          </a:p>
          <a:p>
            <a:pPr marL="0" indent="0">
              <a:lnSpc>
                <a:spcPct val="115000"/>
              </a:lnSpc>
              <a:buNone/>
            </a:pPr>
            <a:r>
              <a:rPr lang="en-US" sz="1100" dirty="0">
                <a:solidFill>
                  <a:srgbClr val="EF3B2D"/>
                </a:solidFill>
                <a:latin typeface="Courier New" pitchFamily="34" charset="0"/>
                <a:ea typeface="Courier New" pitchFamily="34" charset="-122"/>
                <a:cs typeface="Courier New" pitchFamily="34" charset="-120"/>
              </a:rPr>
              <a:t>$ </a:t>
            </a:r>
            <a:r>
              <a:rPr lang="en-US" sz="1100" dirty="0">
                <a:solidFill>
                  <a:srgbClr val="E6EDF3"/>
                </a:solidFill>
                <a:latin typeface="Courier New" pitchFamily="34" charset="0"/>
                <a:ea typeface="Courier New" pitchFamily="34" charset="-122"/>
                <a:cs typeface="Courier New" pitchFamily="34" charset="-120"/>
              </a:rPr>
              <a:t>wheels new blogdemo</a:t>
            </a:r>
            <a:endParaRPr lang="en-US" sz="1100" dirty="0"/>
          </a:p>
          <a:p>
            <a:pPr marL="0" indent="0">
              <a:lnSpc>
                <a:spcPct val="115000"/>
              </a:lnSpc>
              <a:buNone/>
            </a:pPr>
            <a:r>
              <a:rPr lang="en-US" sz="1100" dirty="0">
                <a:solidFill>
                  <a:srgbClr val="EF3B2D"/>
                </a:solidFill>
                <a:latin typeface="Courier New" pitchFamily="34" charset="0"/>
                <a:ea typeface="Courier New" pitchFamily="34" charset="-122"/>
                <a:cs typeface="Courier New" pitchFamily="34" charset="-120"/>
              </a:rPr>
              <a:t>$ </a:t>
            </a:r>
            <a:r>
              <a:rPr lang="en-US" sz="1100" dirty="0">
                <a:solidFill>
                  <a:srgbClr val="E6EDF3"/>
                </a:solidFill>
                <a:latin typeface="Courier New" pitchFamily="34" charset="0"/>
                <a:ea typeface="Courier New" pitchFamily="34" charset="-122"/>
                <a:cs typeface="Courier New" pitchFamily="34" charset="-120"/>
              </a:rPr>
              <a:t>cd blogdemo</a:t>
            </a:r>
            <a:endParaRPr lang="en-US" sz="1100" dirty="0"/>
          </a:p>
          <a:p>
            <a:pPr marL="0" indent="0">
              <a:lnSpc>
                <a:spcPct val="115000"/>
              </a:lnSpc>
              <a:buNone/>
            </a:pPr>
            <a:r>
              <a:rPr lang="en-US" sz="1100" dirty="0">
                <a:solidFill>
                  <a:srgbClr val="EF3B2D"/>
                </a:solidFill>
                <a:latin typeface="Courier New" pitchFamily="34" charset="0"/>
                <a:ea typeface="Courier New" pitchFamily="34" charset="-122"/>
                <a:cs typeface="Courier New" pitchFamily="34" charset="-120"/>
              </a:rPr>
              <a:t>$ </a:t>
            </a:r>
            <a:r>
              <a:rPr lang="en-US" sz="1100" dirty="0">
                <a:solidFill>
                  <a:srgbClr val="E6EDF3"/>
                </a:solidFill>
                <a:latin typeface="Courier New" pitchFamily="34" charset="0"/>
                <a:ea typeface="Courier New" pitchFamily="34" charset="-122"/>
                <a:cs typeface="Courier New" pitchFamily="34" charset="-120"/>
              </a:rPr>
              <a:t>wheels start</a:t>
            </a:r>
            <a:endParaRPr lang="en-US" sz="1100" dirty="0"/>
          </a:p>
          <a:p>
            <a:pPr marL="0" indent="0">
              <a:lnSpc>
                <a:spcPct val="115000"/>
              </a:lnSpc>
              <a:buNone/>
            </a:pPr>
            <a:endParaRPr lang="en-US" sz="1100" dirty="0"/>
          </a:p>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browser opens on the welcome page</a:t>
            </a:r>
            <a:endParaRPr lang="en-US" sz="1100" dirty="0"/>
          </a:p>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status line: version · engine · db · env</a:t>
            </a:r>
            <a:endParaRPr lang="en-US" sz="1100" dirty="0"/>
          </a:p>
          <a:p>
            <a:pPr marL="0" indent="0">
              <a:lnSpc>
                <a:spcPct val="115000"/>
              </a:lnSpc>
              <a:buNone/>
            </a:pPr>
            <a:endParaRPr lang="en-US" sz="1100" dirty="0"/>
          </a:p>
          <a:p>
            <a:pPr marL="0" indent="0">
              <a:lnSpc>
                <a:spcPct val="115000"/>
              </a:lnSpc>
              <a:buNone/>
            </a:pPr>
            <a:r>
              <a:rPr lang="en-US" sz="1100" dirty="0">
                <a:solidFill>
                  <a:srgbClr val="EF3B2D"/>
                </a:solidFill>
                <a:latin typeface="Courier New" pitchFamily="34" charset="0"/>
                <a:ea typeface="Courier New" pitchFamily="34" charset="-122"/>
                <a:cs typeface="Courier New" pitchFamily="34" charset="-120"/>
              </a:rPr>
              <a:t>$ </a:t>
            </a:r>
            <a:r>
              <a:rPr lang="en-US" sz="1100" dirty="0">
                <a:solidFill>
                  <a:srgbClr val="E6EDF3"/>
                </a:solidFill>
                <a:latin typeface="Courier New" pitchFamily="34" charset="0"/>
                <a:ea typeface="Courier New" pitchFamily="34" charset="-122"/>
                <a:cs typeface="Courier New" pitchFamily="34" charset="-120"/>
              </a:rPr>
              <a:t>ls</a:t>
            </a:r>
            <a:endParaRPr lang="en-US" sz="1100" dirty="0"/>
          </a:p>
          <a:p>
            <a:pPr marL="0" indent="0">
              <a:lnSpc>
                <a:spcPct val="115000"/>
              </a:lnSpc>
              <a:buNone/>
            </a:pPr>
            <a:r>
              <a:rPr lang="en-US" sz="1100" dirty="0">
                <a:solidFill>
                  <a:srgbClr val="E6EDF3"/>
                </a:solidFill>
                <a:latin typeface="Courier New" pitchFamily="34" charset="0"/>
                <a:ea typeface="Courier New" pitchFamily="34" charset="-122"/>
                <a:cs typeface="Courier New" pitchFamily="34" charset="-120"/>
              </a:rPr>
              <a:t>app  config  db  public  tests  vendor  wheels.json</a:t>
            </a:r>
            <a:endParaRPr lang="en-US" sz="1100" dirty="0"/>
          </a:p>
        </p:txBody>
      </p:sp>
      <p:sp>
        <p:nvSpPr>
          <p:cNvPr id="12" name="Text 9"/>
          <p:cNvSpPr txBox="1"/>
          <p:nvPr/>
        </p:nvSpPr>
        <p:spPr>
          <a:xfrm>
            <a:off x="5669280" y="1463040"/>
            <a:ext cx="3017520" cy="3017520"/>
          </a:xfrm>
          <a:prstGeom prst="rect">
            <a:avLst/>
          </a:prstGeom>
          <a:noFill/>
          <a:ln/>
        </p:spPr>
        <p:txBody>
          <a:bodyPr wrap="square" lIns="0" tIns="0" rIns="0" bIns="0" rtlCol="0" anchor="t"/>
          <a:lstStyle/>
          <a:p>
            <a:pPr marL="0" indent="0">
              <a:buNone/>
            </a:pPr>
            <a:r>
              <a:rPr lang="en-US" sz="1400" i="1" dirty="0">
                <a:solidFill>
                  <a:srgbClr val="C9D3DD"/>
                </a:solidFill>
                <a:latin typeface="Calibri" pitchFamily="34" charset="0"/>
                <a:ea typeface="Calibri" pitchFamily="34" charset="-122"/>
                <a:cs typeface="Calibri" pitchFamily="34" charset="-120"/>
              </a:rPr>
              <a:t>“No CommandBox, no server.json, no datasource in the admin. SQLite is the default, so the app has a working database before you've written a line.”</a:t>
            </a:r>
            <a:endParaRPr lang="en-US" sz="1400" dirty="0"/>
          </a:p>
          <a:p>
            <a:pPr marL="0" indent="0">
              <a:buNone/>
            </a:pPr>
            <a:endParaRPr lang="en-US" sz="1400" dirty="0"/>
          </a:p>
          <a:p>
            <a:pPr marL="0" indent="0">
              <a:buNone/>
            </a:pPr>
            <a:r>
              <a:rPr lang="en-US" sz="1400" i="1" dirty="0">
                <a:solidFill>
                  <a:srgbClr val="C9D3DD"/>
                </a:solidFill>
                <a:latin typeface="Calibri" pitchFamily="34" charset="0"/>
                <a:ea typeface="Calibri" pitchFamily="34" charset="-122"/>
                <a:cs typeface="Calibri" pitchFamily="34" charset="-120"/>
              </a:rPr>
              <a:t>Point at the runtime status line. Then ls: your code in app/, the framework in vendor/.</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1620"/>
        </a:solidFill>
        <a:effectLst/>
      </p:bgPr>
    </p:bg>
    <p:spTree>
      <p:nvGrpSpPr>
        <p:cNvPr id="1" name=""/>
        <p:cNvGrpSpPr/>
        <p:nvPr/>
      </p:nvGrpSpPr>
      <p:grpSpPr>
        <a:xfrm>
          <a:off x="0" y="0"/>
          <a:ext cx="0" cy="0"/>
          <a:chOff x="0" y="0"/>
          <a:chExt cx="0" cy="0"/>
        </a:xfrm>
      </p:grpSpPr>
      <p:pic>
        <p:nvPicPr>
          <p:cNvPr id="2" name="Image 0" descr="/home/claude/deck/assets/mark-t.png"/>
          <p:cNvPicPr>
            <a:picLocks noChangeAspect="1"/>
          </p:cNvPicPr>
          <p:nvPr/>
        </p:nvPicPr>
        <p:blipFill>
          <a:blip r:embed="rId3"/>
          <a:stretch>
            <a:fillRect/>
          </a:stretch>
        </p:blipFill>
        <p:spPr>
          <a:xfrm>
            <a:off x="8092440" y="384048"/>
            <a:ext cx="594360" cy="365760"/>
          </a:xfrm>
          <a:prstGeom prst="rect">
            <a:avLst/>
          </a:prstGeom>
        </p:spPr>
      </p:pic>
      <p:sp>
        <p:nvSpPr>
          <p:cNvPr id="3" name="Text 0"/>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9AA7B4"/>
                </a:solidFill>
                <a:latin typeface="Calibri" pitchFamily="34" charset="0"/>
                <a:ea typeface="Calibri" pitchFamily="34" charset="-122"/>
                <a:cs typeface="Calibri" pitchFamily="34" charset="-120"/>
              </a:rPr>
              <a:t>wheels.dev   ·   Mid-Michigan CFUG · Sept 15, 2026</a:t>
            </a:r>
            <a:endParaRPr lang="en-US" sz="900" dirty="0"/>
          </a:p>
        </p:txBody>
      </p:sp>
      <p:sp>
        <p:nvSpPr>
          <p:cNvPr id="4" name="Text 1"/>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9AA7B4"/>
                </a:solidFill>
                <a:latin typeface="Calibri" pitchFamily="34" charset="0"/>
                <a:ea typeface="Calibri" pitchFamily="34" charset="-122"/>
                <a:cs typeface="Calibri" pitchFamily="34" charset="-120"/>
              </a:rPr>
              <a:t>14</a:t>
            </a:r>
            <a:endParaRPr lang="en-US" sz="900" dirty="0"/>
          </a:p>
        </p:txBody>
      </p:sp>
      <p:sp>
        <p:nvSpPr>
          <p:cNvPr id="5" name="Text 2"/>
          <p:cNvSpPr txBox="1"/>
          <p:nvPr/>
        </p:nvSpPr>
        <p:spPr>
          <a:xfrm>
            <a:off x="457200" y="320040"/>
            <a:ext cx="5486400" cy="274320"/>
          </a:xfrm>
          <a:prstGeom prst="rect">
            <a:avLst/>
          </a:prstGeom>
          <a:noFill/>
          <a:ln/>
        </p:spPr>
        <p:txBody>
          <a:bodyPr wrap="square" lIns="0" tIns="0" rIns="0" bIns="0" rtlCol="0" anchor="ctr"/>
          <a:lstStyle/>
          <a:p>
            <a:pPr marL="0" indent="0">
              <a:buNone/>
            </a:pPr>
            <a:r>
              <a:rPr lang="en-US" sz="1000" b="1" kern="0" spc="200" dirty="0">
                <a:solidFill>
                  <a:srgbClr val="EF3B2D"/>
                </a:solidFill>
                <a:latin typeface="Calibri" pitchFamily="34" charset="0"/>
                <a:ea typeface="Calibri" pitchFamily="34" charset="-122"/>
                <a:cs typeface="Calibri" pitchFamily="34" charset="-120"/>
              </a:rPr>
              <a:t>LIVE DEMO · BEAT 2 OF 8 · ~6 MIN</a:t>
            </a:r>
            <a:endParaRPr lang="en-US" sz="1000" dirty="0"/>
          </a:p>
        </p:txBody>
      </p:sp>
      <p:sp>
        <p:nvSpPr>
          <p:cNvPr id="6" name="Text 3"/>
          <p:cNvSpPr txBox="1"/>
          <p:nvPr/>
        </p:nvSpPr>
        <p:spPr>
          <a:xfrm>
            <a:off x="457200" y="594360"/>
            <a:ext cx="7498080" cy="64008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Scaffold a Post</a:t>
            </a:r>
            <a:endParaRPr lang="en-US" sz="3000" dirty="0"/>
          </a:p>
        </p:txBody>
      </p:sp>
      <p:sp>
        <p:nvSpPr>
          <p:cNvPr id="7" name="Shape 4"/>
          <p:cNvSpPr/>
          <p:nvPr/>
        </p:nvSpPr>
        <p:spPr>
          <a:xfrm>
            <a:off x="457200" y="1417320"/>
            <a:ext cx="4937760" cy="3108960"/>
          </a:xfrm>
          <a:prstGeom prst="roundRect">
            <a:avLst>
              <a:gd name="adj" fmla="val 2353"/>
            </a:avLst>
          </a:prstGeom>
          <a:solidFill>
            <a:srgbClr val="060D14"/>
          </a:solidFill>
          <a:ln w="12700">
            <a:solidFill>
              <a:srgbClr val="060D14"/>
            </a:solidFill>
            <a:prstDash val="solid"/>
          </a:ln>
        </p:spPr>
        <p:txBody>
          <a:bodyPr/>
          <a:lstStyle/>
          <a:p>
            <a:endParaRPr lang="en-US"/>
          </a:p>
        </p:txBody>
      </p:sp>
      <p:sp>
        <p:nvSpPr>
          <p:cNvPr id="8" name="Shape 5"/>
          <p:cNvSpPr/>
          <p:nvPr/>
        </p:nvSpPr>
        <p:spPr>
          <a:xfrm>
            <a:off x="594360" y="1536192"/>
            <a:ext cx="91440" cy="91440"/>
          </a:xfrm>
          <a:prstGeom prst="ellipse">
            <a:avLst/>
          </a:prstGeom>
          <a:solidFill>
            <a:srgbClr val="EF3B2D"/>
          </a:solidFill>
          <a:ln w="12700">
            <a:solidFill>
              <a:srgbClr val="EF3B2D"/>
            </a:solidFill>
            <a:prstDash val="solid"/>
          </a:ln>
        </p:spPr>
        <p:txBody>
          <a:bodyPr/>
          <a:lstStyle/>
          <a:p>
            <a:endParaRPr lang="en-US"/>
          </a:p>
        </p:txBody>
      </p:sp>
      <p:sp>
        <p:nvSpPr>
          <p:cNvPr id="9" name="Shape 6"/>
          <p:cNvSpPr/>
          <p:nvPr/>
        </p:nvSpPr>
        <p:spPr>
          <a:xfrm>
            <a:off x="758952" y="1536192"/>
            <a:ext cx="91440" cy="91440"/>
          </a:xfrm>
          <a:prstGeom prst="ellipse">
            <a:avLst/>
          </a:prstGeom>
          <a:solidFill>
            <a:srgbClr val="F5B62E"/>
          </a:solidFill>
          <a:ln w="12700">
            <a:solidFill>
              <a:srgbClr val="F5B62E"/>
            </a:solidFill>
            <a:prstDash val="solid"/>
          </a:ln>
        </p:spPr>
        <p:txBody>
          <a:bodyPr/>
          <a:lstStyle/>
          <a:p>
            <a:endParaRPr lang="en-US"/>
          </a:p>
        </p:txBody>
      </p:sp>
      <p:sp>
        <p:nvSpPr>
          <p:cNvPr id="10" name="Shape 7"/>
          <p:cNvSpPr/>
          <p:nvPr/>
        </p:nvSpPr>
        <p:spPr>
          <a:xfrm>
            <a:off x="923544" y="1536192"/>
            <a:ext cx="91440" cy="91440"/>
          </a:xfrm>
          <a:prstGeom prst="ellipse">
            <a:avLst/>
          </a:prstGeom>
          <a:solidFill>
            <a:srgbClr val="3DDC84"/>
          </a:solidFill>
          <a:ln w="12700">
            <a:solidFill>
              <a:srgbClr val="3DDC84"/>
            </a:solidFill>
            <a:prstDash val="solid"/>
          </a:ln>
        </p:spPr>
        <p:txBody>
          <a:bodyPr/>
          <a:lstStyle/>
          <a:p>
            <a:endParaRPr lang="en-US"/>
          </a:p>
        </p:txBody>
      </p:sp>
      <p:sp>
        <p:nvSpPr>
          <p:cNvPr id="11" name="Text 8"/>
          <p:cNvSpPr txBox="1"/>
          <p:nvPr/>
        </p:nvSpPr>
        <p:spPr>
          <a:xfrm>
            <a:off x="640080" y="1737360"/>
            <a:ext cx="4572000" cy="2697480"/>
          </a:xfrm>
          <a:prstGeom prst="rect">
            <a:avLst/>
          </a:prstGeom>
          <a:noFill/>
          <a:ln/>
        </p:spPr>
        <p:txBody>
          <a:bodyPr wrap="square" lIns="0" tIns="0" rIns="0" bIns="0" rtlCol="0" anchor="t"/>
          <a:lstStyle/>
          <a:p>
            <a:pPr marL="0" indent="0">
              <a:lnSpc>
                <a:spcPct val="115000"/>
              </a:lnSpc>
              <a:buNone/>
            </a:pPr>
            <a:r>
              <a:rPr lang="en-US" sz="1100" dirty="0">
                <a:solidFill>
                  <a:srgbClr val="EF3B2D"/>
                </a:solidFill>
                <a:latin typeface="Courier New" pitchFamily="34" charset="0"/>
                <a:ea typeface="Courier New" pitchFamily="34" charset="-122"/>
                <a:cs typeface="Courier New" pitchFamily="34" charset="-120"/>
              </a:rPr>
              <a:t>$ </a:t>
            </a:r>
            <a:r>
              <a:rPr lang="en-US" sz="1100" dirty="0">
                <a:solidFill>
                  <a:srgbClr val="E6EDF3"/>
                </a:solidFill>
                <a:latin typeface="Courier New" pitchFamily="34" charset="0"/>
                <a:ea typeface="Courier New" pitchFamily="34" charset="-122"/>
                <a:cs typeface="Courier New" pitchFamily="34" charset="-120"/>
              </a:rPr>
              <a:t>wheels generate scaffold Post \</a:t>
            </a:r>
            <a:endParaRPr lang="en-US" sz="1100" dirty="0"/>
          </a:p>
          <a:p>
            <a:pPr marL="0" indent="0">
              <a:lnSpc>
                <a:spcPct val="115000"/>
              </a:lnSpc>
              <a:buNone/>
            </a:pPr>
            <a:r>
              <a:rPr lang="en-US" sz="1100" dirty="0">
                <a:solidFill>
                  <a:srgbClr val="E6EDF3"/>
                </a:solidFill>
                <a:latin typeface="Courier New" pitchFamily="34" charset="0"/>
                <a:ea typeface="Courier New" pitchFamily="34" charset="-122"/>
                <a:cs typeface="Courier New" pitchFamily="34" charset="-120"/>
              </a:rPr>
              <a:t>    title:string body:text publishedAt:datetime</a:t>
            </a:r>
            <a:endParaRPr lang="en-US" sz="1100" dirty="0"/>
          </a:p>
          <a:p>
            <a:pPr marL="0" indent="0">
              <a:lnSpc>
                <a:spcPct val="115000"/>
              </a:lnSpc>
              <a:buNone/>
            </a:pPr>
            <a:endParaRPr lang="en-US" sz="1100" dirty="0"/>
          </a:p>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app/models/Post.cfc</a:t>
            </a:r>
            <a:endParaRPr lang="en-US" sz="1100" dirty="0"/>
          </a:p>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app/migrator/migrations/…_create_posts_table.cfc</a:t>
            </a:r>
            <a:endParaRPr lang="en-US" sz="1100" dirty="0"/>
          </a:p>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app/controllers/Posts.cfc</a:t>
            </a:r>
            <a:endParaRPr lang="en-US" sz="1100" dirty="0"/>
          </a:p>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app/views/posts/{index,show,new,edit,_form}.cfm</a:t>
            </a:r>
            <a:endParaRPr lang="en-US" sz="1100" dirty="0"/>
          </a:p>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tests/specs/models/PostSpec.cfc</a:t>
            </a:r>
            <a:endParaRPr lang="en-US" sz="1100" dirty="0"/>
          </a:p>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tests/specs/controllers/PostsControllerSpec.cfc</a:t>
            </a:r>
            <a:endParaRPr lang="en-US" sz="1100" dirty="0"/>
          </a:p>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config/routes.cfm  +.resources("posts")</a:t>
            </a:r>
            <a:endParaRPr lang="en-US" sz="1100" dirty="0"/>
          </a:p>
          <a:p>
            <a:pPr marL="0" indent="0">
              <a:lnSpc>
                <a:spcPct val="115000"/>
              </a:lnSpc>
              <a:buNone/>
            </a:pPr>
            <a:endParaRPr lang="en-US" sz="1100" dirty="0"/>
          </a:p>
          <a:p>
            <a:pPr marL="0" indent="0">
              <a:lnSpc>
                <a:spcPct val="115000"/>
              </a:lnSpc>
              <a:buNone/>
            </a:pPr>
            <a:r>
              <a:rPr lang="en-US" sz="1100" dirty="0">
                <a:solidFill>
                  <a:srgbClr val="EF3B2D"/>
                </a:solidFill>
                <a:latin typeface="Courier New" pitchFamily="34" charset="0"/>
                <a:ea typeface="Courier New" pitchFamily="34" charset="-122"/>
                <a:cs typeface="Courier New" pitchFamily="34" charset="-120"/>
              </a:rPr>
              <a:t>$ </a:t>
            </a:r>
            <a:r>
              <a:rPr lang="en-US" sz="1100" dirty="0">
                <a:solidFill>
                  <a:srgbClr val="E6EDF3"/>
                </a:solidFill>
                <a:latin typeface="Courier New" pitchFamily="34" charset="0"/>
                <a:ea typeface="Courier New" pitchFamily="34" charset="-122"/>
                <a:cs typeface="Courier New" pitchFamily="34" charset="-120"/>
              </a:rPr>
              <a:t>wheels migrate latest</a:t>
            </a:r>
            <a:endParaRPr lang="en-US" sz="1100" dirty="0"/>
          </a:p>
          <a:p>
            <a:pPr marL="0" indent="0">
              <a:lnSpc>
                <a:spcPct val="115000"/>
              </a:lnSpc>
              <a:buNone/>
            </a:pPr>
            <a:r>
              <a:rPr lang="en-US" sz="1100" dirty="0">
                <a:solidFill>
                  <a:srgbClr val="EF3B2D"/>
                </a:solidFill>
                <a:latin typeface="Courier New" pitchFamily="34" charset="0"/>
                <a:ea typeface="Courier New" pitchFamily="34" charset="-122"/>
                <a:cs typeface="Courier New" pitchFamily="34" charset="-120"/>
              </a:rPr>
              <a:t>$ </a:t>
            </a:r>
            <a:r>
              <a:rPr lang="en-US" sz="1100" dirty="0">
                <a:solidFill>
                  <a:srgbClr val="E6EDF3"/>
                </a:solidFill>
                <a:latin typeface="Courier New" pitchFamily="34" charset="0"/>
                <a:ea typeface="Courier New" pitchFamily="34" charset="-122"/>
                <a:cs typeface="Courier New" pitchFamily="34" charset="-120"/>
              </a:rPr>
              <a:t>wheels routes</a:t>
            </a:r>
            <a:endParaRPr lang="en-US" sz="1100" dirty="0"/>
          </a:p>
        </p:txBody>
      </p:sp>
      <p:sp>
        <p:nvSpPr>
          <p:cNvPr id="12" name="Text 9"/>
          <p:cNvSpPr txBox="1"/>
          <p:nvPr/>
        </p:nvSpPr>
        <p:spPr>
          <a:xfrm>
            <a:off x="5669280" y="1463040"/>
            <a:ext cx="3017520" cy="3017520"/>
          </a:xfrm>
          <a:prstGeom prst="rect">
            <a:avLst/>
          </a:prstGeom>
          <a:noFill/>
          <a:ln/>
        </p:spPr>
        <p:txBody>
          <a:bodyPr wrap="square" lIns="0" tIns="0" rIns="0" bIns="0" rtlCol="0" anchor="t"/>
          <a:lstStyle/>
          <a:p>
            <a:pPr marL="0" indent="0">
              <a:buNone/>
            </a:pPr>
            <a:r>
              <a:rPr lang="en-US" sz="1400" i="1" dirty="0">
                <a:solidFill>
                  <a:srgbClr val="C9D3DD"/>
                </a:solidFill>
                <a:latin typeface="Calibri" pitchFamily="34" charset="0"/>
                <a:ea typeface="Calibri" pitchFamily="34" charset="-122"/>
                <a:cs typeface="Calibri" pitchFamily="34" charset="-120"/>
              </a:rPr>
              <a:t>“Singular model, plural controller, plural table. I never told it any of that.”</a:t>
            </a:r>
            <a:endParaRPr lang="en-US" sz="1400" dirty="0"/>
          </a:p>
          <a:p>
            <a:pPr marL="0" indent="0">
              <a:buNone/>
            </a:pPr>
            <a:endParaRPr lang="en-US" sz="1400" dirty="0"/>
          </a:p>
          <a:p>
            <a:pPr marL="0" indent="0">
              <a:buNone/>
            </a:pPr>
            <a:r>
              <a:rPr lang="en-US" sz="1400" i="1" dirty="0">
                <a:solidFill>
                  <a:srgbClr val="C9D3DD"/>
                </a:solidFill>
                <a:latin typeface="Calibri" pitchFamily="34" charset="0"/>
                <a:ea typeface="Calibri" pitchFamily="34" charset="-122"/>
                <a:cs typeface="Calibri" pitchFamily="34" charset="-120"/>
              </a:rPr>
              <a:t>Over the route table: seven routes, one line of config, named helpers so views never hard-code a URL.</a:t>
            </a:r>
            <a:endParaRPr lang="en-US" sz="1400" dirty="0"/>
          </a:p>
          <a:p>
            <a:pPr marL="0" indent="0">
              <a:buNone/>
            </a:pPr>
            <a:endParaRPr lang="en-US" sz="1400" dirty="0"/>
          </a:p>
          <a:p>
            <a:pPr marL="0" indent="0">
              <a:buNone/>
            </a:pPr>
            <a:r>
              <a:rPr lang="en-US" sz="1400" i="1" dirty="0">
                <a:solidFill>
                  <a:srgbClr val="C9D3DD"/>
                </a:solidFill>
                <a:latin typeface="Calibri" pitchFamily="34" charset="0"/>
                <a:ea typeface="Calibri" pitchFamily="34" charset="-122"/>
                <a:cs typeface="Calibri" pitchFamily="34" charset="-120"/>
              </a:rPr>
              <a:t>Then the browser: /posts → create → edit → delete. Slowly. This is the payoff shot.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1620"/>
        </a:solidFill>
        <a:effectLst/>
      </p:bgPr>
    </p:bg>
    <p:spTree>
      <p:nvGrpSpPr>
        <p:cNvPr id="1" name=""/>
        <p:cNvGrpSpPr/>
        <p:nvPr/>
      </p:nvGrpSpPr>
      <p:grpSpPr>
        <a:xfrm>
          <a:off x="0" y="0"/>
          <a:ext cx="0" cy="0"/>
          <a:chOff x="0" y="0"/>
          <a:chExt cx="0" cy="0"/>
        </a:xfrm>
      </p:grpSpPr>
      <p:pic>
        <p:nvPicPr>
          <p:cNvPr id="2" name="Image 0" descr="/home/claude/deck/assets/mark-t.png"/>
          <p:cNvPicPr>
            <a:picLocks noChangeAspect="1"/>
          </p:cNvPicPr>
          <p:nvPr/>
        </p:nvPicPr>
        <p:blipFill>
          <a:blip r:embed="rId3"/>
          <a:stretch>
            <a:fillRect/>
          </a:stretch>
        </p:blipFill>
        <p:spPr>
          <a:xfrm>
            <a:off x="8092440" y="384048"/>
            <a:ext cx="594360" cy="365760"/>
          </a:xfrm>
          <a:prstGeom prst="rect">
            <a:avLst/>
          </a:prstGeom>
        </p:spPr>
      </p:pic>
      <p:sp>
        <p:nvSpPr>
          <p:cNvPr id="3" name="Text 0"/>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9AA7B4"/>
                </a:solidFill>
                <a:latin typeface="Calibri" pitchFamily="34" charset="0"/>
                <a:ea typeface="Calibri" pitchFamily="34" charset="-122"/>
                <a:cs typeface="Calibri" pitchFamily="34" charset="-120"/>
              </a:rPr>
              <a:t>wheels.dev   ·   Mid-Michigan CFUG · Sept 15, 2026</a:t>
            </a:r>
            <a:endParaRPr lang="en-US" sz="900" dirty="0"/>
          </a:p>
        </p:txBody>
      </p:sp>
      <p:sp>
        <p:nvSpPr>
          <p:cNvPr id="4" name="Text 1"/>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9AA7B4"/>
                </a:solidFill>
                <a:latin typeface="Calibri" pitchFamily="34" charset="0"/>
                <a:ea typeface="Calibri" pitchFamily="34" charset="-122"/>
                <a:cs typeface="Calibri" pitchFamily="34" charset="-120"/>
              </a:rPr>
              <a:t>15</a:t>
            </a:r>
            <a:endParaRPr lang="en-US" sz="900" dirty="0"/>
          </a:p>
        </p:txBody>
      </p:sp>
      <p:sp>
        <p:nvSpPr>
          <p:cNvPr id="5" name="Text 2"/>
          <p:cNvSpPr txBox="1"/>
          <p:nvPr/>
        </p:nvSpPr>
        <p:spPr>
          <a:xfrm>
            <a:off x="457200" y="320040"/>
            <a:ext cx="5486400" cy="274320"/>
          </a:xfrm>
          <a:prstGeom prst="rect">
            <a:avLst/>
          </a:prstGeom>
          <a:noFill/>
          <a:ln/>
        </p:spPr>
        <p:txBody>
          <a:bodyPr wrap="square" lIns="0" tIns="0" rIns="0" bIns="0" rtlCol="0" anchor="ctr"/>
          <a:lstStyle/>
          <a:p>
            <a:pPr marL="0" indent="0">
              <a:buNone/>
            </a:pPr>
            <a:r>
              <a:rPr lang="en-US" sz="1000" b="1" kern="0" spc="200" dirty="0">
                <a:solidFill>
                  <a:srgbClr val="EF3B2D"/>
                </a:solidFill>
                <a:latin typeface="Calibri" pitchFamily="34" charset="0"/>
                <a:ea typeface="Calibri" pitchFamily="34" charset="-122"/>
                <a:cs typeface="Calibri" pitchFamily="34" charset="-120"/>
              </a:rPr>
              <a:t>LIVE DEMO · BEAT 3 OF 8 · ~5 MIN</a:t>
            </a:r>
            <a:endParaRPr lang="en-US" sz="1000" dirty="0"/>
          </a:p>
        </p:txBody>
      </p:sp>
      <p:sp>
        <p:nvSpPr>
          <p:cNvPr id="6" name="Text 3"/>
          <p:cNvSpPr txBox="1"/>
          <p:nvPr/>
        </p:nvSpPr>
        <p:spPr>
          <a:xfrm>
            <a:off x="457200" y="594360"/>
            <a:ext cx="7498080" cy="64008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It wrote files. They have your name on them.</a:t>
            </a:r>
            <a:endParaRPr lang="en-US" sz="3000" dirty="0"/>
          </a:p>
        </p:txBody>
      </p:sp>
      <p:sp>
        <p:nvSpPr>
          <p:cNvPr id="7" name="Shape 4"/>
          <p:cNvSpPr/>
          <p:nvPr/>
        </p:nvSpPr>
        <p:spPr>
          <a:xfrm>
            <a:off x="457200" y="1417320"/>
            <a:ext cx="4937760" cy="3108960"/>
          </a:xfrm>
          <a:prstGeom prst="roundRect">
            <a:avLst>
              <a:gd name="adj" fmla="val 2353"/>
            </a:avLst>
          </a:prstGeom>
          <a:solidFill>
            <a:srgbClr val="060D14"/>
          </a:solidFill>
          <a:ln w="12700">
            <a:solidFill>
              <a:srgbClr val="060D14"/>
            </a:solidFill>
            <a:prstDash val="solid"/>
          </a:ln>
        </p:spPr>
        <p:txBody>
          <a:bodyPr/>
          <a:lstStyle/>
          <a:p>
            <a:endParaRPr lang="en-US"/>
          </a:p>
        </p:txBody>
      </p:sp>
      <p:sp>
        <p:nvSpPr>
          <p:cNvPr id="8" name="Shape 5"/>
          <p:cNvSpPr/>
          <p:nvPr/>
        </p:nvSpPr>
        <p:spPr>
          <a:xfrm>
            <a:off x="594360" y="1536192"/>
            <a:ext cx="91440" cy="91440"/>
          </a:xfrm>
          <a:prstGeom prst="ellipse">
            <a:avLst/>
          </a:prstGeom>
          <a:solidFill>
            <a:srgbClr val="EF3B2D"/>
          </a:solidFill>
          <a:ln w="12700">
            <a:solidFill>
              <a:srgbClr val="EF3B2D"/>
            </a:solidFill>
            <a:prstDash val="solid"/>
          </a:ln>
        </p:spPr>
        <p:txBody>
          <a:bodyPr/>
          <a:lstStyle/>
          <a:p>
            <a:endParaRPr lang="en-US"/>
          </a:p>
        </p:txBody>
      </p:sp>
      <p:sp>
        <p:nvSpPr>
          <p:cNvPr id="9" name="Shape 6"/>
          <p:cNvSpPr/>
          <p:nvPr/>
        </p:nvSpPr>
        <p:spPr>
          <a:xfrm>
            <a:off x="758952" y="1536192"/>
            <a:ext cx="91440" cy="91440"/>
          </a:xfrm>
          <a:prstGeom prst="ellipse">
            <a:avLst/>
          </a:prstGeom>
          <a:solidFill>
            <a:srgbClr val="F5B62E"/>
          </a:solidFill>
          <a:ln w="12700">
            <a:solidFill>
              <a:srgbClr val="F5B62E"/>
            </a:solidFill>
            <a:prstDash val="solid"/>
          </a:ln>
        </p:spPr>
        <p:txBody>
          <a:bodyPr/>
          <a:lstStyle/>
          <a:p>
            <a:endParaRPr lang="en-US"/>
          </a:p>
        </p:txBody>
      </p:sp>
      <p:sp>
        <p:nvSpPr>
          <p:cNvPr id="10" name="Shape 7"/>
          <p:cNvSpPr/>
          <p:nvPr/>
        </p:nvSpPr>
        <p:spPr>
          <a:xfrm>
            <a:off x="923544" y="1536192"/>
            <a:ext cx="91440" cy="91440"/>
          </a:xfrm>
          <a:prstGeom prst="ellipse">
            <a:avLst/>
          </a:prstGeom>
          <a:solidFill>
            <a:srgbClr val="3DDC84"/>
          </a:solidFill>
          <a:ln w="12700">
            <a:solidFill>
              <a:srgbClr val="3DDC84"/>
            </a:solidFill>
            <a:prstDash val="solid"/>
          </a:ln>
        </p:spPr>
        <p:txBody>
          <a:bodyPr/>
          <a:lstStyle/>
          <a:p>
            <a:endParaRPr lang="en-US"/>
          </a:p>
        </p:txBody>
      </p:sp>
      <p:sp>
        <p:nvSpPr>
          <p:cNvPr id="11" name="Text 8"/>
          <p:cNvSpPr txBox="1"/>
          <p:nvPr/>
        </p:nvSpPr>
        <p:spPr>
          <a:xfrm>
            <a:off x="640080" y="1737360"/>
            <a:ext cx="4572000" cy="2697480"/>
          </a:xfrm>
          <a:prstGeom prst="rect">
            <a:avLst/>
          </a:prstGeom>
          <a:noFill/>
          <a:ln/>
        </p:spPr>
        <p:txBody>
          <a:bodyPr wrap="square" lIns="0" tIns="0" rIns="0" bIns="0" rtlCol="0" anchor="t"/>
          <a:lstStyle/>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app/models/Post.cfc</a:t>
            </a:r>
            <a:endParaRPr lang="en-US" sz="1100" dirty="0"/>
          </a:p>
          <a:p>
            <a:pPr marL="0" indent="0">
              <a:lnSpc>
                <a:spcPct val="115000"/>
              </a:lnSpc>
              <a:buNone/>
            </a:pPr>
            <a:r>
              <a:rPr lang="en-US" sz="1100" dirty="0">
                <a:solidFill>
                  <a:srgbClr val="EF3B2D"/>
                </a:solidFill>
                <a:latin typeface="Courier New" pitchFamily="34" charset="0"/>
                <a:ea typeface="Courier New" pitchFamily="34" charset="-122"/>
                <a:cs typeface="Courier New" pitchFamily="34" charset="-120"/>
              </a:rPr>
              <a:t>component</a:t>
            </a:r>
            <a:r>
              <a:rPr lang="en-US" sz="1100" dirty="0">
                <a:solidFill>
                  <a:srgbClr val="E6EDF3"/>
                </a:solidFill>
                <a:latin typeface="Courier New" pitchFamily="34" charset="0"/>
                <a:ea typeface="Courier New" pitchFamily="34" charset="-122"/>
                <a:cs typeface="Courier New" pitchFamily="34" charset="-120"/>
              </a:rPr>
              <a:t> extends=</a:t>
            </a:r>
            <a:r>
              <a:rPr lang="en-US" sz="1100" dirty="0">
                <a:solidFill>
                  <a:srgbClr val="3DDC84"/>
                </a:solidFill>
                <a:latin typeface="Courier New" pitchFamily="34" charset="0"/>
                <a:ea typeface="Courier New" pitchFamily="34" charset="-122"/>
                <a:cs typeface="Courier New" pitchFamily="34" charset="-120"/>
              </a:rPr>
              <a:t>"Model"</a:t>
            </a:r>
            <a:r>
              <a:rPr lang="en-US" sz="1100" dirty="0">
                <a:solidFill>
                  <a:srgbClr val="E6EDF3"/>
                </a:solidFill>
                <a:latin typeface="Courier New" pitchFamily="34" charset="0"/>
                <a:ea typeface="Courier New" pitchFamily="34" charset="-122"/>
                <a:cs typeface="Courier New" pitchFamily="34" charset="-120"/>
              </a:rPr>
              <a:t> {</a:t>
            </a:r>
            <a:endParaRPr lang="en-US" sz="1100" dirty="0"/>
          </a:p>
          <a:p>
            <a:pPr marL="0" indent="0">
              <a:lnSpc>
                <a:spcPct val="115000"/>
              </a:lnSpc>
              <a:buNone/>
            </a:pPr>
            <a:r>
              <a:rPr lang="en-US" sz="1100" dirty="0">
                <a:solidFill>
                  <a:srgbClr val="E6EDF3"/>
                </a:solidFill>
                <a:latin typeface="Courier New" pitchFamily="34" charset="0"/>
                <a:ea typeface="Courier New" pitchFamily="34" charset="-122"/>
                <a:cs typeface="Courier New" pitchFamily="34" charset="-120"/>
              </a:rPr>
              <a:t>  </a:t>
            </a:r>
            <a:r>
              <a:rPr lang="en-US" sz="1100" dirty="0">
                <a:solidFill>
                  <a:srgbClr val="EF3B2D"/>
                </a:solidFill>
                <a:latin typeface="Courier New" pitchFamily="34" charset="0"/>
                <a:ea typeface="Courier New" pitchFamily="34" charset="-122"/>
                <a:cs typeface="Courier New" pitchFamily="34" charset="-120"/>
              </a:rPr>
              <a:t>function</a:t>
            </a:r>
            <a:r>
              <a:rPr lang="en-US" sz="1100" dirty="0">
                <a:solidFill>
                  <a:srgbClr val="E6EDF3"/>
                </a:solidFill>
                <a:latin typeface="Courier New" pitchFamily="34" charset="0"/>
                <a:ea typeface="Courier New" pitchFamily="34" charset="-122"/>
                <a:cs typeface="Courier New" pitchFamily="34" charset="-120"/>
              </a:rPr>
              <a:t> config() {</a:t>
            </a:r>
            <a:endParaRPr lang="en-US" sz="1100" dirty="0"/>
          </a:p>
          <a:p>
            <a:pPr marL="0" indent="0">
              <a:lnSpc>
                <a:spcPct val="115000"/>
              </a:lnSpc>
              <a:buNone/>
            </a:pPr>
            <a:r>
              <a:rPr lang="en-US" sz="1100" dirty="0">
                <a:solidFill>
                  <a:srgbClr val="E6EDF3"/>
                </a:solidFill>
                <a:latin typeface="Courier New" pitchFamily="34" charset="0"/>
                <a:ea typeface="Courier New" pitchFamily="34" charset="-122"/>
                <a:cs typeface="Courier New" pitchFamily="34" charset="-120"/>
              </a:rPr>
              <a:t>    validatesPresenceOf(</a:t>
            </a:r>
            <a:r>
              <a:rPr lang="en-US" sz="1100" dirty="0">
                <a:solidFill>
                  <a:srgbClr val="3DDC84"/>
                </a:solidFill>
                <a:latin typeface="Courier New" pitchFamily="34" charset="0"/>
                <a:ea typeface="Courier New" pitchFamily="34" charset="-122"/>
                <a:cs typeface="Courier New" pitchFamily="34" charset="-120"/>
              </a:rPr>
              <a:t>"title,body"</a:t>
            </a:r>
            <a:r>
              <a:rPr lang="en-US" sz="1100" dirty="0">
                <a:solidFill>
                  <a:srgbClr val="E6EDF3"/>
                </a:solidFill>
                <a:latin typeface="Courier New" pitchFamily="34" charset="0"/>
                <a:ea typeface="Courier New" pitchFamily="34" charset="-122"/>
                <a:cs typeface="Courier New" pitchFamily="34" charset="-120"/>
              </a:rPr>
              <a:t>);</a:t>
            </a:r>
            <a:endParaRPr lang="en-US" sz="1100" dirty="0"/>
          </a:p>
          <a:p>
            <a:pPr marL="0" indent="0">
              <a:lnSpc>
                <a:spcPct val="115000"/>
              </a:lnSpc>
              <a:buNone/>
            </a:pPr>
            <a:r>
              <a:rPr lang="en-US" sz="1100" dirty="0">
                <a:solidFill>
                  <a:srgbClr val="E6EDF3"/>
                </a:solidFill>
                <a:latin typeface="Courier New" pitchFamily="34" charset="0"/>
                <a:ea typeface="Courier New" pitchFamily="34" charset="-122"/>
                <a:cs typeface="Courier New" pitchFamily="34" charset="-120"/>
              </a:rPr>
              <a:t>    validatesLengthOf(property=</a:t>
            </a:r>
            <a:r>
              <a:rPr lang="en-US" sz="1100" dirty="0">
                <a:solidFill>
                  <a:srgbClr val="3DDC84"/>
                </a:solidFill>
                <a:latin typeface="Courier New" pitchFamily="34" charset="0"/>
                <a:ea typeface="Courier New" pitchFamily="34" charset="-122"/>
                <a:cs typeface="Courier New" pitchFamily="34" charset="-120"/>
              </a:rPr>
              <a:t>"title"</a:t>
            </a:r>
            <a:r>
              <a:rPr lang="en-US" sz="1100" dirty="0">
                <a:solidFill>
                  <a:srgbClr val="E6EDF3"/>
                </a:solidFill>
                <a:latin typeface="Courier New" pitchFamily="34" charset="0"/>
                <a:ea typeface="Courier New" pitchFamily="34" charset="-122"/>
                <a:cs typeface="Courier New" pitchFamily="34" charset="-120"/>
              </a:rPr>
              <a:t>, maximum=120);</a:t>
            </a:r>
            <a:endParaRPr lang="en-US" sz="1100" dirty="0"/>
          </a:p>
          <a:p>
            <a:pPr marL="0" indent="0">
              <a:lnSpc>
                <a:spcPct val="115000"/>
              </a:lnSpc>
              <a:buNone/>
            </a:pPr>
            <a:r>
              <a:rPr lang="en-US" sz="1100" dirty="0">
                <a:solidFill>
                  <a:srgbClr val="E6EDF3"/>
                </a:solidFill>
                <a:latin typeface="Courier New" pitchFamily="34" charset="0"/>
                <a:ea typeface="Courier New" pitchFamily="34" charset="-122"/>
                <a:cs typeface="Courier New" pitchFamily="34" charset="-120"/>
              </a:rPr>
              <a:t>    hasMany(</a:t>
            </a:r>
            <a:r>
              <a:rPr lang="en-US" sz="1100" dirty="0">
                <a:solidFill>
                  <a:srgbClr val="3DDC84"/>
                </a:solidFill>
                <a:latin typeface="Courier New" pitchFamily="34" charset="0"/>
                <a:ea typeface="Courier New" pitchFamily="34" charset="-122"/>
                <a:cs typeface="Courier New" pitchFamily="34" charset="-120"/>
              </a:rPr>
              <a:t>"comments"</a:t>
            </a:r>
            <a:r>
              <a:rPr lang="en-US" sz="1100" dirty="0">
                <a:solidFill>
                  <a:srgbClr val="E6EDF3"/>
                </a:solidFill>
                <a:latin typeface="Courier New" pitchFamily="34" charset="0"/>
                <a:ea typeface="Courier New" pitchFamily="34" charset="-122"/>
                <a:cs typeface="Courier New" pitchFamily="34" charset="-120"/>
              </a:rPr>
              <a:t>);</a:t>
            </a:r>
            <a:endParaRPr lang="en-US" sz="1100" dirty="0"/>
          </a:p>
          <a:p>
            <a:pPr marL="0" indent="0">
              <a:lnSpc>
                <a:spcPct val="115000"/>
              </a:lnSpc>
              <a:buNone/>
            </a:pPr>
            <a:r>
              <a:rPr lang="en-US" sz="1100" dirty="0">
                <a:solidFill>
                  <a:srgbClr val="E6EDF3"/>
                </a:solidFill>
                <a:latin typeface="Courier New" pitchFamily="34" charset="0"/>
                <a:ea typeface="Courier New" pitchFamily="34" charset="-122"/>
                <a:cs typeface="Courier New" pitchFamily="34" charset="-120"/>
              </a:rPr>
              <a:t>  }</a:t>
            </a:r>
            <a:endParaRPr lang="en-US" sz="1100" dirty="0"/>
          </a:p>
          <a:p>
            <a:pPr marL="0" indent="0">
              <a:lnSpc>
                <a:spcPct val="115000"/>
              </a:lnSpc>
              <a:buNone/>
            </a:pPr>
            <a:r>
              <a:rPr lang="en-US" sz="1100" dirty="0">
                <a:solidFill>
                  <a:srgbClr val="E6EDF3"/>
                </a:solidFill>
                <a:latin typeface="Courier New" pitchFamily="34" charset="0"/>
                <a:ea typeface="Courier New" pitchFamily="34" charset="-122"/>
                <a:cs typeface="Courier New" pitchFamily="34" charset="-120"/>
              </a:rPr>
              <a:t>}</a:t>
            </a:r>
            <a:endParaRPr lang="en-US" sz="1100" dirty="0"/>
          </a:p>
          <a:p>
            <a:pPr marL="0" indent="0">
              <a:lnSpc>
                <a:spcPct val="115000"/>
              </a:lnSpc>
              <a:buNone/>
            </a:pPr>
            <a:endParaRPr lang="en-US" sz="1100" dirty="0"/>
          </a:p>
          <a:p>
            <a:pPr marL="0" indent="0">
              <a:lnSpc>
                <a:spcPct val="115000"/>
              </a:lnSpc>
              <a:buNone/>
            </a:pPr>
            <a:r>
              <a:rPr lang="en-US" sz="1100" dirty="0">
                <a:solidFill>
                  <a:srgbClr val="EF3B2D"/>
                </a:solidFill>
                <a:latin typeface="Courier New" pitchFamily="34" charset="0"/>
                <a:ea typeface="Courier New" pitchFamily="34" charset="-122"/>
                <a:cs typeface="Courier New" pitchFamily="34" charset="-120"/>
              </a:rPr>
              <a:t>$ </a:t>
            </a:r>
            <a:r>
              <a:rPr lang="en-US" sz="1100" dirty="0">
                <a:solidFill>
                  <a:srgbClr val="E6EDF3"/>
                </a:solidFill>
                <a:latin typeface="Courier New" pitchFamily="34" charset="0"/>
                <a:ea typeface="Courier New" pitchFamily="34" charset="-122"/>
                <a:cs typeface="Courier New" pitchFamily="34" charset="-120"/>
              </a:rPr>
              <a:t>wheels reload</a:t>
            </a:r>
            <a:endParaRPr lang="en-US" sz="1100" dirty="0"/>
          </a:p>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submit an empty form → errors, no view changes</a:t>
            </a:r>
            <a:endParaRPr lang="en-US" sz="1100" dirty="0"/>
          </a:p>
        </p:txBody>
      </p:sp>
      <p:sp>
        <p:nvSpPr>
          <p:cNvPr id="12" name="Text 9"/>
          <p:cNvSpPr txBox="1"/>
          <p:nvPr/>
        </p:nvSpPr>
        <p:spPr>
          <a:xfrm>
            <a:off x="5669280" y="1463040"/>
            <a:ext cx="3017520" cy="3017520"/>
          </a:xfrm>
          <a:prstGeom prst="rect">
            <a:avLst/>
          </a:prstGeom>
          <a:noFill/>
          <a:ln/>
        </p:spPr>
        <p:txBody>
          <a:bodyPr wrap="square" lIns="0" tIns="0" rIns="0" bIns="0" rtlCol="0" anchor="t"/>
          <a:lstStyle/>
          <a:p>
            <a:pPr marL="0" indent="0">
              <a:buNone/>
            </a:pPr>
            <a:r>
              <a:rPr lang="en-US" sz="1400" i="1" dirty="0">
                <a:solidFill>
                  <a:srgbClr val="C9D3DD"/>
                </a:solidFill>
                <a:latin typeface="Calibri" pitchFamily="34" charset="0"/>
                <a:ea typeface="Calibri" pitchFamily="34" charset="-122"/>
                <a:cs typeface="Calibri" pitchFamily="34" charset="-120"/>
              </a:rPr>
              <a:t>“This is the difference between a scaffold and a black box. There's no runtime magic inventing a form from my model — it wrote files. I can delete half of this and it still runs.”</a:t>
            </a:r>
            <a:endParaRPr lang="en-US" sz="1400" dirty="0"/>
          </a:p>
          <a:p>
            <a:pPr marL="0" indent="0">
              <a:buNone/>
            </a:pPr>
            <a:endParaRPr lang="en-US" sz="1400" dirty="0"/>
          </a:p>
          <a:p>
            <a:pPr marL="0" indent="0">
              <a:buNone/>
            </a:pPr>
            <a:r>
              <a:rPr lang="en-US" sz="1400" i="1" dirty="0">
                <a:solidFill>
                  <a:srgbClr val="C9D3DD"/>
                </a:solidFill>
                <a:latin typeface="Calibri" pitchFamily="34" charset="0"/>
                <a:ea typeface="Calibri" pitchFamily="34" charset="-122"/>
                <a:cs typeface="Calibri" pitchFamily="34" charset="-120"/>
              </a:rPr>
              <a:t>First hand-typed code of the night. Make it count.</a:t>
            </a:r>
            <a:endParaRPr lang="en-US" sz="1400" dirty="0"/>
          </a:p>
          <a:p>
            <a:pPr marL="0" indent="0">
              <a:buNone/>
            </a:pPr>
            <a:endParaRPr lang="en-US" sz="1400" dirty="0"/>
          </a:p>
          <a:p>
            <a:pPr marL="0" indent="0">
              <a:buNone/>
            </a:pPr>
            <a:r>
              <a:rPr lang="en-US" sz="1400" i="1" dirty="0">
                <a:solidFill>
                  <a:srgbClr val="C9D3DD"/>
                </a:solidFill>
                <a:latin typeface="Calibri" pitchFamily="34" charset="0"/>
                <a:ea typeface="Calibri" pitchFamily="34" charset="-122"/>
                <a:cs typeface="Calibri" pitchFamily="34" charset="-120"/>
              </a:rPr>
              <a:t>“The form partial already knew how to render errors. That's the convention paying you back the second time.”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1620"/>
        </a:solidFill>
        <a:effectLst/>
      </p:bgPr>
    </p:bg>
    <p:spTree>
      <p:nvGrpSpPr>
        <p:cNvPr id="1" name=""/>
        <p:cNvGrpSpPr/>
        <p:nvPr/>
      </p:nvGrpSpPr>
      <p:grpSpPr>
        <a:xfrm>
          <a:off x="0" y="0"/>
          <a:ext cx="0" cy="0"/>
          <a:chOff x="0" y="0"/>
          <a:chExt cx="0" cy="0"/>
        </a:xfrm>
      </p:grpSpPr>
      <p:pic>
        <p:nvPicPr>
          <p:cNvPr id="2" name="Image 0" descr="/home/claude/deck/assets/mark-t.png"/>
          <p:cNvPicPr>
            <a:picLocks noChangeAspect="1"/>
          </p:cNvPicPr>
          <p:nvPr/>
        </p:nvPicPr>
        <p:blipFill>
          <a:blip r:embed="rId3"/>
          <a:stretch>
            <a:fillRect/>
          </a:stretch>
        </p:blipFill>
        <p:spPr>
          <a:xfrm>
            <a:off x="8092440" y="384048"/>
            <a:ext cx="594360" cy="365760"/>
          </a:xfrm>
          <a:prstGeom prst="rect">
            <a:avLst/>
          </a:prstGeom>
        </p:spPr>
      </p:pic>
      <p:sp>
        <p:nvSpPr>
          <p:cNvPr id="3" name="Text 0"/>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9AA7B4"/>
                </a:solidFill>
                <a:latin typeface="Calibri" pitchFamily="34" charset="0"/>
                <a:ea typeface="Calibri" pitchFamily="34" charset="-122"/>
                <a:cs typeface="Calibri" pitchFamily="34" charset="-120"/>
              </a:rPr>
              <a:t>wheels.dev   ·   Mid-Michigan CFUG · Sept 15, 2026</a:t>
            </a:r>
            <a:endParaRPr lang="en-US" sz="900" dirty="0"/>
          </a:p>
        </p:txBody>
      </p:sp>
      <p:sp>
        <p:nvSpPr>
          <p:cNvPr id="4" name="Text 1"/>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9AA7B4"/>
                </a:solidFill>
                <a:latin typeface="Calibri" pitchFamily="34" charset="0"/>
                <a:ea typeface="Calibri" pitchFamily="34" charset="-122"/>
                <a:cs typeface="Calibri" pitchFamily="34" charset="-120"/>
              </a:rPr>
              <a:t>16</a:t>
            </a:r>
            <a:endParaRPr lang="en-US" sz="900" dirty="0"/>
          </a:p>
        </p:txBody>
      </p:sp>
      <p:sp>
        <p:nvSpPr>
          <p:cNvPr id="5" name="Text 2"/>
          <p:cNvSpPr txBox="1"/>
          <p:nvPr/>
        </p:nvSpPr>
        <p:spPr>
          <a:xfrm>
            <a:off x="457200" y="320040"/>
            <a:ext cx="5486400" cy="274320"/>
          </a:xfrm>
          <a:prstGeom prst="rect">
            <a:avLst/>
          </a:prstGeom>
          <a:noFill/>
          <a:ln/>
        </p:spPr>
        <p:txBody>
          <a:bodyPr wrap="square" lIns="0" tIns="0" rIns="0" bIns="0" rtlCol="0" anchor="ctr"/>
          <a:lstStyle/>
          <a:p>
            <a:pPr marL="0" indent="0">
              <a:buNone/>
            </a:pPr>
            <a:r>
              <a:rPr lang="en-US" sz="1000" b="1" kern="0" spc="200" dirty="0">
                <a:solidFill>
                  <a:srgbClr val="EF3B2D"/>
                </a:solidFill>
                <a:latin typeface="Calibri" pitchFamily="34" charset="0"/>
                <a:ea typeface="Calibri" pitchFamily="34" charset="-122"/>
                <a:cs typeface="Calibri" pitchFamily="34" charset="-120"/>
              </a:rPr>
              <a:t>LIVE DEMO · BEAT 4 OF 8 · ~5 MIN</a:t>
            </a:r>
            <a:endParaRPr lang="en-US" sz="1000" dirty="0"/>
          </a:p>
        </p:txBody>
      </p:sp>
      <p:sp>
        <p:nvSpPr>
          <p:cNvPr id="6" name="Text 3"/>
          <p:cNvSpPr txBox="1"/>
          <p:nvPr/>
        </p:nvSpPr>
        <p:spPr>
          <a:xfrm>
            <a:off x="457200" y="594360"/>
            <a:ext cx="7498080" cy="64008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Associations and a REPL</a:t>
            </a:r>
            <a:endParaRPr lang="en-US" sz="3000" dirty="0"/>
          </a:p>
        </p:txBody>
      </p:sp>
      <p:sp>
        <p:nvSpPr>
          <p:cNvPr id="7" name="Shape 4"/>
          <p:cNvSpPr/>
          <p:nvPr/>
        </p:nvSpPr>
        <p:spPr>
          <a:xfrm>
            <a:off x="457200" y="1417320"/>
            <a:ext cx="4937760" cy="3108960"/>
          </a:xfrm>
          <a:prstGeom prst="roundRect">
            <a:avLst>
              <a:gd name="adj" fmla="val 2353"/>
            </a:avLst>
          </a:prstGeom>
          <a:solidFill>
            <a:srgbClr val="060D14"/>
          </a:solidFill>
          <a:ln w="12700">
            <a:solidFill>
              <a:srgbClr val="060D14"/>
            </a:solidFill>
            <a:prstDash val="solid"/>
          </a:ln>
        </p:spPr>
        <p:txBody>
          <a:bodyPr/>
          <a:lstStyle/>
          <a:p>
            <a:endParaRPr lang="en-US"/>
          </a:p>
        </p:txBody>
      </p:sp>
      <p:sp>
        <p:nvSpPr>
          <p:cNvPr id="8" name="Shape 5"/>
          <p:cNvSpPr/>
          <p:nvPr/>
        </p:nvSpPr>
        <p:spPr>
          <a:xfrm>
            <a:off x="594360" y="1536192"/>
            <a:ext cx="91440" cy="91440"/>
          </a:xfrm>
          <a:prstGeom prst="ellipse">
            <a:avLst/>
          </a:prstGeom>
          <a:solidFill>
            <a:srgbClr val="EF3B2D"/>
          </a:solidFill>
          <a:ln w="12700">
            <a:solidFill>
              <a:srgbClr val="EF3B2D"/>
            </a:solidFill>
            <a:prstDash val="solid"/>
          </a:ln>
        </p:spPr>
        <p:txBody>
          <a:bodyPr/>
          <a:lstStyle/>
          <a:p>
            <a:endParaRPr lang="en-US"/>
          </a:p>
        </p:txBody>
      </p:sp>
      <p:sp>
        <p:nvSpPr>
          <p:cNvPr id="9" name="Shape 6"/>
          <p:cNvSpPr/>
          <p:nvPr/>
        </p:nvSpPr>
        <p:spPr>
          <a:xfrm>
            <a:off x="758952" y="1536192"/>
            <a:ext cx="91440" cy="91440"/>
          </a:xfrm>
          <a:prstGeom prst="ellipse">
            <a:avLst/>
          </a:prstGeom>
          <a:solidFill>
            <a:srgbClr val="F5B62E"/>
          </a:solidFill>
          <a:ln w="12700">
            <a:solidFill>
              <a:srgbClr val="F5B62E"/>
            </a:solidFill>
            <a:prstDash val="solid"/>
          </a:ln>
        </p:spPr>
        <p:txBody>
          <a:bodyPr/>
          <a:lstStyle/>
          <a:p>
            <a:endParaRPr lang="en-US"/>
          </a:p>
        </p:txBody>
      </p:sp>
      <p:sp>
        <p:nvSpPr>
          <p:cNvPr id="10" name="Shape 7"/>
          <p:cNvSpPr/>
          <p:nvPr/>
        </p:nvSpPr>
        <p:spPr>
          <a:xfrm>
            <a:off x="923544" y="1536192"/>
            <a:ext cx="91440" cy="91440"/>
          </a:xfrm>
          <a:prstGeom prst="ellipse">
            <a:avLst/>
          </a:prstGeom>
          <a:solidFill>
            <a:srgbClr val="3DDC84"/>
          </a:solidFill>
          <a:ln w="12700">
            <a:solidFill>
              <a:srgbClr val="3DDC84"/>
            </a:solidFill>
            <a:prstDash val="solid"/>
          </a:ln>
        </p:spPr>
        <p:txBody>
          <a:bodyPr/>
          <a:lstStyle/>
          <a:p>
            <a:endParaRPr lang="en-US"/>
          </a:p>
        </p:txBody>
      </p:sp>
      <p:sp>
        <p:nvSpPr>
          <p:cNvPr id="11" name="Text 8"/>
          <p:cNvSpPr txBox="1"/>
          <p:nvPr/>
        </p:nvSpPr>
        <p:spPr>
          <a:xfrm>
            <a:off x="640080" y="1737360"/>
            <a:ext cx="4572000" cy="2697480"/>
          </a:xfrm>
          <a:prstGeom prst="rect">
            <a:avLst/>
          </a:prstGeom>
          <a:noFill/>
          <a:ln/>
        </p:spPr>
        <p:txBody>
          <a:bodyPr wrap="square" lIns="0" tIns="0" rIns="0" bIns="0" rtlCol="0" anchor="t"/>
          <a:lstStyle/>
          <a:p>
            <a:pPr marL="0" indent="0">
              <a:lnSpc>
                <a:spcPct val="115000"/>
              </a:lnSpc>
              <a:buNone/>
            </a:pPr>
            <a:r>
              <a:rPr lang="en-US" sz="1100" dirty="0">
                <a:solidFill>
                  <a:srgbClr val="EF3B2D"/>
                </a:solidFill>
                <a:latin typeface="Courier New" pitchFamily="34" charset="0"/>
                <a:ea typeface="Courier New" pitchFamily="34" charset="-122"/>
                <a:cs typeface="Courier New" pitchFamily="34" charset="-120"/>
              </a:rPr>
              <a:t>$ </a:t>
            </a:r>
            <a:r>
              <a:rPr lang="en-US" sz="1100" dirty="0">
                <a:solidFill>
                  <a:srgbClr val="E6EDF3"/>
                </a:solidFill>
                <a:latin typeface="Courier New" pitchFamily="34" charset="0"/>
                <a:ea typeface="Courier New" pitchFamily="34" charset="-122"/>
                <a:cs typeface="Courier New" pitchFamily="34" charset="-120"/>
              </a:rPr>
              <a:t>wheels generate scaffold Comment body:text \</a:t>
            </a:r>
            <a:endParaRPr lang="en-US" sz="1100" dirty="0"/>
          </a:p>
          <a:p>
            <a:pPr marL="0" indent="0">
              <a:lnSpc>
                <a:spcPct val="115000"/>
              </a:lnSpc>
              <a:buNone/>
            </a:pPr>
            <a:r>
              <a:rPr lang="en-US" sz="1100" dirty="0">
                <a:solidFill>
                  <a:srgbClr val="E6EDF3"/>
                </a:solidFill>
                <a:latin typeface="Courier New" pitchFamily="34" charset="0"/>
                <a:ea typeface="Courier New" pitchFamily="34" charset="-122"/>
                <a:cs typeface="Courier New" pitchFamily="34" charset="-120"/>
              </a:rPr>
              <a:t>    --belongsTo=post</a:t>
            </a:r>
            <a:endParaRPr lang="en-US" sz="1100" dirty="0"/>
          </a:p>
          <a:p>
            <a:pPr marL="0" indent="0">
              <a:lnSpc>
                <a:spcPct val="115000"/>
              </a:lnSpc>
              <a:buNone/>
            </a:pPr>
            <a:r>
              <a:rPr lang="en-US" sz="1100" dirty="0">
                <a:solidFill>
                  <a:srgbClr val="EF3B2D"/>
                </a:solidFill>
                <a:latin typeface="Courier New" pitchFamily="34" charset="0"/>
                <a:ea typeface="Courier New" pitchFamily="34" charset="-122"/>
                <a:cs typeface="Courier New" pitchFamily="34" charset="-120"/>
              </a:rPr>
              <a:t>$ </a:t>
            </a:r>
            <a:r>
              <a:rPr lang="en-US" sz="1100" dirty="0">
                <a:solidFill>
                  <a:srgbClr val="E6EDF3"/>
                </a:solidFill>
                <a:latin typeface="Courier New" pitchFamily="34" charset="0"/>
                <a:ea typeface="Courier New" pitchFamily="34" charset="-122"/>
                <a:cs typeface="Courier New" pitchFamily="34" charset="-120"/>
              </a:rPr>
              <a:t>wheels migrate latest</a:t>
            </a:r>
            <a:endParaRPr lang="en-US" sz="1100" dirty="0"/>
          </a:p>
          <a:p>
            <a:pPr marL="0" indent="0">
              <a:lnSpc>
                <a:spcPct val="115000"/>
              </a:lnSpc>
              <a:buNone/>
            </a:pPr>
            <a:endParaRPr lang="en-US" sz="1100" dirty="0"/>
          </a:p>
          <a:p>
            <a:pPr marL="0" indent="0">
              <a:lnSpc>
                <a:spcPct val="115000"/>
              </a:lnSpc>
              <a:buNone/>
            </a:pPr>
            <a:r>
              <a:rPr lang="en-US" sz="1100" dirty="0">
                <a:solidFill>
                  <a:srgbClr val="EF3B2D"/>
                </a:solidFill>
                <a:latin typeface="Courier New" pitchFamily="34" charset="0"/>
                <a:ea typeface="Courier New" pitchFamily="34" charset="-122"/>
                <a:cs typeface="Courier New" pitchFamily="34" charset="-120"/>
              </a:rPr>
              <a:t>$ </a:t>
            </a:r>
            <a:r>
              <a:rPr lang="en-US" sz="1100" dirty="0">
                <a:solidFill>
                  <a:srgbClr val="E6EDF3"/>
                </a:solidFill>
                <a:latin typeface="Courier New" pitchFamily="34" charset="0"/>
                <a:ea typeface="Courier New" pitchFamily="34" charset="-122"/>
                <a:cs typeface="Courier New" pitchFamily="34" charset="-120"/>
              </a:rPr>
              <a:t>wheels console</a:t>
            </a:r>
            <a:endParaRPr lang="en-US" sz="1100" dirty="0"/>
          </a:p>
          <a:p>
            <a:pPr marL="0" indent="0">
              <a:lnSpc>
                <a:spcPct val="115000"/>
              </a:lnSpc>
              <a:buNone/>
            </a:pPr>
            <a:r>
              <a:rPr lang="en-US" sz="1100" dirty="0">
                <a:solidFill>
                  <a:srgbClr val="E6EDF3"/>
                </a:solidFill>
                <a:latin typeface="Courier New" pitchFamily="34" charset="0"/>
                <a:ea typeface="Courier New" pitchFamily="34" charset="-122"/>
                <a:cs typeface="Courier New" pitchFamily="34" charset="-120"/>
              </a:rPr>
              <a:t>wheels&gt; post = model(</a:t>
            </a:r>
            <a:r>
              <a:rPr lang="en-US" sz="1100" dirty="0">
                <a:solidFill>
                  <a:srgbClr val="3DDC84"/>
                </a:solidFill>
                <a:latin typeface="Courier New" pitchFamily="34" charset="0"/>
                <a:ea typeface="Courier New" pitchFamily="34" charset="-122"/>
                <a:cs typeface="Courier New" pitchFamily="34" charset="-120"/>
              </a:rPr>
              <a:t>"Post"</a:t>
            </a:r>
            <a:r>
              <a:rPr lang="en-US" sz="1100" dirty="0">
                <a:solidFill>
                  <a:srgbClr val="E6EDF3"/>
                </a:solidFill>
                <a:latin typeface="Courier New" pitchFamily="34" charset="0"/>
                <a:ea typeface="Courier New" pitchFamily="34" charset="-122"/>
                <a:cs typeface="Courier New" pitchFamily="34" charset="-120"/>
              </a:rPr>
              <a:t>).findOne(include=</a:t>
            </a:r>
            <a:r>
              <a:rPr lang="en-US" sz="1100" dirty="0">
                <a:solidFill>
                  <a:srgbClr val="3DDC84"/>
                </a:solidFill>
                <a:latin typeface="Courier New" pitchFamily="34" charset="0"/>
                <a:ea typeface="Courier New" pitchFamily="34" charset="-122"/>
                <a:cs typeface="Courier New" pitchFamily="34" charset="-120"/>
              </a:rPr>
              <a:t>"comments"</a:t>
            </a:r>
            <a:r>
              <a:rPr lang="en-US" sz="1100" dirty="0">
                <a:solidFill>
                  <a:srgbClr val="E6EDF3"/>
                </a:solidFill>
                <a:latin typeface="Courier New" pitchFamily="34" charset="0"/>
                <a:ea typeface="Courier New" pitchFamily="34" charset="-122"/>
                <a:cs typeface="Courier New" pitchFamily="34" charset="-120"/>
              </a:rPr>
              <a:t>);</a:t>
            </a:r>
            <a:endParaRPr lang="en-US" sz="1100" dirty="0"/>
          </a:p>
          <a:p>
            <a:pPr marL="0" indent="0">
              <a:lnSpc>
                <a:spcPct val="115000"/>
              </a:lnSpc>
              <a:buNone/>
            </a:pPr>
            <a:r>
              <a:rPr lang="en-US" sz="1100" dirty="0">
                <a:solidFill>
                  <a:srgbClr val="E6EDF3"/>
                </a:solidFill>
                <a:latin typeface="Courier New" pitchFamily="34" charset="0"/>
                <a:ea typeface="Courier New" pitchFamily="34" charset="-122"/>
                <a:cs typeface="Courier New" pitchFamily="34" charset="-120"/>
              </a:rPr>
              <a:t>wheels&gt; post.title</a:t>
            </a:r>
            <a:endParaRPr lang="en-US" sz="1100" dirty="0"/>
          </a:p>
          <a:p>
            <a:pPr marL="0" indent="0">
              <a:lnSpc>
                <a:spcPct val="115000"/>
              </a:lnSpc>
              <a:buNone/>
            </a:pPr>
            <a:r>
              <a:rPr lang="en-US" sz="1100" dirty="0">
                <a:solidFill>
                  <a:srgbClr val="E6EDF3"/>
                </a:solidFill>
                <a:latin typeface="Courier New" pitchFamily="34" charset="0"/>
                <a:ea typeface="Courier New" pitchFamily="34" charset="-122"/>
                <a:cs typeface="Courier New" pitchFamily="34" charset="-120"/>
              </a:rPr>
              <a:t>wheels&gt; model(</a:t>
            </a:r>
            <a:r>
              <a:rPr lang="en-US" sz="1100" dirty="0">
                <a:solidFill>
                  <a:srgbClr val="3DDC84"/>
                </a:solidFill>
                <a:latin typeface="Courier New" pitchFamily="34" charset="0"/>
                <a:ea typeface="Courier New" pitchFamily="34" charset="-122"/>
                <a:cs typeface="Courier New" pitchFamily="34" charset="-120"/>
              </a:rPr>
              <a:t>"Post"</a:t>
            </a:r>
            <a:r>
              <a:rPr lang="en-US" sz="1100" dirty="0">
                <a:solidFill>
                  <a:srgbClr val="E6EDF3"/>
                </a:solidFill>
                <a:latin typeface="Courier New" pitchFamily="34" charset="0"/>
                <a:ea typeface="Courier New" pitchFamily="34" charset="-122"/>
                <a:cs typeface="Courier New" pitchFamily="34" charset="-120"/>
              </a:rPr>
              <a:t>)</a:t>
            </a:r>
            <a:endParaRPr lang="en-US" sz="1100" dirty="0"/>
          </a:p>
          <a:p>
            <a:pPr marL="0" indent="0">
              <a:lnSpc>
                <a:spcPct val="115000"/>
              </a:lnSpc>
              <a:buNone/>
            </a:pPr>
            <a:r>
              <a:rPr lang="en-US" sz="1100" dirty="0">
                <a:solidFill>
                  <a:srgbClr val="E6EDF3"/>
                </a:solidFill>
                <a:latin typeface="Courier New" pitchFamily="34" charset="0"/>
                <a:ea typeface="Courier New" pitchFamily="34" charset="-122"/>
                <a:cs typeface="Courier New" pitchFamily="34" charset="-120"/>
              </a:rPr>
              <a:t>          .where(</a:t>
            </a:r>
            <a:r>
              <a:rPr lang="en-US" sz="1100" dirty="0">
                <a:solidFill>
                  <a:srgbClr val="3DDC84"/>
                </a:solidFill>
                <a:latin typeface="Courier New" pitchFamily="34" charset="0"/>
                <a:ea typeface="Courier New" pitchFamily="34" charset="-122"/>
                <a:cs typeface="Courier New" pitchFamily="34" charset="-120"/>
              </a:rPr>
              <a:t>"title LIKE '%Wheels%'"</a:t>
            </a:r>
            <a:r>
              <a:rPr lang="en-US" sz="1100" dirty="0">
                <a:solidFill>
                  <a:srgbClr val="E6EDF3"/>
                </a:solidFill>
                <a:latin typeface="Courier New" pitchFamily="34" charset="0"/>
                <a:ea typeface="Courier New" pitchFamily="34" charset="-122"/>
                <a:cs typeface="Courier New" pitchFamily="34" charset="-120"/>
              </a:rPr>
              <a:t>)</a:t>
            </a:r>
            <a:endParaRPr lang="en-US" sz="1100" dirty="0"/>
          </a:p>
          <a:p>
            <a:pPr marL="0" indent="0">
              <a:lnSpc>
                <a:spcPct val="115000"/>
              </a:lnSpc>
              <a:buNone/>
            </a:pPr>
            <a:r>
              <a:rPr lang="en-US" sz="1100" dirty="0">
                <a:solidFill>
                  <a:srgbClr val="E6EDF3"/>
                </a:solidFill>
                <a:latin typeface="Courier New" pitchFamily="34" charset="0"/>
                <a:ea typeface="Courier New" pitchFamily="34" charset="-122"/>
                <a:cs typeface="Courier New" pitchFamily="34" charset="-120"/>
              </a:rPr>
              <a:t>          .orderBy(</a:t>
            </a:r>
            <a:r>
              <a:rPr lang="en-US" sz="1100" dirty="0">
                <a:solidFill>
                  <a:srgbClr val="3DDC84"/>
                </a:solidFill>
                <a:latin typeface="Courier New" pitchFamily="34" charset="0"/>
                <a:ea typeface="Courier New" pitchFamily="34" charset="-122"/>
                <a:cs typeface="Courier New" pitchFamily="34" charset="-120"/>
              </a:rPr>
              <a:t>"publishedAt DESC"</a:t>
            </a:r>
            <a:r>
              <a:rPr lang="en-US" sz="1100" dirty="0">
                <a:solidFill>
                  <a:srgbClr val="E6EDF3"/>
                </a:solidFill>
                <a:latin typeface="Courier New" pitchFamily="34" charset="0"/>
                <a:ea typeface="Courier New" pitchFamily="34" charset="-122"/>
                <a:cs typeface="Courier New" pitchFamily="34" charset="-120"/>
              </a:rPr>
              <a:t>).get()</a:t>
            </a:r>
            <a:endParaRPr lang="en-US" sz="1100" dirty="0"/>
          </a:p>
        </p:txBody>
      </p:sp>
      <p:sp>
        <p:nvSpPr>
          <p:cNvPr id="12" name="Text 9"/>
          <p:cNvSpPr txBox="1"/>
          <p:nvPr/>
        </p:nvSpPr>
        <p:spPr>
          <a:xfrm>
            <a:off x="5669280" y="1463040"/>
            <a:ext cx="3017520" cy="3017520"/>
          </a:xfrm>
          <a:prstGeom prst="rect">
            <a:avLst/>
          </a:prstGeom>
          <a:noFill/>
          <a:ln/>
        </p:spPr>
        <p:txBody>
          <a:bodyPr wrap="square" lIns="0" tIns="0" rIns="0" bIns="0" rtlCol="0" anchor="t"/>
          <a:lstStyle/>
          <a:p>
            <a:pPr marL="0" indent="0">
              <a:buNone/>
            </a:pPr>
            <a:r>
              <a:rPr lang="en-US" sz="1400" i="1" dirty="0">
                <a:solidFill>
                  <a:srgbClr val="C9D3DD"/>
                </a:solidFill>
                <a:latin typeface="Calibri" pitchFamily="34" charset="0"/>
                <a:ea typeface="Calibri" pitchFamily="34" charset="-122"/>
                <a:cs typeface="Calibri" pitchFamily="34" charset="-120"/>
              </a:rPr>
              <a:t>“--belongsTo=post added the postId column and wired belongsTo into the model. hasMany on Post was already there, so the relationship is complete both ways.”</a:t>
            </a:r>
            <a:endParaRPr lang="en-US" sz="1400" dirty="0"/>
          </a:p>
          <a:p>
            <a:pPr marL="0" indent="0">
              <a:buNone/>
            </a:pPr>
            <a:endParaRPr lang="en-US" sz="1400" dirty="0"/>
          </a:p>
          <a:p>
            <a:pPr marL="0" indent="0">
              <a:buNone/>
            </a:pPr>
            <a:r>
              <a:rPr lang="en-US" sz="1400" i="1" dirty="0">
                <a:solidFill>
                  <a:srgbClr val="C9D3DD"/>
                </a:solidFill>
                <a:latin typeface="Calibri" pitchFamily="34" charset="0"/>
                <a:ea typeface="Calibri" pitchFamily="34" charset="-122"/>
                <a:cs typeface="Calibri" pitchFamily="34" charset="-120"/>
              </a:rPr>
              <a:t>Most CF developers have never had a REPL. Enjoy the moment.</a:t>
            </a:r>
            <a:endParaRPr lang="en-US" sz="1400" dirty="0"/>
          </a:p>
          <a:p>
            <a:pPr marL="0" indent="0">
              <a:buNone/>
            </a:pPr>
            <a:endParaRPr lang="en-US" sz="1400" dirty="0"/>
          </a:p>
          <a:p>
            <a:pPr marL="0" indent="0">
              <a:buNone/>
            </a:pPr>
            <a:r>
              <a:rPr lang="en-US" sz="1400" i="1" dirty="0">
                <a:solidFill>
                  <a:srgbClr val="C9D3DD"/>
                </a:solidFill>
                <a:latin typeface="Calibri" pitchFamily="34" charset="0"/>
                <a:ea typeface="Calibri" pitchFamily="34" charset="-122"/>
                <a:cs typeface="Calibri" pitchFamily="34" charset="-120"/>
              </a:rPr>
              <a:t>“Every one of those becomes a cfqueryparam. You cannot accidentally write SQL injection with the finder API.”</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1620"/>
        </a:solidFill>
        <a:effectLst/>
      </p:bgPr>
    </p:bg>
    <p:spTree>
      <p:nvGrpSpPr>
        <p:cNvPr id="1" name=""/>
        <p:cNvGrpSpPr/>
        <p:nvPr/>
      </p:nvGrpSpPr>
      <p:grpSpPr>
        <a:xfrm>
          <a:off x="0" y="0"/>
          <a:ext cx="0" cy="0"/>
          <a:chOff x="0" y="0"/>
          <a:chExt cx="0" cy="0"/>
        </a:xfrm>
      </p:grpSpPr>
      <p:pic>
        <p:nvPicPr>
          <p:cNvPr id="2" name="Image 0" descr="/home/claude/deck/assets/mark-t.png"/>
          <p:cNvPicPr>
            <a:picLocks noChangeAspect="1"/>
          </p:cNvPicPr>
          <p:nvPr/>
        </p:nvPicPr>
        <p:blipFill>
          <a:blip r:embed="rId3"/>
          <a:stretch>
            <a:fillRect/>
          </a:stretch>
        </p:blipFill>
        <p:spPr>
          <a:xfrm>
            <a:off x="8092440" y="384048"/>
            <a:ext cx="594360" cy="365760"/>
          </a:xfrm>
          <a:prstGeom prst="rect">
            <a:avLst/>
          </a:prstGeom>
        </p:spPr>
      </p:pic>
      <p:sp>
        <p:nvSpPr>
          <p:cNvPr id="3" name="Text 0"/>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9AA7B4"/>
                </a:solidFill>
                <a:latin typeface="Calibri" pitchFamily="34" charset="0"/>
                <a:ea typeface="Calibri" pitchFamily="34" charset="-122"/>
                <a:cs typeface="Calibri" pitchFamily="34" charset="-120"/>
              </a:rPr>
              <a:t>wheels.dev   ·   Mid-Michigan CFUG · Sept 15, 2026</a:t>
            </a:r>
            <a:endParaRPr lang="en-US" sz="900" dirty="0"/>
          </a:p>
        </p:txBody>
      </p:sp>
      <p:sp>
        <p:nvSpPr>
          <p:cNvPr id="4" name="Text 1"/>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9AA7B4"/>
                </a:solidFill>
                <a:latin typeface="Calibri" pitchFamily="34" charset="0"/>
                <a:ea typeface="Calibri" pitchFamily="34" charset="-122"/>
                <a:cs typeface="Calibri" pitchFamily="34" charset="-120"/>
              </a:rPr>
              <a:t>17</a:t>
            </a:r>
            <a:endParaRPr lang="en-US" sz="900" dirty="0"/>
          </a:p>
        </p:txBody>
      </p:sp>
      <p:sp>
        <p:nvSpPr>
          <p:cNvPr id="5" name="Text 2"/>
          <p:cNvSpPr txBox="1"/>
          <p:nvPr/>
        </p:nvSpPr>
        <p:spPr>
          <a:xfrm>
            <a:off x="457200" y="320040"/>
            <a:ext cx="5486400" cy="274320"/>
          </a:xfrm>
          <a:prstGeom prst="rect">
            <a:avLst/>
          </a:prstGeom>
          <a:noFill/>
          <a:ln/>
        </p:spPr>
        <p:txBody>
          <a:bodyPr wrap="square" lIns="0" tIns="0" rIns="0" bIns="0" rtlCol="0" anchor="ctr"/>
          <a:lstStyle/>
          <a:p>
            <a:pPr marL="0" indent="0">
              <a:buNone/>
            </a:pPr>
            <a:r>
              <a:rPr lang="en-US" sz="1000" b="1" kern="0" spc="200" dirty="0">
                <a:solidFill>
                  <a:srgbClr val="EF3B2D"/>
                </a:solidFill>
                <a:latin typeface="Calibri" pitchFamily="34" charset="0"/>
                <a:ea typeface="Calibri" pitchFamily="34" charset="-122"/>
                <a:cs typeface="Calibri" pitchFamily="34" charset="-120"/>
              </a:rPr>
              <a:t>LIVE DEMO · BEAT 5 OF 8 · ~10 MIN</a:t>
            </a:r>
            <a:endParaRPr lang="en-US" sz="1000" dirty="0"/>
          </a:p>
        </p:txBody>
      </p:sp>
      <p:sp>
        <p:nvSpPr>
          <p:cNvPr id="6" name="Text 3"/>
          <p:cNvSpPr txBox="1"/>
          <p:nvPr/>
        </p:nvSpPr>
        <p:spPr>
          <a:xfrm>
            <a:off x="457200" y="594360"/>
            <a:ext cx="7498080" cy="64008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Authentication and authorization</a:t>
            </a:r>
            <a:endParaRPr lang="en-US" sz="3000" dirty="0"/>
          </a:p>
        </p:txBody>
      </p:sp>
      <p:sp>
        <p:nvSpPr>
          <p:cNvPr id="7" name="Shape 4"/>
          <p:cNvSpPr/>
          <p:nvPr/>
        </p:nvSpPr>
        <p:spPr>
          <a:xfrm>
            <a:off x="457200" y="1417320"/>
            <a:ext cx="4937760" cy="3108960"/>
          </a:xfrm>
          <a:prstGeom prst="roundRect">
            <a:avLst>
              <a:gd name="adj" fmla="val 2353"/>
            </a:avLst>
          </a:prstGeom>
          <a:solidFill>
            <a:srgbClr val="060D14"/>
          </a:solidFill>
          <a:ln w="12700">
            <a:solidFill>
              <a:srgbClr val="060D14"/>
            </a:solidFill>
            <a:prstDash val="solid"/>
          </a:ln>
        </p:spPr>
        <p:txBody>
          <a:bodyPr/>
          <a:lstStyle/>
          <a:p>
            <a:endParaRPr lang="en-US"/>
          </a:p>
        </p:txBody>
      </p:sp>
      <p:sp>
        <p:nvSpPr>
          <p:cNvPr id="8" name="Shape 5"/>
          <p:cNvSpPr/>
          <p:nvPr/>
        </p:nvSpPr>
        <p:spPr>
          <a:xfrm>
            <a:off x="594360" y="1536192"/>
            <a:ext cx="91440" cy="91440"/>
          </a:xfrm>
          <a:prstGeom prst="ellipse">
            <a:avLst/>
          </a:prstGeom>
          <a:solidFill>
            <a:srgbClr val="EF3B2D"/>
          </a:solidFill>
          <a:ln w="12700">
            <a:solidFill>
              <a:srgbClr val="EF3B2D"/>
            </a:solidFill>
            <a:prstDash val="solid"/>
          </a:ln>
        </p:spPr>
        <p:txBody>
          <a:bodyPr/>
          <a:lstStyle/>
          <a:p>
            <a:endParaRPr lang="en-US"/>
          </a:p>
        </p:txBody>
      </p:sp>
      <p:sp>
        <p:nvSpPr>
          <p:cNvPr id="9" name="Shape 6"/>
          <p:cNvSpPr/>
          <p:nvPr/>
        </p:nvSpPr>
        <p:spPr>
          <a:xfrm>
            <a:off x="758952" y="1536192"/>
            <a:ext cx="91440" cy="91440"/>
          </a:xfrm>
          <a:prstGeom prst="ellipse">
            <a:avLst/>
          </a:prstGeom>
          <a:solidFill>
            <a:srgbClr val="F5B62E"/>
          </a:solidFill>
          <a:ln w="12700">
            <a:solidFill>
              <a:srgbClr val="F5B62E"/>
            </a:solidFill>
            <a:prstDash val="solid"/>
          </a:ln>
        </p:spPr>
        <p:txBody>
          <a:bodyPr/>
          <a:lstStyle/>
          <a:p>
            <a:endParaRPr lang="en-US"/>
          </a:p>
        </p:txBody>
      </p:sp>
      <p:sp>
        <p:nvSpPr>
          <p:cNvPr id="10" name="Shape 7"/>
          <p:cNvSpPr/>
          <p:nvPr/>
        </p:nvSpPr>
        <p:spPr>
          <a:xfrm>
            <a:off x="923544" y="1536192"/>
            <a:ext cx="91440" cy="91440"/>
          </a:xfrm>
          <a:prstGeom prst="ellipse">
            <a:avLst/>
          </a:prstGeom>
          <a:solidFill>
            <a:srgbClr val="3DDC84"/>
          </a:solidFill>
          <a:ln w="12700">
            <a:solidFill>
              <a:srgbClr val="3DDC84"/>
            </a:solidFill>
            <a:prstDash val="solid"/>
          </a:ln>
        </p:spPr>
        <p:txBody>
          <a:bodyPr/>
          <a:lstStyle/>
          <a:p>
            <a:endParaRPr lang="en-US"/>
          </a:p>
        </p:txBody>
      </p:sp>
      <p:sp>
        <p:nvSpPr>
          <p:cNvPr id="11" name="Text 8"/>
          <p:cNvSpPr txBox="1"/>
          <p:nvPr/>
        </p:nvSpPr>
        <p:spPr>
          <a:xfrm>
            <a:off x="640080" y="1737360"/>
            <a:ext cx="4572000" cy="2697480"/>
          </a:xfrm>
          <a:prstGeom prst="rect">
            <a:avLst/>
          </a:prstGeom>
          <a:noFill/>
          <a:ln/>
        </p:spPr>
        <p:txBody>
          <a:bodyPr wrap="square" lIns="0" tIns="0" rIns="0" bIns="0" rtlCol="0" anchor="t"/>
          <a:lstStyle/>
          <a:p>
            <a:pPr marL="0" indent="0">
              <a:lnSpc>
                <a:spcPct val="115000"/>
              </a:lnSpc>
              <a:buNone/>
            </a:pPr>
            <a:r>
              <a:rPr lang="en-US" sz="1100" dirty="0">
                <a:solidFill>
                  <a:srgbClr val="EF3B2D"/>
                </a:solidFill>
                <a:latin typeface="Courier New" pitchFamily="34" charset="0"/>
                <a:ea typeface="Courier New" pitchFamily="34" charset="-122"/>
                <a:cs typeface="Courier New" pitchFamily="34" charset="-120"/>
              </a:rPr>
              <a:t>$ </a:t>
            </a:r>
            <a:r>
              <a:rPr lang="en-US" sz="1100" dirty="0">
                <a:solidFill>
                  <a:srgbClr val="E6EDF3"/>
                </a:solidFill>
                <a:latin typeface="Courier New" pitchFamily="34" charset="0"/>
                <a:ea typeface="Courier New" pitchFamily="34" charset="-122"/>
                <a:cs typeface="Courier New" pitchFamily="34" charset="-120"/>
              </a:rPr>
              <a:t>wheels generate auth --strategy=session</a:t>
            </a:r>
            <a:endParaRPr lang="en-US" sz="1100" dirty="0"/>
          </a:p>
          <a:p>
            <a:pPr marL="0" indent="0">
              <a:lnSpc>
                <a:spcPct val="115000"/>
              </a:lnSpc>
              <a:buNone/>
            </a:pPr>
            <a:r>
              <a:rPr lang="en-US" sz="1100" dirty="0">
                <a:solidFill>
                  <a:srgbClr val="EF3B2D"/>
                </a:solidFill>
                <a:latin typeface="Courier New" pitchFamily="34" charset="0"/>
                <a:ea typeface="Courier New" pitchFamily="34" charset="-122"/>
                <a:cs typeface="Courier New" pitchFamily="34" charset="-120"/>
              </a:rPr>
              <a:t>$ </a:t>
            </a:r>
            <a:r>
              <a:rPr lang="en-US" sz="1100" dirty="0">
                <a:solidFill>
                  <a:srgbClr val="E6EDF3"/>
                </a:solidFill>
                <a:latin typeface="Courier New" pitchFamily="34" charset="0"/>
                <a:ea typeface="Courier New" pitchFamily="34" charset="-122"/>
                <a:cs typeface="Courier New" pitchFamily="34" charset="-120"/>
              </a:rPr>
              <a:t>wheels migrate latest</a:t>
            </a:r>
            <a:endParaRPr lang="en-US" sz="1100" dirty="0"/>
          </a:p>
          <a:p>
            <a:pPr marL="0" indent="0">
              <a:lnSpc>
                <a:spcPct val="115000"/>
              </a:lnSpc>
              <a:buNone/>
            </a:pPr>
            <a:endParaRPr lang="en-US" sz="1100" dirty="0"/>
          </a:p>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User model · Sessions/Registrations/Passwords</a:t>
            </a:r>
            <a:endParaRPr lang="en-US" sz="1100" dirty="0"/>
          </a:p>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CSRF-safe views · users migration, unique email</a:t>
            </a:r>
            <a:endParaRPr lang="en-US" sz="1100" dirty="0"/>
          </a:p>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routes + services injected · specs generated</a:t>
            </a:r>
            <a:endParaRPr lang="en-US" sz="1100" dirty="0"/>
          </a:p>
          <a:p>
            <a:pPr marL="0" indent="0">
              <a:lnSpc>
                <a:spcPct val="115000"/>
              </a:lnSpc>
              <a:buNone/>
            </a:pPr>
            <a:endParaRPr lang="en-US" sz="1100" dirty="0"/>
          </a:p>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PBKDF2-HMAC-SHA256 · 600k iterations · random salt</a:t>
            </a:r>
            <a:endParaRPr lang="en-US" sz="1100" dirty="0"/>
          </a:p>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constant-time verify() · needsRehash()</a:t>
            </a:r>
            <a:endParaRPr lang="en-US" sz="1100" dirty="0"/>
          </a:p>
          <a:p>
            <a:pPr marL="0" indent="0">
              <a:lnSpc>
                <a:spcPct val="115000"/>
              </a:lnSpc>
              <a:buNone/>
            </a:pPr>
            <a:endParaRPr lang="en-US" sz="1100" dirty="0"/>
          </a:p>
          <a:p>
            <a:pPr marL="0" indent="0">
              <a:lnSpc>
                <a:spcPct val="115000"/>
              </a:lnSpc>
              <a:buNone/>
            </a:pPr>
            <a:r>
              <a:rPr lang="en-US" sz="1100" dirty="0">
                <a:solidFill>
                  <a:srgbClr val="EF3B2D"/>
                </a:solidFill>
                <a:latin typeface="Courier New" pitchFamily="34" charset="0"/>
                <a:ea typeface="Courier New" pitchFamily="34" charset="-122"/>
                <a:cs typeface="Courier New" pitchFamily="34" charset="-120"/>
              </a:rPr>
              <a:t>$ </a:t>
            </a:r>
            <a:r>
              <a:rPr lang="en-US" sz="1100" dirty="0">
                <a:solidFill>
                  <a:srgbClr val="E6EDF3"/>
                </a:solidFill>
                <a:latin typeface="Courier New" pitchFamily="34" charset="0"/>
                <a:ea typeface="Courier New" pitchFamily="34" charset="-122"/>
                <a:cs typeface="Courier New" pitchFamily="34" charset="-120"/>
              </a:rPr>
              <a:t>wheels generate policy Post</a:t>
            </a:r>
            <a:endParaRPr lang="en-US" sz="1100" dirty="0"/>
          </a:p>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app/policies/PostPolicy.cfc  (default-deny)</a:t>
            </a:r>
            <a:endParaRPr lang="en-US" sz="1100" dirty="0"/>
          </a:p>
        </p:txBody>
      </p:sp>
      <p:sp>
        <p:nvSpPr>
          <p:cNvPr id="12" name="Text 9"/>
          <p:cNvSpPr txBox="1"/>
          <p:nvPr/>
        </p:nvSpPr>
        <p:spPr>
          <a:xfrm>
            <a:off x="5669280" y="1463040"/>
            <a:ext cx="3017520" cy="3017520"/>
          </a:xfrm>
          <a:prstGeom prst="rect">
            <a:avLst/>
          </a:prstGeom>
          <a:noFill/>
          <a:ln/>
        </p:spPr>
        <p:txBody>
          <a:bodyPr wrap="square" lIns="0" tIns="0" rIns="0" bIns="0" rtlCol="0" anchor="t"/>
          <a:lstStyle/>
          <a:p>
            <a:pPr marL="0" indent="0">
              <a:buNone/>
            </a:pPr>
            <a:r>
              <a:rPr lang="en-US" sz="1400" i="1" dirty="0">
                <a:solidFill>
                  <a:srgbClr val="C9D3DD"/>
                </a:solidFill>
                <a:latin typeface="Calibri" pitchFamily="34" charset="0"/>
                <a:ea typeface="Calibri" pitchFamily="34" charset="-122"/>
                <a:cs typeface="Calibri" pitchFamily="34" charset="-120"/>
              </a:rPr>
              <a:t>This is the beat that says 2026, not 2009. Don't rush it.</a:t>
            </a:r>
            <a:endParaRPr lang="en-US" sz="1400" dirty="0"/>
          </a:p>
          <a:p>
            <a:pPr marL="0" indent="0">
              <a:buNone/>
            </a:pPr>
            <a:endParaRPr lang="en-US" sz="1400" dirty="0"/>
          </a:p>
          <a:p>
            <a:pPr marL="0" indent="0">
              <a:buNone/>
            </a:pPr>
            <a:r>
              <a:rPr lang="en-US" sz="1400" i="1" dirty="0">
                <a:solidFill>
                  <a:srgbClr val="C9D3DD"/>
                </a:solidFill>
                <a:latin typeface="Calibri" pitchFamily="34" charset="0"/>
                <a:ea typeface="Calibri" pitchFamily="34" charset="-122"/>
                <a:cs typeface="Calibri" pitchFamily="34" charset="-120"/>
              </a:rPr>
              <a:t>“That is not a checkbox — that's the thing every one of us has hand-rolled badly at least once. And the hashes are byte-identical on Lucee, Adobe, </a:t>
            </a:r>
            <a:r>
              <a:rPr lang="en-US" sz="1400" i="1" dirty="0" err="1">
                <a:solidFill>
                  <a:srgbClr val="C9D3DD"/>
                </a:solidFill>
                <a:latin typeface="Calibri" pitchFamily="34" charset="0"/>
                <a:ea typeface="Calibri" pitchFamily="34" charset="-122"/>
                <a:cs typeface="Calibri" pitchFamily="34" charset="-120"/>
              </a:rPr>
              <a:t>BoxLang</a:t>
            </a:r>
            <a:r>
              <a:rPr lang="en-US" sz="1400" i="1" dirty="0">
                <a:solidFill>
                  <a:srgbClr val="C9D3DD"/>
                </a:solidFill>
                <a:latin typeface="Calibri" pitchFamily="34" charset="0"/>
                <a:ea typeface="Calibri" pitchFamily="34" charset="-122"/>
                <a:cs typeface="Calibri" pitchFamily="34" charset="-120"/>
              </a:rPr>
              <a:t>, and </a:t>
            </a:r>
            <a:r>
              <a:rPr lang="en-US" sz="1400" i="1" dirty="0" err="1">
                <a:solidFill>
                  <a:srgbClr val="C9D3DD"/>
                </a:solidFill>
                <a:latin typeface="Calibri" pitchFamily="34" charset="0"/>
                <a:ea typeface="Calibri" pitchFamily="34" charset="-122"/>
                <a:cs typeface="Calibri" pitchFamily="34" charset="-120"/>
              </a:rPr>
              <a:t>RustCFML</a:t>
            </a:r>
            <a:r>
              <a:rPr lang="en-US" sz="1400" i="1" dirty="0">
                <a:solidFill>
                  <a:srgbClr val="C9D3DD"/>
                </a:solidFill>
                <a:latin typeface="Calibri" pitchFamily="34" charset="0"/>
                <a:ea typeface="Calibri" pitchFamily="34" charset="-122"/>
                <a:cs typeface="Calibri" pitchFamily="34" charset="-120"/>
              </a:rPr>
              <a:t>.”</a:t>
            </a:r>
            <a:endParaRPr lang="en-US" sz="1400" dirty="0"/>
          </a:p>
          <a:p>
            <a:pPr marL="0" indent="0">
              <a:buNone/>
            </a:pPr>
            <a:endParaRPr lang="en-US" sz="1400" dirty="0"/>
          </a:p>
          <a:p>
            <a:pPr marL="0" indent="0">
              <a:buNone/>
            </a:pPr>
            <a:r>
              <a:rPr lang="en-US" sz="1400" i="1" dirty="0">
                <a:solidFill>
                  <a:srgbClr val="C9D3DD"/>
                </a:solidFill>
                <a:latin typeface="Calibri" pitchFamily="34" charset="0"/>
                <a:ea typeface="Calibri" pitchFamily="34" charset="-122"/>
                <a:cs typeface="Calibri" pitchFamily="34" charset="-120"/>
              </a:rPr>
              <a:t>Browser: /register → log out → /login.</a:t>
            </a:r>
            <a:endParaRPr lang="en-US" sz="1400" dirty="0"/>
          </a:p>
          <a:p>
            <a:pPr marL="0" indent="0">
              <a:buNone/>
            </a:pPr>
            <a:endParaRPr lang="en-US" sz="1400" dirty="0"/>
          </a:p>
          <a:p>
            <a:pPr marL="0" indent="0">
              <a:buNone/>
            </a:pPr>
            <a:r>
              <a:rPr lang="en-US" sz="1400" i="1" dirty="0">
                <a:solidFill>
                  <a:srgbClr val="C9D3DD"/>
                </a:solidFill>
                <a:latin typeface="Calibri" pitchFamily="34" charset="0"/>
                <a:ea typeface="Calibri" pitchFamily="34" charset="-122"/>
                <a:cs typeface="Calibri" pitchFamily="34" charset="-120"/>
              </a:rPr>
              <a:t>“Default-deny. Forget to write a policy and you get a 403, not a data leak.”</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1620"/>
        </a:solidFill>
        <a:effectLst/>
      </p:bgPr>
    </p:bg>
    <p:spTree>
      <p:nvGrpSpPr>
        <p:cNvPr id="1" name=""/>
        <p:cNvGrpSpPr/>
        <p:nvPr/>
      </p:nvGrpSpPr>
      <p:grpSpPr>
        <a:xfrm>
          <a:off x="0" y="0"/>
          <a:ext cx="0" cy="0"/>
          <a:chOff x="0" y="0"/>
          <a:chExt cx="0" cy="0"/>
        </a:xfrm>
      </p:grpSpPr>
      <p:pic>
        <p:nvPicPr>
          <p:cNvPr id="2" name="Image 0" descr="/home/claude/deck/assets/mark-t.png"/>
          <p:cNvPicPr>
            <a:picLocks noChangeAspect="1"/>
          </p:cNvPicPr>
          <p:nvPr/>
        </p:nvPicPr>
        <p:blipFill>
          <a:blip r:embed="rId3"/>
          <a:stretch>
            <a:fillRect/>
          </a:stretch>
        </p:blipFill>
        <p:spPr>
          <a:xfrm>
            <a:off x="8092440" y="384048"/>
            <a:ext cx="594360" cy="365760"/>
          </a:xfrm>
          <a:prstGeom prst="rect">
            <a:avLst/>
          </a:prstGeom>
        </p:spPr>
      </p:pic>
      <p:sp>
        <p:nvSpPr>
          <p:cNvPr id="3" name="Text 0"/>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9AA7B4"/>
                </a:solidFill>
                <a:latin typeface="Calibri" pitchFamily="34" charset="0"/>
                <a:ea typeface="Calibri" pitchFamily="34" charset="-122"/>
                <a:cs typeface="Calibri" pitchFamily="34" charset="-120"/>
              </a:rPr>
              <a:t>wheels.dev   ·   Mid-Michigan CFUG · Sept 15, 2026</a:t>
            </a:r>
            <a:endParaRPr lang="en-US" sz="900" dirty="0"/>
          </a:p>
        </p:txBody>
      </p:sp>
      <p:sp>
        <p:nvSpPr>
          <p:cNvPr id="4" name="Text 1"/>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9AA7B4"/>
                </a:solidFill>
                <a:latin typeface="Calibri" pitchFamily="34" charset="0"/>
                <a:ea typeface="Calibri" pitchFamily="34" charset="-122"/>
                <a:cs typeface="Calibri" pitchFamily="34" charset="-120"/>
              </a:rPr>
              <a:t>18</a:t>
            </a:r>
            <a:endParaRPr lang="en-US" sz="900" dirty="0"/>
          </a:p>
        </p:txBody>
      </p:sp>
      <p:sp>
        <p:nvSpPr>
          <p:cNvPr id="5" name="Text 2"/>
          <p:cNvSpPr txBox="1"/>
          <p:nvPr/>
        </p:nvSpPr>
        <p:spPr>
          <a:xfrm>
            <a:off x="457200" y="320040"/>
            <a:ext cx="5486400" cy="274320"/>
          </a:xfrm>
          <a:prstGeom prst="rect">
            <a:avLst/>
          </a:prstGeom>
          <a:noFill/>
          <a:ln/>
        </p:spPr>
        <p:txBody>
          <a:bodyPr wrap="square" lIns="0" tIns="0" rIns="0" bIns="0" rtlCol="0" anchor="ctr"/>
          <a:lstStyle/>
          <a:p>
            <a:pPr marL="0" indent="0">
              <a:buNone/>
            </a:pPr>
            <a:r>
              <a:rPr lang="en-US" sz="1000" b="1" kern="0" spc="200" dirty="0">
                <a:solidFill>
                  <a:srgbClr val="EF3B2D"/>
                </a:solidFill>
                <a:latin typeface="Calibri" pitchFamily="34" charset="0"/>
                <a:ea typeface="Calibri" pitchFamily="34" charset="-122"/>
                <a:cs typeface="Calibri" pitchFamily="34" charset="-120"/>
              </a:rPr>
              <a:t>LIVE DEMO · BEAT 6 OF 8 · ~8 MIN</a:t>
            </a:r>
            <a:endParaRPr lang="en-US" sz="1000" dirty="0"/>
          </a:p>
        </p:txBody>
      </p:sp>
      <p:sp>
        <p:nvSpPr>
          <p:cNvPr id="6" name="Text 3"/>
          <p:cNvSpPr txBox="1"/>
          <p:nvPr/>
        </p:nvSpPr>
        <p:spPr>
          <a:xfrm>
            <a:off x="457200" y="594360"/>
            <a:ext cx="7498080" cy="64008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Red, green</a:t>
            </a:r>
            <a:endParaRPr lang="en-US" sz="3000" dirty="0"/>
          </a:p>
        </p:txBody>
      </p:sp>
      <p:sp>
        <p:nvSpPr>
          <p:cNvPr id="7" name="Shape 4"/>
          <p:cNvSpPr/>
          <p:nvPr/>
        </p:nvSpPr>
        <p:spPr>
          <a:xfrm>
            <a:off x="457200" y="1417320"/>
            <a:ext cx="4937760" cy="3108960"/>
          </a:xfrm>
          <a:prstGeom prst="roundRect">
            <a:avLst>
              <a:gd name="adj" fmla="val 2353"/>
            </a:avLst>
          </a:prstGeom>
          <a:solidFill>
            <a:srgbClr val="060D14"/>
          </a:solidFill>
          <a:ln w="12700">
            <a:solidFill>
              <a:srgbClr val="060D14"/>
            </a:solidFill>
            <a:prstDash val="solid"/>
          </a:ln>
        </p:spPr>
        <p:txBody>
          <a:bodyPr/>
          <a:lstStyle/>
          <a:p>
            <a:endParaRPr lang="en-US"/>
          </a:p>
        </p:txBody>
      </p:sp>
      <p:sp>
        <p:nvSpPr>
          <p:cNvPr id="8" name="Shape 5"/>
          <p:cNvSpPr/>
          <p:nvPr/>
        </p:nvSpPr>
        <p:spPr>
          <a:xfrm>
            <a:off x="594360" y="1536192"/>
            <a:ext cx="91440" cy="91440"/>
          </a:xfrm>
          <a:prstGeom prst="ellipse">
            <a:avLst/>
          </a:prstGeom>
          <a:solidFill>
            <a:srgbClr val="EF3B2D"/>
          </a:solidFill>
          <a:ln w="12700">
            <a:solidFill>
              <a:srgbClr val="EF3B2D"/>
            </a:solidFill>
            <a:prstDash val="solid"/>
          </a:ln>
        </p:spPr>
        <p:txBody>
          <a:bodyPr/>
          <a:lstStyle/>
          <a:p>
            <a:endParaRPr lang="en-US"/>
          </a:p>
        </p:txBody>
      </p:sp>
      <p:sp>
        <p:nvSpPr>
          <p:cNvPr id="9" name="Shape 6"/>
          <p:cNvSpPr/>
          <p:nvPr/>
        </p:nvSpPr>
        <p:spPr>
          <a:xfrm>
            <a:off x="758952" y="1536192"/>
            <a:ext cx="91440" cy="91440"/>
          </a:xfrm>
          <a:prstGeom prst="ellipse">
            <a:avLst/>
          </a:prstGeom>
          <a:solidFill>
            <a:srgbClr val="F5B62E"/>
          </a:solidFill>
          <a:ln w="12700">
            <a:solidFill>
              <a:srgbClr val="F5B62E"/>
            </a:solidFill>
            <a:prstDash val="solid"/>
          </a:ln>
        </p:spPr>
        <p:txBody>
          <a:bodyPr/>
          <a:lstStyle/>
          <a:p>
            <a:endParaRPr lang="en-US"/>
          </a:p>
        </p:txBody>
      </p:sp>
      <p:sp>
        <p:nvSpPr>
          <p:cNvPr id="10" name="Shape 7"/>
          <p:cNvSpPr/>
          <p:nvPr/>
        </p:nvSpPr>
        <p:spPr>
          <a:xfrm>
            <a:off x="923544" y="1536192"/>
            <a:ext cx="91440" cy="91440"/>
          </a:xfrm>
          <a:prstGeom prst="ellipse">
            <a:avLst/>
          </a:prstGeom>
          <a:solidFill>
            <a:srgbClr val="3DDC84"/>
          </a:solidFill>
          <a:ln w="12700">
            <a:solidFill>
              <a:srgbClr val="3DDC84"/>
            </a:solidFill>
            <a:prstDash val="solid"/>
          </a:ln>
        </p:spPr>
        <p:txBody>
          <a:bodyPr/>
          <a:lstStyle/>
          <a:p>
            <a:endParaRPr lang="en-US"/>
          </a:p>
        </p:txBody>
      </p:sp>
      <p:sp>
        <p:nvSpPr>
          <p:cNvPr id="11" name="Text 8"/>
          <p:cNvSpPr txBox="1"/>
          <p:nvPr/>
        </p:nvSpPr>
        <p:spPr>
          <a:xfrm>
            <a:off x="640080" y="1737360"/>
            <a:ext cx="4572000" cy="2697480"/>
          </a:xfrm>
          <a:prstGeom prst="rect">
            <a:avLst/>
          </a:prstGeom>
          <a:noFill/>
          <a:ln/>
        </p:spPr>
        <p:txBody>
          <a:bodyPr wrap="square" lIns="0" tIns="0" rIns="0" bIns="0" rtlCol="0" anchor="t"/>
          <a:lstStyle/>
          <a:p>
            <a:pPr marL="0" indent="0">
              <a:lnSpc>
                <a:spcPct val="115000"/>
              </a:lnSpc>
              <a:buNone/>
            </a:pPr>
            <a:r>
              <a:rPr lang="en-US" sz="1100" dirty="0">
                <a:solidFill>
                  <a:srgbClr val="EF3B2D"/>
                </a:solidFill>
                <a:latin typeface="Courier New" pitchFamily="34" charset="0"/>
                <a:ea typeface="Courier New" pitchFamily="34" charset="-122"/>
                <a:cs typeface="Courier New" pitchFamily="34" charset="-120"/>
              </a:rPr>
              <a:t>$ </a:t>
            </a:r>
            <a:r>
              <a:rPr lang="en-US" sz="1100" dirty="0">
                <a:solidFill>
                  <a:srgbClr val="E6EDF3"/>
                </a:solidFill>
                <a:latin typeface="Courier New" pitchFamily="34" charset="0"/>
                <a:ea typeface="Courier New" pitchFamily="34" charset="-122"/>
                <a:cs typeface="Courier New" pitchFamily="34" charset="-120"/>
              </a:rPr>
              <a:t>wheels test</a:t>
            </a:r>
            <a:endParaRPr lang="en-US" sz="1100" dirty="0"/>
          </a:p>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specs came with the scaffold (TestBox)</a:t>
            </a:r>
            <a:endParaRPr lang="en-US" sz="1100" dirty="0"/>
          </a:p>
          <a:p>
            <a:pPr marL="0" indent="0">
              <a:lnSpc>
                <a:spcPct val="115000"/>
              </a:lnSpc>
              <a:buNone/>
            </a:pPr>
            <a:endParaRPr lang="en-US" sz="1100" dirty="0"/>
          </a:p>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tests/specs/models/PostSpec.cfc</a:t>
            </a:r>
            <a:endParaRPr lang="en-US" sz="1100" dirty="0"/>
          </a:p>
          <a:p>
            <a:pPr marL="0" indent="0">
              <a:lnSpc>
                <a:spcPct val="115000"/>
              </a:lnSpc>
              <a:buNone/>
            </a:pPr>
            <a:r>
              <a:rPr lang="en-US" sz="1100" dirty="0">
                <a:solidFill>
                  <a:srgbClr val="E6EDF3"/>
                </a:solidFill>
                <a:latin typeface="Courier New" pitchFamily="34" charset="0"/>
                <a:ea typeface="Courier New" pitchFamily="34" charset="-122"/>
                <a:cs typeface="Courier New" pitchFamily="34" charset="-120"/>
              </a:rPr>
              <a:t>it(</a:t>
            </a:r>
            <a:r>
              <a:rPr lang="en-US" sz="1100" dirty="0">
                <a:solidFill>
                  <a:srgbClr val="3DDC84"/>
                </a:solidFill>
                <a:latin typeface="Courier New" pitchFamily="34" charset="0"/>
                <a:ea typeface="Courier New" pitchFamily="34" charset="-122"/>
                <a:cs typeface="Courier New" pitchFamily="34" charset="-120"/>
              </a:rPr>
              <a:t>"requires a title"</a:t>
            </a:r>
            <a:r>
              <a:rPr lang="en-US" sz="1100" dirty="0">
                <a:solidFill>
                  <a:srgbClr val="E6EDF3"/>
                </a:solidFill>
                <a:latin typeface="Courier New" pitchFamily="34" charset="0"/>
                <a:ea typeface="Courier New" pitchFamily="34" charset="-122"/>
                <a:cs typeface="Courier New" pitchFamily="34" charset="-120"/>
              </a:rPr>
              <a:t>, </a:t>
            </a:r>
            <a:r>
              <a:rPr lang="en-US" sz="1100" dirty="0">
                <a:solidFill>
                  <a:srgbClr val="EF3B2D"/>
                </a:solidFill>
                <a:latin typeface="Courier New" pitchFamily="34" charset="0"/>
                <a:ea typeface="Courier New" pitchFamily="34" charset="-122"/>
                <a:cs typeface="Courier New" pitchFamily="34" charset="-120"/>
              </a:rPr>
              <a:t>function</a:t>
            </a:r>
            <a:r>
              <a:rPr lang="en-US" sz="1100" dirty="0">
                <a:solidFill>
                  <a:srgbClr val="E6EDF3"/>
                </a:solidFill>
                <a:latin typeface="Courier New" pitchFamily="34" charset="0"/>
                <a:ea typeface="Courier New" pitchFamily="34" charset="-122"/>
                <a:cs typeface="Courier New" pitchFamily="34" charset="-120"/>
              </a:rPr>
              <a:t>() {</a:t>
            </a:r>
            <a:endParaRPr lang="en-US" sz="1100" dirty="0"/>
          </a:p>
          <a:p>
            <a:pPr marL="0" indent="0">
              <a:lnSpc>
                <a:spcPct val="115000"/>
              </a:lnSpc>
              <a:buNone/>
            </a:pPr>
            <a:r>
              <a:rPr lang="en-US" sz="1100" dirty="0">
                <a:solidFill>
                  <a:srgbClr val="E6EDF3"/>
                </a:solidFill>
                <a:latin typeface="Courier New" pitchFamily="34" charset="0"/>
                <a:ea typeface="Courier New" pitchFamily="34" charset="-122"/>
                <a:cs typeface="Courier New" pitchFamily="34" charset="-120"/>
              </a:rPr>
              <a:t>  </a:t>
            </a:r>
            <a:r>
              <a:rPr lang="en-US" sz="1100" dirty="0">
                <a:solidFill>
                  <a:srgbClr val="EF3B2D"/>
                </a:solidFill>
                <a:latin typeface="Courier New" pitchFamily="34" charset="0"/>
                <a:ea typeface="Courier New" pitchFamily="34" charset="-122"/>
                <a:cs typeface="Courier New" pitchFamily="34" charset="-120"/>
              </a:rPr>
              <a:t>var</a:t>
            </a:r>
            <a:r>
              <a:rPr lang="en-US" sz="1100" dirty="0">
                <a:solidFill>
                  <a:srgbClr val="E6EDF3"/>
                </a:solidFill>
                <a:latin typeface="Courier New" pitchFamily="34" charset="0"/>
                <a:ea typeface="Courier New" pitchFamily="34" charset="-122"/>
                <a:cs typeface="Courier New" pitchFamily="34" charset="-120"/>
              </a:rPr>
              <a:t> post = model(</a:t>
            </a:r>
            <a:r>
              <a:rPr lang="en-US" sz="1100" dirty="0">
                <a:solidFill>
                  <a:srgbClr val="3DDC84"/>
                </a:solidFill>
                <a:latin typeface="Courier New" pitchFamily="34" charset="0"/>
                <a:ea typeface="Courier New" pitchFamily="34" charset="-122"/>
                <a:cs typeface="Courier New" pitchFamily="34" charset="-120"/>
              </a:rPr>
              <a:t>"Post"</a:t>
            </a:r>
            <a:r>
              <a:rPr lang="en-US" sz="1100" dirty="0">
                <a:solidFill>
                  <a:srgbClr val="E6EDF3"/>
                </a:solidFill>
                <a:latin typeface="Courier New" pitchFamily="34" charset="0"/>
                <a:ea typeface="Courier New" pitchFamily="34" charset="-122"/>
                <a:cs typeface="Courier New" pitchFamily="34" charset="-120"/>
              </a:rPr>
              <a:t>).new(body=</a:t>
            </a:r>
            <a:r>
              <a:rPr lang="en-US" sz="1100" dirty="0">
                <a:solidFill>
                  <a:srgbClr val="3DDC84"/>
                </a:solidFill>
                <a:latin typeface="Courier New" pitchFamily="34" charset="0"/>
                <a:ea typeface="Courier New" pitchFamily="34" charset="-122"/>
                <a:cs typeface="Courier New" pitchFamily="34" charset="-120"/>
              </a:rPr>
              <a:t>"no title"</a:t>
            </a:r>
            <a:r>
              <a:rPr lang="en-US" sz="1100" dirty="0">
                <a:solidFill>
                  <a:srgbClr val="E6EDF3"/>
                </a:solidFill>
                <a:latin typeface="Courier New" pitchFamily="34" charset="0"/>
                <a:ea typeface="Courier New" pitchFamily="34" charset="-122"/>
                <a:cs typeface="Courier New" pitchFamily="34" charset="-120"/>
              </a:rPr>
              <a:t>);</a:t>
            </a:r>
            <a:endParaRPr lang="en-US" sz="1100" dirty="0"/>
          </a:p>
          <a:p>
            <a:pPr marL="0" indent="0">
              <a:lnSpc>
                <a:spcPct val="115000"/>
              </a:lnSpc>
              <a:buNone/>
            </a:pPr>
            <a:r>
              <a:rPr lang="en-US" sz="1100" dirty="0">
                <a:solidFill>
                  <a:srgbClr val="E6EDF3"/>
                </a:solidFill>
                <a:latin typeface="Courier New" pitchFamily="34" charset="0"/>
                <a:ea typeface="Courier New" pitchFamily="34" charset="-122"/>
                <a:cs typeface="Courier New" pitchFamily="34" charset="-120"/>
              </a:rPr>
              <a:t>  expect(post.valid()).toBeFalse();</a:t>
            </a:r>
            <a:endParaRPr lang="en-US" sz="1100" dirty="0"/>
          </a:p>
          <a:p>
            <a:pPr marL="0" indent="0">
              <a:lnSpc>
                <a:spcPct val="115000"/>
              </a:lnSpc>
              <a:buNone/>
            </a:pPr>
            <a:r>
              <a:rPr lang="en-US" sz="1100" dirty="0">
                <a:solidFill>
                  <a:srgbClr val="E6EDF3"/>
                </a:solidFill>
                <a:latin typeface="Courier New" pitchFamily="34" charset="0"/>
                <a:ea typeface="Courier New" pitchFamily="34" charset="-122"/>
                <a:cs typeface="Courier New" pitchFamily="34" charset="-120"/>
              </a:rPr>
              <a:t>  expect(post.errorsOn(</a:t>
            </a:r>
            <a:r>
              <a:rPr lang="en-US" sz="1100" dirty="0">
                <a:solidFill>
                  <a:srgbClr val="3DDC84"/>
                </a:solidFill>
                <a:latin typeface="Courier New" pitchFamily="34" charset="0"/>
                <a:ea typeface="Courier New" pitchFamily="34" charset="-122"/>
                <a:cs typeface="Courier New" pitchFamily="34" charset="-120"/>
              </a:rPr>
              <a:t>"title"</a:t>
            </a:r>
            <a:r>
              <a:rPr lang="en-US" sz="1100" dirty="0">
                <a:solidFill>
                  <a:srgbClr val="E6EDF3"/>
                </a:solidFill>
                <a:latin typeface="Courier New" pitchFamily="34" charset="0"/>
                <a:ea typeface="Courier New" pitchFamily="34" charset="-122"/>
                <a:cs typeface="Courier New" pitchFamily="34" charset="-120"/>
              </a:rPr>
              <a:t>)).notToBeEmpty();</a:t>
            </a:r>
            <a:endParaRPr lang="en-US" sz="1100" dirty="0"/>
          </a:p>
          <a:p>
            <a:pPr marL="0" indent="0">
              <a:lnSpc>
                <a:spcPct val="115000"/>
              </a:lnSpc>
              <a:buNone/>
            </a:pPr>
            <a:r>
              <a:rPr lang="en-US" sz="1100" dirty="0">
                <a:solidFill>
                  <a:srgbClr val="E6EDF3"/>
                </a:solidFill>
                <a:latin typeface="Courier New" pitchFamily="34" charset="0"/>
                <a:ea typeface="Courier New" pitchFamily="34" charset="-122"/>
                <a:cs typeface="Courier New" pitchFamily="34" charset="-120"/>
              </a:rPr>
              <a:t>});</a:t>
            </a:r>
            <a:endParaRPr lang="en-US" sz="1100" dirty="0"/>
          </a:p>
          <a:p>
            <a:pPr marL="0" indent="0">
              <a:lnSpc>
                <a:spcPct val="115000"/>
              </a:lnSpc>
              <a:buNone/>
            </a:pPr>
            <a:endParaRPr lang="en-US" sz="1100" dirty="0"/>
          </a:p>
          <a:p>
            <a:pPr marL="0" indent="0">
              <a:lnSpc>
                <a:spcPct val="115000"/>
              </a:lnSpc>
              <a:buNone/>
            </a:pPr>
            <a:r>
              <a:rPr lang="en-US" sz="1100" dirty="0">
                <a:solidFill>
                  <a:srgbClr val="EF3B2D"/>
                </a:solidFill>
                <a:latin typeface="Courier New" pitchFamily="34" charset="0"/>
                <a:ea typeface="Courier New" pitchFamily="34" charset="-122"/>
                <a:cs typeface="Courier New" pitchFamily="34" charset="-120"/>
              </a:rPr>
              <a:t>$ </a:t>
            </a:r>
            <a:r>
              <a:rPr lang="en-US" sz="1100" dirty="0">
                <a:solidFill>
                  <a:srgbClr val="E6EDF3"/>
                </a:solidFill>
                <a:latin typeface="Courier New" pitchFamily="34" charset="0"/>
                <a:ea typeface="Courier New" pitchFamily="34" charset="-122"/>
                <a:cs typeface="Courier New" pitchFamily="34" charset="-120"/>
              </a:rPr>
              <a:t>wheels test</a:t>
            </a:r>
            <a:endParaRPr lang="en-US" sz="1100" dirty="0"/>
          </a:p>
          <a:p>
            <a:pPr marL="0" indent="0">
              <a:lnSpc>
                <a:spcPct val="115000"/>
              </a:lnSpc>
              <a:buNone/>
            </a:pPr>
            <a:r>
              <a:rPr lang="en-US" sz="1100" dirty="0">
                <a:solidFill>
                  <a:srgbClr val="3DDC84"/>
                </a:solidFill>
                <a:latin typeface="Courier New" pitchFamily="34" charset="0"/>
                <a:ea typeface="Courier New" pitchFamily="34" charset="-122"/>
                <a:cs typeface="Courier New" pitchFamily="34" charset="-120"/>
              </a:rPr>
              <a:t>  ✓ green</a:t>
            </a:r>
            <a:r>
              <a:rPr lang="en-US" sz="1100" dirty="0">
                <a:solidFill>
                  <a:srgbClr val="E6EDF3"/>
                </a:solidFill>
                <a:latin typeface="Courier New" pitchFamily="34" charset="0"/>
                <a:ea typeface="Courier New" pitchFamily="34" charset="-122"/>
                <a:cs typeface="Courier New" pitchFamily="34" charset="-120"/>
              </a:rPr>
              <a:t>  → break validation → </a:t>
            </a:r>
            <a:r>
              <a:rPr lang="en-US" sz="1100" dirty="0">
                <a:solidFill>
                  <a:srgbClr val="EF3B2D"/>
                </a:solidFill>
                <a:latin typeface="Courier New" pitchFamily="34" charset="0"/>
                <a:ea typeface="Courier New" pitchFamily="34" charset="-122"/>
                <a:cs typeface="Courier New" pitchFamily="34" charset="-120"/>
              </a:rPr>
              <a:t>✗ red</a:t>
            </a:r>
            <a:r>
              <a:rPr lang="en-US" sz="1100" dirty="0">
                <a:solidFill>
                  <a:srgbClr val="E6EDF3"/>
                </a:solidFill>
                <a:latin typeface="Courier New" pitchFamily="34" charset="0"/>
                <a:ea typeface="Courier New" pitchFamily="34" charset="-122"/>
                <a:cs typeface="Courier New" pitchFamily="34" charset="-120"/>
              </a:rPr>
              <a:t> → fix</a:t>
            </a:r>
            <a:endParaRPr lang="en-US" sz="1100" dirty="0"/>
          </a:p>
        </p:txBody>
      </p:sp>
      <p:sp>
        <p:nvSpPr>
          <p:cNvPr id="12" name="Text 9"/>
          <p:cNvSpPr txBox="1"/>
          <p:nvPr/>
        </p:nvSpPr>
        <p:spPr>
          <a:xfrm>
            <a:off x="5669280" y="1463040"/>
            <a:ext cx="3017520" cy="3017520"/>
          </a:xfrm>
          <a:prstGeom prst="rect">
            <a:avLst/>
          </a:prstGeom>
          <a:noFill/>
          <a:ln/>
        </p:spPr>
        <p:txBody>
          <a:bodyPr wrap="square" lIns="0" tIns="0" rIns="0" bIns="0" rtlCol="0" anchor="t"/>
          <a:lstStyle/>
          <a:p>
            <a:pPr marL="0" indent="0">
              <a:buNone/>
            </a:pPr>
            <a:r>
              <a:rPr lang="en-US" sz="1400" i="1" dirty="0">
                <a:solidFill>
                  <a:srgbClr val="C9D3DD"/>
                </a:solidFill>
                <a:latin typeface="Calibri" pitchFamily="34" charset="0"/>
                <a:ea typeface="Calibri" pitchFamily="34" charset="-122"/>
                <a:cs typeface="Calibri" pitchFamily="34" charset="-120"/>
              </a:rPr>
              <a:t>“If you've written TestBox, you've written </a:t>
            </a:r>
            <a:r>
              <a:rPr lang="en-US" sz="1400" i="1" dirty="0" err="1">
                <a:solidFill>
                  <a:srgbClr val="C9D3DD"/>
                </a:solidFill>
                <a:latin typeface="Calibri" pitchFamily="34" charset="0"/>
                <a:ea typeface="Calibri" pitchFamily="34" charset="-122"/>
                <a:cs typeface="Calibri" pitchFamily="34" charset="-120"/>
              </a:rPr>
              <a:t>WheelsTests</a:t>
            </a:r>
            <a:r>
              <a:rPr lang="en-US" sz="1400" i="1" dirty="0">
                <a:solidFill>
                  <a:srgbClr val="C9D3DD"/>
                </a:solidFill>
                <a:latin typeface="Calibri" pitchFamily="34" charset="0"/>
                <a:ea typeface="Calibri" pitchFamily="34" charset="-122"/>
                <a:cs typeface="Calibri" pitchFamily="34" charset="-120"/>
              </a:rPr>
              <a:t>.”</a:t>
            </a:r>
            <a:endParaRPr lang="en-US" sz="1400" dirty="0"/>
          </a:p>
          <a:p>
            <a:pPr marL="0" indent="0">
              <a:buNone/>
            </a:pPr>
            <a:endParaRPr lang="en-US" sz="1400" dirty="0"/>
          </a:p>
          <a:p>
            <a:pPr marL="0" indent="0">
              <a:buNone/>
            </a:pPr>
            <a:r>
              <a:rPr lang="en-US" sz="1400" i="1" dirty="0">
                <a:solidFill>
                  <a:srgbClr val="C9D3DD"/>
                </a:solidFill>
                <a:latin typeface="Calibri" pitchFamily="34" charset="0"/>
                <a:ea typeface="Calibri" pitchFamily="34" charset="-122"/>
                <a:cs typeface="Calibri" pitchFamily="34" charset="-120"/>
              </a:rPr>
              <a:t>Green. Then break it on purpose, show red, restore, show green.</a:t>
            </a:r>
            <a:endParaRPr lang="en-US" sz="1400" dirty="0"/>
          </a:p>
          <a:p>
            <a:pPr marL="0" indent="0">
              <a:buNone/>
            </a:pPr>
            <a:endParaRPr lang="en-US" sz="1400" dirty="0"/>
          </a:p>
          <a:p>
            <a:pPr marL="0" indent="0">
              <a:buNone/>
            </a:pPr>
            <a:r>
              <a:rPr lang="en-US" sz="1400" i="1" dirty="0">
                <a:solidFill>
                  <a:srgbClr val="C9D3DD"/>
                </a:solidFill>
                <a:latin typeface="Calibri" pitchFamily="34" charset="0"/>
                <a:ea typeface="Calibri" pitchFamily="34" charset="-122"/>
                <a:cs typeface="Calibri" pitchFamily="34" charset="-120"/>
              </a:rPr>
              <a:t>“Red, green — on a framework a lot of people in this room wrote off as ‘that CFML Rails clone that never shipped.’ It ships. It has for a while now.”</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1620"/>
        </a:solidFill>
        <a:effectLst/>
      </p:bgPr>
    </p:bg>
    <p:spTree>
      <p:nvGrpSpPr>
        <p:cNvPr id="1" name=""/>
        <p:cNvGrpSpPr/>
        <p:nvPr/>
      </p:nvGrpSpPr>
      <p:grpSpPr>
        <a:xfrm>
          <a:off x="0" y="0"/>
          <a:ext cx="0" cy="0"/>
          <a:chOff x="0" y="0"/>
          <a:chExt cx="0" cy="0"/>
        </a:xfrm>
      </p:grpSpPr>
      <p:pic>
        <p:nvPicPr>
          <p:cNvPr id="2" name="Image 0" descr="/home/claude/deck/assets/mark-t.png"/>
          <p:cNvPicPr>
            <a:picLocks noChangeAspect="1"/>
          </p:cNvPicPr>
          <p:nvPr/>
        </p:nvPicPr>
        <p:blipFill>
          <a:blip r:embed="rId3"/>
          <a:stretch>
            <a:fillRect/>
          </a:stretch>
        </p:blipFill>
        <p:spPr>
          <a:xfrm>
            <a:off x="8092440" y="384048"/>
            <a:ext cx="594360" cy="365760"/>
          </a:xfrm>
          <a:prstGeom prst="rect">
            <a:avLst/>
          </a:prstGeom>
        </p:spPr>
      </p:pic>
      <p:sp>
        <p:nvSpPr>
          <p:cNvPr id="3" name="Text 0"/>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9AA7B4"/>
                </a:solidFill>
                <a:latin typeface="Calibri" pitchFamily="34" charset="0"/>
                <a:ea typeface="Calibri" pitchFamily="34" charset="-122"/>
                <a:cs typeface="Calibri" pitchFamily="34" charset="-120"/>
              </a:rPr>
              <a:t>wheels.dev   ·   Mid-Michigan CFUG · Sept 15, 2026</a:t>
            </a:r>
            <a:endParaRPr lang="en-US" sz="900" dirty="0"/>
          </a:p>
        </p:txBody>
      </p:sp>
      <p:sp>
        <p:nvSpPr>
          <p:cNvPr id="4" name="Text 1"/>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9AA7B4"/>
                </a:solidFill>
                <a:latin typeface="Calibri" pitchFamily="34" charset="0"/>
                <a:ea typeface="Calibri" pitchFamily="34" charset="-122"/>
                <a:cs typeface="Calibri" pitchFamily="34" charset="-120"/>
              </a:rPr>
              <a:t>19</a:t>
            </a:r>
            <a:endParaRPr lang="en-US" sz="900" dirty="0"/>
          </a:p>
        </p:txBody>
      </p:sp>
      <p:sp>
        <p:nvSpPr>
          <p:cNvPr id="5" name="Text 2"/>
          <p:cNvSpPr txBox="1"/>
          <p:nvPr/>
        </p:nvSpPr>
        <p:spPr>
          <a:xfrm>
            <a:off x="457200" y="320040"/>
            <a:ext cx="5486400" cy="274320"/>
          </a:xfrm>
          <a:prstGeom prst="rect">
            <a:avLst/>
          </a:prstGeom>
          <a:noFill/>
          <a:ln/>
        </p:spPr>
        <p:txBody>
          <a:bodyPr wrap="square" lIns="0" tIns="0" rIns="0" bIns="0" rtlCol="0" anchor="ctr"/>
          <a:lstStyle/>
          <a:p>
            <a:pPr marL="0" indent="0">
              <a:buNone/>
            </a:pPr>
            <a:r>
              <a:rPr lang="en-US" sz="1000" b="1" kern="0" spc="200" dirty="0">
                <a:solidFill>
                  <a:srgbClr val="EF3B2D"/>
                </a:solidFill>
                <a:latin typeface="Calibri" pitchFamily="34" charset="0"/>
                <a:ea typeface="Calibri" pitchFamily="34" charset="-122"/>
                <a:cs typeface="Calibri" pitchFamily="34" charset="-120"/>
              </a:rPr>
              <a:t>LIVE DEMO · BEAT 7 OF 8 · ~7 MIN</a:t>
            </a:r>
            <a:endParaRPr lang="en-US" sz="1000" dirty="0"/>
          </a:p>
        </p:txBody>
      </p:sp>
      <p:sp>
        <p:nvSpPr>
          <p:cNvPr id="6" name="Text 3"/>
          <p:cNvSpPr txBox="1"/>
          <p:nvPr/>
        </p:nvSpPr>
        <p:spPr>
          <a:xfrm>
            <a:off x="457200" y="594360"/>
            <a:ext cx="7498080" cy="64008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The two-minute tour</a:t>
            </a:r>
            <a:endParaRPr lang="en-US" sz="3000" dirty="0"/>
          </a:p>
        </p:txBody>
      </p:sp>
      <p:sp>
        <p:nvSpPr>
          <p:cNvPr id="7" name="Shape 4"/>
          <p:cNvSpPr/>
          <p:nvPr/>
        </p:nvSpPr>
        <p:spPr>
          <a:xfrm>
            <a:off x="457200" y="1417320"/>
            <a:ext cx="4937760" cy="3108960"/>
          </a:xfrm>
          <a:prstGeom prst="roundRect">
            <a:avLst>
              <a:gd name="adj" fmla="val 2353"/>
            </a:avLst>
          </a:prstGeom>
          <a:solidFill>
            <a:srgbClr val="060D14"/>
          </a:solidFill>
          <a:ln w="12700">
            <a:solidFill>
              <a:srgbClr val="060D14"/>
            </a:solidFill>
            <a:prstDash val="solid"/>
          </a:ln>
        </p:spPr>
        <p:txBody>
          <a:bodyPr/>
          <a:lstStyle/>
          <a:p>
            <a:endParaRPr lang="en-US"/>
          </a:p>
        </p:txBody>
      </p:sp>
      <p:sp>
        <p:nvSpPr>
          <p:cNvPr id="8" name="Shape 5"/>
          <p:cNvSpPr/>
          <p:nvPr/>
        </p:nvSpPr>
        <p:spPr>
          <a:xfrm>
            <a:off x="594360" y="1536192"/>
            <a:ext cx="91440" cy="91440"/>
          </a:xfrm>
          <a:prstGeom prst="ellipse">
            <a:avLst/>
          </a:prstGeom>
          <a:solidFill>
            <a:srgbClr val="EF3B2D"/>
          </a:solidFill>
          <a:ln w="12700">
            <a:solidFill>
              <a:srgbClr val="EF3B2D"/>
            </a:solidFill>
            <a:prstDash val="solid"/>
          </a:ln>
        </p:spPr>
        <p:txBody>
          <a:bodyPr/>
          <a:lstStyle/>
          <a:p>
            <a:endParaRPr lang="en-US"/>
          </a:p>
        </p:txBody>
      </p:sp>
      <p:sp>
        <p:nvSpPr>
          <p:cNvPr id="9" name="Shape 6"/>
          <p:cNvSpPr/>
          <p:nvPr/>
        </p:nvSpPr>
        <p:spPr>
          <a:xfrm>
            <a:off x="758952" y="1536192"/>
            <a:ext cx="91440" cy="91440"/>
          </a:xfrm>
          <a:prstGeom prst="ellipse">
            <a:avLst/>
          </a:prstGeom>
          <a:solidFill>
            <a:srgbClr val="F5B62E"/>
          </a:solidFill>
          <a:ln w="12700">
            <a:solidFill>
              <a:srgbClr val="F5B62E"/>
            </a:solidFill>
            <a:prstDash val="solid"/>
          </a:ln>
        </p:spPr>
        <p:txBody>
          <a:bodyPr/>
          <a:lstStyle/>
          <a:p>
            <a:endParaRPr lang="en-US"/>
          </a:p>
        </p:txBody>
      </p:sp>
      <p:sp>
        <p:nvSpPr>
          <p:cNvPr id="10" name="Shape 7"/>
          <p:cNvSpPr/>
          <p:nvPr/>
        </p:nvSpPr>
        <p:spPr>
          <a:xfrm>
            <a:off x="923544" y="1536192"/>
            <a:ext cx="91440" cy="91440"/>
          </a:xfrm>
          <a:prstGeom prst="ellipse">
            <a:avLst/>
          </a:prstGeom>
          <a:solidFill>
            <a:srgbClr val="3DDC84"/>
          </a:solidFill>
          <a:ln w="12700">
            <a:solidFill>
              <a:srgbClr val="3DDC84"/>
            </a:solidFill>
            <a:prstDash val="solid"/>
          </a:ln>
        </p:spPr>
        <p:txBody>
          <a:bodyPr/>
          <a:lstStyle/>
          <a:p>
            <a:endParaRPr lang="en-US"/>
          </a:p>
        </p:txBody>
      </p:sp>
      <p:sp>
        <p:nvSpPr>
          <p:cNvPr id="11" name="Text 8"/>
          <p:cNvSpPr txBox="1"/>
          <p:nvPr/>
        </p:nvSpPr>
        <p:spPr>
          <a:xfrm>
            <a:off x="640080" y="1737360"/>
            <a:ext cx="4572000" cy="2697480"/>
          </a:xfrm>
          <a:prstGeom prst="rect">
            <a:avLst/>
          </a:prstGeom>
          <a:noFill/>
          <a:ln/>
        </p:spPr>
        <p:txBody>
          <a:bodyPr wrap="square" lIns="0" tIns="0" rIns="0" bIns="0" rtlCol="0" anchor="t"/>
          <a:lstStyle/>
          <a:p>
            <a:pPr marL="0" indent="0">
              <a:lnSpc>
                <a:spcPct val="115000"/>
              </a:lnSpc>
              <a:buNone/>
            </a:pPr>
            <a:r>
              <a:rPr lang="en-US" sz="1100" dirty="0">
                <a:solidFill>
                  <a:srgbClr val="EF3B2D"/>
                </a:solidFill>
                <a:latin typeface="Courier New" pitchFamily="34" charset="0"/>
                <a:ea typeface="Courier New" pitchFamily="34" charset="-122"/>
                <a:cs typeface="Courier New" pitchFamily="34" charset="-120"/>
              </a:rPr>
              <a:t>$ </a:t>
            </a:r>
            <a:r>
              <a:rPr lang="en-US" sz="1100" dirty="0">
                <a:solidFill>
                  <a:srgbClr val="E6EDF3"/>
                </a:solidFill>
                <a:latin typeface="Courier New" pitchFamily="34" charset="0"/>
                <a:ea typeface="Courier New" pitchFamily="34" charset="-122"/>
                <a:cs typeface="Courier New" pitchFamily="34" charset="-120"/>
              </a:rPr>
              <a:t>wheels info      </a:t>
            </a:r>
            <a:endParaRPr lang="en-US" sz="1100" dirty="0"/>
          </a:p>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version · engine · env · config</a:t>
            </a:r>
            <a:endParaRPr lang="en-US" sz="1100" dirty="0"/>
          </a:p>
          <a:p>
            <a:pPr marL="0" indent="0">
              <a:lnSpc>
                <a:spcPct val="115000"/>
              </a:lnSpc>
              <a:buNone/>
            </a:pPr>
            <a:r>
              <a:rPr lang="en-US" sz="1100" dirty="0">
                <a:solidFill>
                  <a:srgbClr val="EF3B2D"/>
                </a:solidFill>
                <a:latin typeface="Courier New" pitchFamily="34" charset="0"/>
                <a:ea typeface="Courier New" pitchFamily="34" charset="-122"/>
                <a:cs typeface="Courier New" pitchFamily="34" charset="-120"/>
              </a:rPr>
              <a:t>$ </a:t>
            </a:r>
            <a:r>
              <a:rPr lang="en-US" sz="1100" dirty="0">
                <a:solidFill>
                  <a:srgbClr val="E6EDF3"/>
                </a:solidFill>
                <a:latin typeface="Courier New" pitchFamily="34" charset="0"/>
                <a:ea typeface="Courier New" pitchFamily="34" charset="-122"/>
                <a:cs typeface="Courier New" pitchFamily="34" charset="-120"/>
              </a:rPr>
              <a:t>wheels doctor    </a:t>
            </a:r>
            <a:endParaRPr lang="en-US" sz="1100" dirty="0"/>
          </a:p>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setup diagnostics</a:t>
            </a:r>
            <a:endParaRPr lang="en-US" sz="1100" dirty="0"/>
          </a:p>
          <a:p>
            <a:pPr marL="0" indent="0">
              <a:lnSpc>
                <a:spcPct val="115000"/>
              </a:lnSpc>
              <a:buNone/>
            </a:pPr>
            <a:r>
              <a:rPr lang="en-US" sz="1100" dirty="0">
                <a:solidFill>
                  <a:srgbClr val="EF3B2D"/>
                </a:solidFill>
                <a:latin typeface="Courier New" pitchFamily="34" charset="0"/>
                <a:ea typeface="Courier New" pitchFamily="34" charset="-122"/>
                <a:cs typeface="Courier New" pitchFamily="34" charset="-120"/>
              </a:rPr>
              <a:t>$ </a:t>
            </a:r>
            <a:r>
              <a:rPr lang="en-US" sz="1100" dirty="0">
                <a:solidFill>
                  <a:srgbClr val="E6EDF3"/>
                </a:solidFill>
                <a:latin typeface="Courier New" pitchFamily="34" charset="0"/>
                <a:ea typeface="Courier New" pitchFamily="34" charset="-122"/>
                <a:cs typeface="Courier New" pitchFamily="34" charset="-120"/>
              </a:rPr>
              <a:t>wheels stats     </a:t>
            </a:r>
            <a:endParaRPr lang="en-US" sz="1100" dirty="0"/>
          </a:p>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LOC, models, controllers, routes</a:t>
            </a:r>
            <a:endParaRPr lang="en-US" sz="1100" dirty="0"/>
          </a:p>
          <a:p>
            <a:pPr marL="0" indent="0">
              <a:lnSpc>
                <a:spcPct val="115000"/>
              </a:lnSpc>
              <a:buNone/>
            </a:pPr>
            <a:r>
              <a:rPr lang="en-US" sz="1100" dirty="0">
                <a:solidFill>
                  <a:srgbClr val="EF3B2D"/>
                </a:solidFill>
                <a:latin typeface="Courier New" pitchFamily="34" charset="0"/>
                <a:ea typeface="Courier New" pitchFamily="34" charset="-122"/>
                <a:cs typeface="Courier New" pitchFamily="34" charset="-120"/>
              </a:rPr>
              <a:t>$ </a:t>
            </a:r>
            <a:r>
              <a:rPr lang="en-US" sz="1100" dirty="0">
                <a:solidFill>
                  <a:srgbClr val="E6EDF3"/>
                </a:solidFill>
                <a:latin typeface="Courier New" pitchFamily="34" charset="0"/>
                <a:ea typeface="Courier New" pitchFamily="34" charset="-122"/>
                <a:cs typeface="Courier New" pitchFamily="34" charset="-120"/>
              </a:rPr>
              <a:t>wheels notes     </a:t>
            </a:r>
            <a:endParaRPr lang="en-US" sz="1100" dirty="0"/>
          </a:p>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TODO / FIXME across the project</a:t>
            </a:r>
            <a:endParaRPr lang="en-US" sz="1100" dirty="0"/>
          </a:p>
          <a:p>
            <a:pPr marL="0" indent="0">
              <a:lnSpc>
                <a:spcPct val="115000"/>
              </a:lnSpc>
              <a:buNone/>
            </a:pPr>
            <a:endParaRPr lang="en-US" sz="1100" dirty="0"/>
          </a:p>
          <a:p>
            <a:pPr marL="0" indent="0">
              <a:lnSpc>
                <a:spcPct val="115000"/>
              </a:lnSpc>
              <a:buNone/>
            </a:pPr>
            <a:r>
              <a:rPr lang="en-US" sz="1100" dirty="0">
                <a:solidFill>
                  <a:srgbClr val="EF3B2D"/>
                </a:solidFill>
                <a:latin typeface="Courier New" pitchFamily="34" charset="0"/>
                <a:ea typeface="Courier New" pitchFamily="34" charset="-122"/>
                <a:cs typeface="Courier New" pitchFamily="34" charset="-120"/>
              </a:rPr>
              <a:t>$ </a:t>
            </a:r>
            <a:r>
              <a:rPr lang="en-US" sz="1100" dirty="0">
                <a:solidFill>
                  <a:srgbClr val="E6EDF3"/>
                </a:solidFill>
                <a:latin typeface="Courier New" pitchFamily="34" charset="0"/>
                <a:ea typeface="Courier New" pitchFamily="34" charset="-122"/>
                <a:cs typeface="Courier New" pitchFamily="34" charset="-120"/>
              </a:rPr>
              <a:t>wheels generate api-resource Product \</a:t>
            </a:r>
            <a:endParaRPr lang="en-US" sz="1100" dirty="0"/>
          </a:p>
          <a:p>
            <a:pPr marL="0" indent="0">
              <a:lnSpc>
                <a:spcPct val="115000"/>
              </a:lnSpc>
              <a:buNone/>
            </a:pPr>
            <a:r>
              <a:rPr lang="en-US" sz="1100" dirty="0">
                <a:solidFill>
                  <a:srgbClr val="E6EDF3"/>
                </a:solidFill>
                <a:latin typeface="Courier New" pitchFamily="34" charset="0"/>
                <a:ea typeface="Courier New" pitchFamily="34" charset="-122"/>
                <a:cs typeface="Courier New" pitchFamily="34" charset="-120"/>
              </a:rPr>
              <a:t>    name price:decimal sku:string</a:t>
            </a:r>
            <a:endParaRPr lang="en-US" sz="1100" dirty="0"/>
          </a:p>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JSON controller at /api/products, versioned</a:t>
            </a:r>
            <a:endParaRPr lang="en-US" sz="1100" dirty="0"/>
          </a:p>
        </p:txBody>
      </p:sp>
      <p:sp>
        <p:nvSpPr>
          <p:cNvPr id="12" name="Text 9"/>
          <p:cNvSpPr txBox="1"/>
          <p:nvPr/>
        </p:nvSpPr>
        <p:spPr>
          <a:xfrm>
            <a:off x="5669280" y="1463040"/>
            <a:ext cx="3017520" cy="3017520"/>
          </a:xfrm>
          <a:prstGeom prst="rect">
            <a:avLst/>
          </a:prstGeom>
          <a:noFill/>
          <a:ln/>
        </p:spPr>
        <p:txBody>
          <a:bodyPr wrap="square" lIns="0" tIns="0" rIns="0" bIns="0" rtlCol="0" anchor="t"/>
          <a:lstStyle/>
          <a:p>
            <a:pPr marL="0" indent="0">
              <a:buNone/>
            </a:pPr>
            <a:r>
              <a:rPr lang="en-US" sz="1400" i="1" dirty="0">
                <a:solidFill>
                  <a:srgbClr val="C9D3DD"/>
                </a:solidFill>
                <a:latin typeface="Calibri" pitchFamily="34" charset="0"/>
                <a:ea typeface="Calibri" pitchFamily="34" charset="-122"/>
                <a:cs typeface="Calibri" pitchFamily="34" charset="-120"/>
              </a:rPr>
              <a:t>Rapid-fire. Don't explain deeply — the point is breadth.</a:t>
            </a:r>
            <a:endParaRPr lang="en-US" sz="1400" dirty="0"/>
          </a:p>
          <a:p>
            <a:pPr marL="0" indent="0">
              <a:buNone/>
            </a:pPr>
            <a:endParaRPr lang="en-US" sz="1400" dirty="0"/>
          </a:p>
          <a:p>
            <a:pPr marL="0" indent="0">
              <a:buNone/>
            </a:pPr>
            <a:r>
              <a:rPr lang="en-US" sz="1400" i="1" dirty="0">
                <a:solidFill>
                  <a:srgbClr val="C9D3DD"/>
                </a:solidFill>
                <a:latin typeface="Calibri" pitchFamily="34" charset="0"/>
                <a:ea typeface="Calibri" pitchFamily="34" charset="-122"/>
                <a:cs typeface="Calibri" pitchFamily="34" charset="-120"/>
              </a:rPr>
              <a:t>“Same generator, no views, JSON controller, namespaced and versioned routes. The API story is the same story.”</a:t>
            </a:r>
            <a:endParaRPr lang="en-US" sz="1400" dirty="0"/>
          </a:p>
          <a:p>
            <a:pPr marL="0" indent="0">
              <a:buNone/>
            </a:pPr>
            <a:endParaRPr lang="en-US" sz="1400" dirty="0"/>
          </a:p>
          <a:p>
            <a:pPr marL="0" indent="0">
              <a:buNone/>
            </a:pPr>
            <a:r>
              <a:rPr lang="en-US" sz="1400" i="1" dirty="0">
                <a:solidFill>
                  <a:srgbClr val="C9D3DD"/>
                </a:solidFill>
                <a:latin typeface="Calibri" pitchFamily="34" charset="0"/>
                <a:ea typeface="Calibri" pitchFamily="34" charset="-122"/>
                <a:cs typeface="Calibri" pitchFamily="34" charset="-120"/>
              </a:rPr>
              <a:t>Then name, don't demo: middleware with CORS, CSP, HSTS and rate limiting; SSE channels; background jobs; local + S3 storage with a from-scratch SigV4 signer; Kamal-compatible deploy.</a:t>
            </a:r>
            <a:endParaRPr lang="en-US" sz="1400" dirty="0"/>
          </a:p>
          <a:p>
            <a:pPr marL="0" indent="0">
              <a:buNone/>
            </a:pPr>
            <a:endParaRPr lang="en-US" sz="1400" dirty="0"/>
          </a:p>
          <a:p>
            <a:pPr marL="0" indent="0">
              <a:buNone/>
            </a:pPr>
            <a:r>
              <a:rPr lang="en-US" sz="1400" i="1" dirty="0">
                <a:solidFill>
                  <a:srgbClr val="C9D3DD"/>
                </a:solidFill>
                <a:latin typeface="Calibri" pitchFamily="34" charset="0"/>
                <a:ea typeface="Calibri" pitchFamily="34" charset="-122"/>
                <a:cs typeface="Calibri" pitchFamily="34" charset="-120"/>
              </a:rPr>
              <a:t>“In Rails, four of those are gems. Here they're the framework.”</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1620"/>
        </a:solidFill>
        <a:effectLst/>
      </p:bgPr>
    </p:bg>
    <p:spTree>
      <p:nvGrpSpPr>
        <p:cNvPr id="1" name=""/>
        <p:cNvGrpSpPr/>
        <p:nvPr/>
      </p:nvGrpSpPr>
      <p:grpSpPr>
        <a:xfrm>
          <a:off x="0" y="0"/>
          <a:ext cx="0" cy="0"/>
          <a:chOff x="0" y="0"/>
          <a:chExt cx="0" cy="0"/>
        </a:xfrm>
      </p:grpSpPr>
      <p:pic>
        <p:nvPicPr>
          <p:cNvPr id="2" name="Image 0" descr="/home/claude/deck/assets/mark-t.png"/>
          <p:cNvPicPr>
            <a:picLocks noChangeAspect="1"/>
          </p:cNvPicPr>
          <p:nvPr/>
        </p:nvPicPr>
        <p:blipFill>
          <a:blip r:embed="rId3"/>
          <a:stretch>
            <a:fillRect/>
          </a:stretch>
        </p:blipFill>
        <p:spPr>
          <a:xfrm>
            <a:off x="8092440" y="384048"/>
            <a:ext cx="594360" cy="365760"/>
          </a:xfrm>
          <a:prstGeom prst="rect">
            <a:avLst/>
          </a:prstGeom>
        </p:spPr>
      </p:pic>
      <p:sp>
        <p:nvSpPr>
          <p:cNvPr id="3" name="Text 0"/>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9AA7B4"/>
                </a:solidFill>
                <a:latin typeface="Calibri" pitchFamily="34" charset="0"/>
                <a:ea typeface="Calibri" pitchFamily="34" charset="-122"/>
                <a:cs typeface="Calibri" pitchFamily="34" charset="-120"/>
              </a:rPr>
              <a:t>wheels.dev   ·   Mid-Michigan CFUG · Sept 15, 2026</a:t>
            </a:r>
            <a:endParaRPr lang="en-US" sz="900" dirty="0"/>
          </a:p>
        </p:txBody>
      </p:sp>
      <p:sp>
        <p:nvSpPr>
          <p:cNvPr id="4" name="Text 1"/>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9AA7B4"/>
                </a:solidFill>
                <a:latin typeface="Calibri" pitchFamily="34" charset="0"/>
                <a:ea typeface="Calibri" pitchFamily="34" charset="-122"/>
                <a:cs typeface="Calibri" pitchFamily="34" charset="-120"/>
              </a:rPr>
              <a:t>20</a:t>
            </a:r>
            <a:endParaRPr lang="en-US" sz="900" dirty="0"/>
          </a:p>
        </p:txBody>
      </p:sp>
      <p:sp>
        <p:nvSpPr>
          <p:cNvPr id="5" name="Text 2"/>
          <p:cNvSpPr txBox="1"/>
          <p:nvPr/>
        </p:nvSpPr>
        <p:spPr>
          <a:xfrm>
            <a:off x="457200" y="320040"/>
            <a:ext cx="5486400" cy="274320"/>
          </a:xfrm>
          <a:prstGeom prst="rect">
            <a:avLst/>
          </a:prstGeom>
          <a:noFill/>
          <a:ln/>
        </p:spPr>
        <p:txBody>
          <a:bodyPr wrap="square" lIns="0" tIns="0" rIns="0" bIns="0" rtlCol="0" anchor="ctr"/>
          <a:lstStyle/>
          <a:p>
            <a:pPr marL="0" indent="0">
              <a:buNone/>
            </a:pPr>
            <a:r>
              <a:rPr lang="en-US" sz="1000" b="1" kern="0" spc="200" dirty="0">
                <a:solidFill>
                  <a:srgbClr val="EF3B2D"/>
                </a:solidFill>
                <a:latin typeface="Calibri" pitchFamily="34" charset="0"/>
                <a:ea typeface="Calibri" pitchFamily="34" charset="-122"/>
                <a:cs typeface="Calibri" pitchFamily="34" charset="-120"/>
              </a:rPr>
              <a:t>LIVE DEMO · BEAT 8 OF 8 · ~5 MIN</a:t>
            </a:r>
            <a:endParaRPr lang="en-US" sz="1000" dirty="0"/>
          </a:p>
        </p:txBody>
      </p:sp>
      <p:sp>
        <p:nvSpPr>
          <p:cNvPr id="6" name="Text 3"/>
          <p:cNvSpPr txBox="1"/>
          <p:nvPr/>
        </p:nvSpPr>
        <p:spPr>
          <a:xfrm>
            <a:off x="457200" y="594360"/>
            <a:ext cx="7498080" cy="64008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Wheels and AI coding agents</a:t>
            </a:r>
            <a:endParaRPr lang="en-US" sz="3000" dirty="0"/>
          </a:p>
        </p:txBody>
      </p:sp>
      <p:sp>
        <p:nvSpPr>
          <p:cNvPr id="7" name="Shape 4"/>
          <p:cNvSpPr/>
          <p:nvPr/>
        </p:nvSpPr>
        <p:spPr>
          <a:xfrm>
            <a:off x="457200" y="1417320"/>
            <a:ext cx="4937760" cy="3108960"/>
          </a:xfrm>
          <a:prstGeom prst="roundRect">
            <a:avLst>
              <a:gd name="adj" fmla="val 2353"/>
            </a:avLst>
          </a:prstGeom>
          <a:solidFill>
            <a:srgbClr val="060D14"/>
          </a:solidFill>
          <a:ln w="12700">
            <a:solidFill>
              <a:srgbClr val="060D14"/>
            </a:solidFill>
            <a:prstDash val="solid"/>
          </a:ln>
        </p:spPr>
        <p:txBody>
          <a:bodyPr/>
          <a:lstStyle/>
          <a:p>
            <a:endParaRPr lang="en-US"/>
          </a:p>
        </p:txBody>
      </p:sp>
      <p:sp>
        <p:nvSpPr>
          <p:cNvPr id="8" name="Shape 5"/>
          <p:cNvSpPr/>
          <p:nvPr/>
        </p:nvSpPr>
        <p:spPr>
          <a:xfrm>
            <a:off x="594360" y="1536192"/>
            <a:ext cx="91440" cy="91440"/>
          </a:xfrm>
          <a:prstGeom prst="ellipse">
            <a:avLst/>
          </a:prstGeom>
          <a:solidFill>
            <a:srgbClr val="EF3B2D"/>
          </a:solidFill>
          <a:ln w="12700">
            <a:solidFill>
              <a:srgbClr val="EF3B2D"/>
            </a:solidFill>
            <a:prstDash val="solid"/>
          </a:ln>
        </p:spPr>
        <p:txBody>
          <a:bodyPr/>
          <a:lstStyle/>
          <a:p>
            <a:endParaRPr lang="en-US"/>
          </a:p>
        </p:txBody>
      </p:sp>
      <p:sp>
        <p:nvSpPr>
          <p:cNvPr id="9" name="Shape 6"/>
          <p:cNvSpPr/>
          <p:nvPr/>
        </p:nvSpPr>
        <p:spPr>
          <a:xfrm>
            <a:off x="758952" y="1536192"/>
            <a:ext cx="91440" cy="91440"/>
          </a:xfrm>
          <a:prstGeom prst="ellipse">
            <a:avLst/>
          </a:prstGeom>
          <a:solidFill>
            <a:srgbClr val="F5B62E"/>
          </a:solidFill>
          <a:ln w="12700">
            <a:solidFill>
              <a:srgbClr val="F5B62E"/>
            </a:solidFill>
            <a:prstDash val="solid"/>
          </a:ln>
        </p:spPr>
        <p:txBody>
          <a:bodyPr/>
          <a:lstStyle/>
          <a:p>
            <a:endParaRPr lang="en-US"/>
          </a:p>
        </p:txBody>
      </p:sp>
      <p:sp>
        <p:nvSpPr>
          <p:cNvPr id="10" name="Shape 7"/>
          <p:cNvSpPr/>
          <p:nvPr/>
        </p:nvSpPr>
        <p:spPr>
          <a:xfrm>
            <a:off x="923544" y="1536192"/>
            <a:ext cx="91440" cy="91440"/>
          </a:xfrm>
          <a:prstGeom prst="ellipse">
            <a:avLst/>
          </a:prstGeom>
          <a:solidFill>
            <a:srgbClr val="3DDC84"/>
          </a:solidFill>
          <a:ln w="12700">
            <a:solidFill>
              <a:srgbClr val="3DDC84"/>
            </a:solidFill>
            <a:prstDash val="solid"/>
          </a:ln>
        </p:spPr>
        <p:txBody>
          <a:bodyPr/>
          <a:lstStyle/>
          <a:p>
            <a:endParaRPr lang="en-US"/>
          </a:p>
        </p:txBody>
      </p:sp>
      <p:sp>
        <p:nvSpPr>
          <p:cNvPr id="11" name="Text 8"/>
          <p:cNvSpPr txBox="1"/>
          <p:nvPr/>
        </p:nvSpPr>
        <p:spPr>
          <a:xfrm>
            <a:off x="640080" y="1737360"/>
            <a:ext cx="4572000" cy="2697480"/>
          </a:xfrm>
          <a:prstGeom prst="rect">
            <a:avLst/>
          </a:prstGeom>
          <a:noFill/>
          <a:ln/>
        </p:spPr>
        <p:txBody>
          <a:bodyPr wrap="square" lIns="0" tIns="0" rIns="0" bIns="0" rtlCol="0" anchor="t"/>
          <a:lstStyle/>
          <a:p>
            <a:pPr marL="0" indent="0">
              <a:lnSpc>
                <a:spcPct val="115000"/>
              </a:lnSpc>
              <a:buNone/>
            </a:pPr>
            <a:r>
              <a:rPr lang="en-US" sz="1100" dirty="0">
                <a:solidFill>
                  <a:srgbClr val="EF3B2D"/>
                </a:solidFill>
                <a:latin typeface="Courier New" pitchFamily="34" charset="0"/>
                <a:ea typeface="Courier New" pitchFamily="34" charset="-122"/>
                <a:cs typeface="Courier New" pitchFamily="34" charset="-120"/>
              </a:rPr>
              <a:t>$ </a:t>
            </a:r>
            <a:r>
              <a:rPr lang="en-US" sz="1100" dirty="0">
                <a:solidFill>
                  <a:srgbClr val="E6EDF3"/>
                </a:solidFill>
                <a:latin typeface="Courier New" pitchFamily="34" charset="0"/>
                <a:ea typeface="Courier New" pitchFamily="34" charset="-122"/>
                <a:cs typeface="Courier New" pitchFamily="34" charset="-120"/>
              </a:rPr>
              <a:t>wheels mcp</a:t>
            </a:r>
            <a:endParaRPr lang="en-US" sz="1100" dirty="0"/>
          </a:p>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every CLI command exposed as an MCP tool</a:t>
            </a:r>
            <a:endParaRPr lang="en-US" sz="1100" dirty="0"/>
          </a:p>
          <a:p>
            <a:pPr marL="0" indent="0">
              <a:lnSpc>
                <a:spcPct val="115000"/>
              </a:lnSpc>
              <a:buNone/>
            </a:pPr>
            <a:endParaRPr lang="en-US" sz="1100" dirty="0"/>
          </a:p>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wheels new also drops into the project:</a:t>
            </a:r>
            <a:endParaRPr lang="en-US" sz="1100" dirty="0"/>
          </a:p>
          <a:p>
            <a:pPr marL="0" indent="0">
              <a:lnSpc>
                <a:spcPct val="115000"/>
              </a:lnSpc>
              <a:buNone/>
            </a:pPr>
            <a:r>
              <a:rPr lang="en-US" sz="1100" dirty="0">
                <a:solidFill>
                  <a:srgbClr val="E6EDF3"/>
                </a:solidFill>
                <a:latin typeface="Courier New" pitchFamily="34" charset="0"/>
                <a:ea typeface="Courier New" pitchFamily="34" charset="-122"/>
                <a:cs typeface="Courier New" pitchFamily="34" charset="-120"/>
              </a:rPr>
              <a:t>  CLAUDE.md     </a:t>
            </a:r>
            <a:r>
              <a:rPr lang="en-US" sz="1100" dirty="0">
                <a:solidFill>
                  <a:srgbClr val="9AA7B4"/>
                </a:solidFill>
                <a:latin typeface="Courier New" pitchFamily="34" charset="0"/>
                <a:ea typeface="Courier New" pitchFamily="34" charset="-122"/>
                <a:cs typeface="Courier New" pitchFamily="34" charset="-120"/>
              </a:rPr>
              <a:t>← conventions, for Claude Code</a:t>
            </a:r>
            <a:endParaRPr lang="en-US" sz="1100" dirty="0"/>
          </a:p>
          <a:p>
            <a:pPr marL="0" indent="0">
              <a:lnSpc>
                <a:spcPct val="115000"/>
              </a:lnSpc>
              <a:buNone/>
            </a:pPr>
            <a:r>
              <a:rPr lang="en-US" sz="1100" dirty="0">
                <a:solidFill>
                  <a:srgbClr val="E6EDF3"/>
                </a:solidFill>
                <a:latin typeface="Courier New" pitchFamily="34" charset="0"/>
                <a:ea typeface="Courier New" pitchFamily="34" charset="-122"/>
                <a:cs typeface="Courier New" pitchFamily="34" charset="-120"/>
              </a:rPr>
              <a:t>  AGENTS.md     </a:t>
            </a:r>
            <a:r>
              <a:rPr lang="en-US" sz="1100" dirty="0">
                <a:solidFill>
                  <a:srgbClr val="9AA7B4"/>
                </a:solidFill>
                <a:latin typeface="Courier New" pitchFamily="34" charset="0"/>
                <a:ea typeface="Courier New" pitchFamily="34" charset="-122"/>
                <a:cs typeface="Courier New" pitchFamily="34" charset="-120"/>
              </a:rPr>
              <a:t>← same, for Cursor / Codex</a:t>
            </a:r>
            <a:endParaRPr lang="en-US" sz="1100" dirty="0"/>
          </a:p>
          <a:p>
            <a:pPr marL="0" indent="0">
              <a:lnSpc>
                <a:spcPct val="115000"/>
              </a:lnSpc>
              <a:buNone/>
            </a:pPr>
            <a:endParaRPr lang="en-US" sz="1100" dirty="0"/>
          </a:p>
          <a:p>
            <a:pPr marL="0" indent="0">
              <a:lnSpc>
                <a:spcPct val="115000"/>
              </a:lnSpc>
              <a:buNone/>
            </a:pPr>
            <a:r>
              <a:rPr lang="en-US" sz="1100" dirty="0">
                <a:solidFill>
                  <a:srgbClr val="9AA7B4"/>
                </a:solidFill>
                <a:latin typeface="Courier New" pitchFamily="34" charset="0"/>
                <a:ea typeface="Courier New" pitchFamily="34" charset="-122"/>
                <a:cs typeface="Courier New" pitchFamily="34" charset="-120"/>
              </a:rPr>
              <a:t># so an agent can, against YOUR app:</a:t>
            </a:r>
            <a:endParaRPr lang="en-US" sz="1100" dirty="0"/>
          </a:p>
          <a:p>
            <a:pPr marL="0" indent="0">
              <a:lnSpc>
                <a:spcPct val="115000"/>
              </a:lnSpc>
              <a:buNone/>
            </a:pPr>
            <a:r>
              <a:rPr lang="en-US" sz="1100" dirty="0">
                <a:solidFill>
                  <a:srgbClr val="E6EDF3"/>
                </a:solidFill>
                <a:latin typeface="Courier New" pitchFamily="34" charset="0"/>
                <a:ea typeface="Courier New" pitchFamily="34" charset="-122"/>
                <a:cs typeface="Courier New" pitchFamily="34" charset="-120"/>
              </a:rPr>
              <a:t>  scaffold · migrate · run tests · read routes</a:t>
            </a:r>
            <a:endParaRPr lang="en-US" sz="1100" dirty="0"/>
          </a:p>
        </p:txBody>
      </p:sp>
      <p:sp>
        <p:nvSpPr>
          <p:cNvPr id="12" name="Text 9"/>
          <p:cNvSpPr txBox="1"/>
          <p:nvPr/>
        </p:nvSpPr>
        <p:spPr>
          <a:xfrm>
            <a:off x="5669280" y="1463040"/>
            <a:ext cx="3017520" cy="3017520"/>
          </a:xfrm>
          <a:prstGeom prst="rect">
            <a:avLst/>
          </a:prstGeom>
          <a:noFill/>
          <a:ln/>
        </p:spPr>
        <p:txBody>
          <a:bodyPr wrap="square" lIns="0" tIns="0" rIns="0" bIns="0" rtlCol="0" anchor="t"/>
          <a:lstStyle/>
          <a:p>
            <a:pPr marL="0" indent="0">
              <a:buNone/>
            </a:pPr>
            <a:r>
              <a:rPr lang="en-US" sz="1400" i="1" dirty="0">
                <a:solidFill>
                  <a:srgbClr val="C9D3DD"/>
                </a:solidFill>
                <a:latin typeface="Calibri" pitchFamily="34" charset="0"/>
                <a:ea typeface="Calibri" pitchFamily="34" charset="-122"/>
                <a:cs typeface="Calibri" pitchFamily="34" charset="-120"/>
              </a:rPr>
              <a:t>“Point Claude or Cursor at your Wheels app and it can scaffold, migrate and run the suite against your actual project — not its memory of a framework it half-read on the internet.”</a:t>
            </a:r>
            <a:endParaRPr lang="en-US" sz="1400" dirty="0"/>
          </a:p>
          <a:p>
            <a:pPr marL="0" indent="0">
              <a:buNone/>
            </a:pPr>
            <a:endParaRPr lang="en-US" sz="1400" dirty="0"/>
          </a:p>
          <a:p>
            <a:pPr marL="0" indent="0">
              <a:buNone/>
            </a:pPr>
            <a:r>
              <a:rPr lang="en-US" sz="1400" i="1" dirty="0">
                <a:solidFill>
                  <a:srgbClr val="C9D3DD"/>
                </a:solidFill>
                <a:latin typeface="Calibri" pitchFamily="34" charset="0"/>
                <a:ea typeface="Calibri" pitchFamily="34" charset="-122"/>
                <a:cs typeface="Calibri" pitchFamily="34" charset="-120"/>
              </a:rPr>
              <a:t>The honest note: “I maintain this as one person. 4.x moved this fast because the CI, triage, reproductions and test enforcement are agent-driven. That's a talk of its own if Rick will have me back.”</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pic>
        <p:nvPicPr>
          <p:cNvPr id="2" name="Image 0" descr="/home/claude/deck/assets/mark-t.png"/>
          <p:cNvPicPr>
            <a:picLocks noChangeAspect="1"/>
          </p:cNvPicPr>
          <p:nvPr/>
        </p:nvPicPr>
        <p:blipFill>
          <a:blip r:embed="rId3"/>
          <a:stretch>
            <a:fillRect/>
          </a:stretch>
        </p:blipFill>
        <p:spPr>
          <a:xfrm>
            <a:off x="8092440" y="384048"/>
            <a:ext cx="594360" cy="365760"/>
          </a:xfrm>
          <a:prstGeom prst="rect">
            <a:avLst/>
          </a:prstGeom>
        </p:spPr>
      </p:pic>
      <p:sp>
        <p:nvSpPr>
          <p:cNvPr id="3" name="Text 0"/>
          <p:cNvSpPr txBox="1"/>
          <p:nvPr/>
        </p:nvSpPr>
        <p:spPr>
          <a:xfrm>
            <a:off x="457200" y="320040"/>
            <a:ext cx="7498080" cy="640080"/>
          </a:xfrm>
          <a:prstGeom prst="rect">
            <a:avLst/>
          </a:prstGeom>
          <a:noFill/>
          <a:ln/>
        </p:spPr>
        <p:txBody>
          <a:bodyPr wrap="square" lIns="0" tIns="0" rIns="0" bIns="0" rtlCol="0" anchor="ctr"/>
          <a:lstStyle/>
          <a:p>
            <a:pPr marL="0" indent="0">
              <a:buNone/>
            </a:pPr>
            <a:r>
              <a:rPr lang="en-US" sz="3000" b="1" dirty="0">
                <a:solidFill>
                  <a:srgbClr val="1A2430"/>
                </a:solidFill>
                <a:latin typeface="Calibri" pitchFamily="34" charset="0"/>
                <a:ea typeface="Calibri" pitchFamily="34" charset="-122"/>
                <a:cs typeface="Calibri" pitchFamily="34" charset="-120"/>
              </a:rPr>
              <a:t>What we just built</a:t>
            </a:r>
            <a:endParaRPr lang="en-US" sz="3000" dirty="0"/>
          </a:p>
        </p:txBody>
      </p:sp>
      <p:sp>
        <p:nvSpPr>
          <p:cNvPr id="4" name="Text 1"/>
          <p:cNvSpPr txBox="1"/>
          <p:nvPr/>
        </p:nvSpPr>
        <p:spPr>
          <a:xfrm>
            <a:off x="457200" y="109728"/>
            <a:ext cx="5486400" cy="228600"/>
          </a:xfrm>
          <a:prstGeom prst="rect">
            <a:avLst/>
          </a:prstGeom>
          <a:noFill/>
          <a:ln/>
        </p:spPr>
        <p:txBody>
          <a:bodyPr wrap="square" lIns="0" tIns="0" rIns="0" bIns="0" rtlCol="0" anchor="ctr"/>
          <a:lstStyle/>
          <a:p>
            <a:pPr marL="0" indent="0">
              <a:buNone/>
            </a:pPr>
            <a:r>
              <a:rPr lang="en-US" sz="1000" b="1" kern="0" spc="200" dirty="0">
                <a:solidFill>
                  <a:srgbClr val="EF3B2D"/>
                </a:solidFill>
                <a:latin typeface="Calibri" pitchFamily="34" charset="0"/>
                <a:ea typeface="Calibri" pitchFamily="34" charset="-122"/>
                <a:cs typeface="Calibri" pitchFamily="34" charset="-120"/>
              </a:rPr>
              <a:t>50 MINUTES · ~15 COMMANDS · 3 HAND-TYPED FUNCTIONS</a:t>
            </a:r>
            <a:endParaRPr lang="en-US" sz="1000" dirty="0"/>
          </a:p>
        </p:txBody>
      </p:sp>
      <p:sp>
        <p:nvSpPr>
          <p:cNvPr id="5" name="Text 2"/>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6B7785"/>
                </a:solidFill>
                <a:latin typeface="Calibri" pitchFamily="34" charset="0"/>
                <a:ea typeface="Calibri" pitchFamily="34" charset="-122"/>
                <a:cs typeface="Calibri" pitchFamily="34" charset="-120"/>
              </a:rPr>
              <a:t>wheels.dev   ·   Mid-Michigan CFUG · Sept 15, 2026</a:t>
            </a:r>
            <a:endParaRPr lang="en-US" sz="9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6B7785"/>
                </a:solidFill>
                <a:latin typeface="Calibri" pitchFamily="34" charset="0"/>
                <a:ea typeface="Calibri" pitchFamily="34" charset="-122"/>
                <a:cs typeface="Calibri" pitchFamily="34" charset="-120"/>
              </a:rPr>
              <a:t>21</a:t>
            </a:r>
            <a:endParaRPr lang="en-US" sz="900" dirty="0"/>
          </a:p>
        </p:txBody>
      </p:sp>
      <p:sp>
        <p:nvSpPr>
          <p:cNvPr id="7" name="Shape 4"/>
          <p:cNvSpPr/>
          <p:nvPr/>
        </p:nvSpPr>
        <p:spPr>
          <a:xfrm>
            <a:off x="457200" y="1188720"/>
            <a:ext cx="2651760" cy="1234440"/>
          </a:xfrm>
          <a:prstGeom prst="roundRect">
            <a:avLst>
              <a:gd name="adj" fmla="val 5926"/>
            </a:avLst>
          </a:prstGeom>
          <a:solidFill>
            <a:srgbClr val="F3F5F7"/>
          </a:solidFill>
          <a:ln w="12700">
            <a:solidFill>
              <a:srgbClr val="F3F5F7"/>
            </a:solidFill>
            <a:prstDash val="solid"/>
          </a:ln>
        </p:spPr>
        <p:txBody>
          <a:bodyPr/>
          <a:lstStyle/>
          <a:p>
            <a:endParaRPr lang="en-US"/>
          </a:p>
        </p:txBody>
      </p:sp>
      <p:sp>
        <p:nvSpPr>
          <p:cNvPr id="8" name="Shape 5"/>
          <p:cNvSpPr/>
          <p:nvPr/>
        </p:nvSpPr>
        <p:spPr>
          <a:xfrm>
            <a:off x="640080" y="1371600"/>
            <a:ext cx="365760" cy="365760"/>
          </a:xfrm>
          <a:prstGeom prst="ellipse">
            <a:avLst/>
          </a:prstGeom>
          <a:solidFill>
            <a:srgbClr val="EF3B2D"/>
          </a:solidFill>
          <a:ln w="12700">
            <a:solidFill>
              <a:srgbClr val="EF3B2D"/>
            </a:solidFill>
            <a:prstDash val="solid"/>
          </a:ln>
        </p:spPr>
        <p:txBody>
          <a:bodyPr/>
          <a:lstStyle/>
          <a:p>
            <a:endParaRPr lang="en-US"/>
          </a:p>
        </p:txBody>
      </p:sp>
      <p:sp>
        <p:nvSpPr>
          <p:cNvPr id="9" name="Text 6"/>
          <p:cNvSpPr txBox="1"/>
          <p:nvPr/>
        </p:nvSpPr>
        <p:spPr>
          <a:xfrm>
            <a:off x="640080" y="1371600"/>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0" name="Text 7"/>
          <p:cNvSpPr txBox="1"/>
          <p:nvPr/>
        </p:nvSpPr>
        <p:spPr>
          <a:xfrm>
            <a:off x="1143000" y="1371600"/>
            <a:ext cx="1828800" cy="365760"/>
          </a:xfrm>
          <a:prstGeom prst="rect">
            <a:avLst/>
          </a:prstGeom>
          <a:noFill/>
          <a:ln/>
        </p:spPr>
        <p:txBody>
          <a:bodyPr wrap="square" lIns="0" tIns="0" rIns="0" bIns="0" rtlCol="0" anchor="ctr"/>
          <a:lstStyle/>
          <a:p>
            <a:pPr marL="0" indent="0">
              <a:buNone/>
            </a:pPr>
            <a:r>
              <a:rPr lang="en-US" sz="1700" b="1" dirty="0">
                <a:solidFill>
                  <a:srgbClr val="1A2430"/>
                </a:solidFill>
                <a:latin typeface="Calibri" pitchFamily="34" charset="0"/>
                <a:ea typeface="Calibri" pitchFamily="34" charset="-122"/>
                <a:cs typeface="Calibri" pitchFamily="34" charset="-120"/>
              </a:rPr>
              <a:t>Posts</a:t>
            </a:r>
            <a:endParaRPr lang="en-US" sz="1700" dirty="0"/>
          </a:p>
        </p:txBody>
      </p:sp>
      <p:sp>
        <p:nvSpPr>
          <p:cNvPr id="11" name="Text 8"/>
          <p:cNvSpPr txBox="1"/>
          <p:nvPr/>
        </p:nvSpPr>
        <p:spPr>
          <a:xfrm>
            <a:off x="640080" y="1847088"/>
            <a:ext cx="2286000" cy="502920"/>
          </a:xfrm>
          <a:prstGeom prst="rect">
            <a:avLst/>
          </a:prstGeom>
          <a:noFill/>
          <a:ln/>
        </p:spPr>
        <p:txBody>
          <a:bodyPr wrap="square" lIns="0" tIns="0" rIns="0" bIns="0" rtlCol="0" anchor="ctr"/>
          <a:lstStyle/>
          <a:p>
            <a:pPr marL="0" indent="0">
              <a:buNone/>
            </a:pPr>
            <a:r>
              <a:rPr lang="en-US" sz="1200" dirty="0">
                <a:solidFill>
                  <a:srgbClr val="6B7785"/>
                </a:solidFill>
                <a:latin typeface="Calibri" pitchFamily="34" charset="0"/>
                <a:ea typeface="Calibri" pitchFamily="34" charset="-122"/>
                <a:cs typeface="Calibri" pitchFamily="34" charset="-120"/>
              </a:rPr>
              <a:t>CRUD, validation, error rendering</a:t>
            </a:r>
            <a:endParaRPr lang="en-US" sz="1200" dirty="0"/>
          </a:p>
        </p:txBody>
      </p:sp>
      <p:sp>
        <p:nvSpPr>
          <p:cNvPr id="12" name="Shape 9"/>
          <p:cNvSpPr/>
          <p:nvPr/>
        </p:nvSpPr>
        <p:spPr>
          <a:xfrm>
            <a:off x="3246120" y="1188720"/>
            <a:ext cx="2651760" cy="1234440"/>
          </a:xfrm>
          <a:prstGeom prst="roundRect">
            <a:avLst>
              <a:gd name="adj" fmla="val 5926"/>
            </a:avLst>
          </a:prstGeom>
          <a:solidFill>
            <a:srgbClr val="F3F5F7"/>
          </a:solidFill>
          <a:ln w="12700">
            <a:solidFill>
              <a:srgbClr val="F3F5F7"/>
            </a:solidFill>
            <a:prstDash val="solid"/>
          </a:ln>
        </p:spPr>
        <p:txBody>
          <a:bodyPr/>
          <a:lstStyle/>
          <a:p>
            <a:endParaRPr lang="en-US"/>
          </a:p>
        </p:txBody>
      </p:sp>
      <p:sp>
        <p:nvSpPr>
          <p:cNvPr id="13" name="Shape 10"/>
          <p:cNvSpPr/>
          <p:nvPr/>
        </p:nvSpPr>
        <p:spPr>
          <a:xfrm>
            <a:off x="3429000" y="1371600"/>
            <a:ext cx="365760" cy="365760"/>
          </a:xfrm>
          <a:prstGeom prst="ellipse">
            <a:avLst/>
          </a:prstGeom>
          <a:solidFill>
            <a:srgbClr val="EF3B2D"/>
          </a:solidFill>
          <a:ln w="12700">
            <a:solidFill>
              <a:srgbClr val="EF3B2D"/>
            </a:solidFill>
            <a:prstDash val="solid"/>
          </a:ln>
        </p:spPr>
        <p:txBody>
          <a:bodyPr/>
          <a:lstStyle/>
          <a:p>
            <a:endParaRPr lang="en-US"/>
          </a:p>
        </p:txBody>
      </p:sp>
      <p:sp>
        <p:nvSpPr>
          <p:cNvPr id="14" name="Text 11"/>
          <p:cNvSpPr txBox="1"/>
          <p:nvPr/>
        </p:nvSpPr>
        <p:spPr>
          <a:xfrm>
            <a:off x="3429000" y="1371600"/>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5" name="Text 12"/>
          <p:cNvSpPr txBox="1"/>
          <p:nvPr/>
        </p:nvSpPr>
        <p:spPr>
          <a:xfrm>
            <a:off x="3931920" y="1371600"/>
            <a:ext cx="1828800" cy="365760"/>
          </a:xfrm>
          <a:prstGeom prst="rect">
            <a:avLst/>
          </a:prstGeom>
          <a:noFill/>
          <a:ln/>
        </p:spPr>
        <p:txBody>
          <a:bodyPr wrap="square" lIns="0" tIns="0" rIns="0" bIns="0" rtlCol="0" anchor="ctr"/>
          <a:lstStyle/>
          <a:p>
            <a:pPr marL="0" indent="0">
              <a:buNone/>
            </a:pPr>
            <a:r>
              <a:rPr lang="en-US" sz="1700" b="1" dirty="0">
                <a:solidFill>
                  <a:srgbClr val="1A2430"/>
                </a:solidFill>
                <a:latin typeface="Calibri" pitchFamily="34" charset="0"/>
                <a:ea typeface="Calibri" pitchFamily="34" charset="-122"/>
                <a:cs typeface="Calibri" pitchFamily="34" charset="-120"/>
              </a:rPr>
              <a:t>Comments</a:t>
            </a:r>
            <a:endParaRPr lang="en-US" sz="1700" dirty="0"/>
          </a:p>
        </p:txBody>
      </p:sp>
      <p:sp>
        <p:nvSpPr>
          <p:cNvPr id="16" name="Text 13"/>
          <p:cNvSpPr txBox="1"/>
          <p:nvPr/>
        </p:nvSpPr>
        <p:spPr>
          <a:xfrm>
            <a:off x="3429000" y="1847088"/>
            <a:ext cx="2286000" cy="502920"/>
          </a:xfrm>
          <a:prstGeom prst="rect">
            <a:avLst/>
          </a:prstGeom>
          <a:noFill/>
          <a:ln/>
        </p:spPr>
        <p:txBody>
          <a:bodyPr wrap="square" lIns="0" tIns="0" rIns="0" bIns="0" rtlCol="0" anchor="ctr"/>
          <a:lstStyle/>
          <a:p>
            <a:pPr marL="0" indent="0">
              <a:buNone/>
            </a:pPr>
            <a:r>
              <a:rPr lang="en-US" sz="1200" dirty="0">
                <a:solidFill>
                  <a:srgbClr val="6B7785"/>
                </a:solidFill>
                <a:latin typeface="Calibri" pitchFamily="34" charset="0"/>
                <a:ea typeface="Calibri" pitchFamily="34" charset="-122"/>
                <a:cs typeface="Calibri" pitchFamily="34" charset="-120"/>
              </a:rPr>
              <a:t>belongsTo / hasMany, eager loading</a:t>
            </a:r>
            <a:endParaRPr lang="en-US" sz="1200" dirty="0"/>
          </a:p>
        </p:txBody>
      </p:sp>
      <p:sp>
        <p:nvSpPr>
          <p:cNvPr id="17" name="Shape 14"/>
          <p:cNvSpPr/>
          <p:nvPr/>
        </p:nvSpPr>
        <p:spPr>
          <a:xfrm>
            <a:off x="6035040" y="1188720"/>
            <a:ext cx="2651760" cy="1234440"/>
          </a:xfrm>
          <a:prstGeom prst="roundRect">
            <a:avLst>
              <a:gd name="adj" fmla="val 5926"/>
            </a:avLst>
          </a:prstGeom>
          <a:solidFill>
            <a:srgbClr val="F3F5F7"/>
          </a:solidFill>
          <a:ln w="12700">
            <a:solidFill>
              <a:srgbClr val="F3F5F7"/>
            </a:solidFill>
            <a:prstDash val="solid"/>
          </a:ln>
        </p:spPr>
        <p:txBody>
          <a:bodyPr/>
          <a:lstStyle/>
          <a:p>
            <a:endParaRPr lang="en-US"/>
          </a:p>
        </p:txBody>
      </p:sp>
      <p:sp>
        <p:nvSpPr>
          <p:cNvPr id="18" name="Shape 15"/>
          <p:cNvSpPr/>
          <p:nvPr/>
        </p:nvSpPr>
        <p:spPr>
          <a:xfrm>
            <a:off x="6217920" y="1371600"/>
            <a:ext cx="365760" cy="365760"/>
          </a:xfrm>
          <a:prstGeom prst="ellipse">
            <a:avLst/>
          </a:prstGeom>
          <a:solidFill>
            <a:srgbClr val="EF3B2D"/>
          </a:solidFill>
          <a:ln w="12700">
            <a:solidFill>
              <a:srgbClr val="EF3B2D"/>
            </a:solidFill>
            <a:prstDash val="solid"/>
          </a:ln>
        </p:spPr>
        <p:txBody>
          <a:bodyPr/>
          <a:lstStyle/>
          <a:p>
            <a:endParaRPr lang="en-US"/>
          </a:p>
        </p:txBody>
      </p:sp>
      <p:sp>
        <p:nvSpPr>
          <p:cNvPr id="19" name="Text 16"/>
          <p:cNvSpPr txBox="1"/>
          <p:nvPr/>
        </p:nvSpPr>
        <p:spPr>
          <a:xfrm>
            <a:off x="6217920" y="1371600"/>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0" name="Text 17"/>
          <p:cNvSpPr txBox="1"/>
          <p:nvPr/>
        </p:nvSpPr>
        <p:spPr>
          <a:xfrm>
            <a:off x="6720840" y="1371600"/>
            <a:ext cx="1828800" cy="365760"/>
          </a:xfrm>
          <a:prstGeom prst="rect">
            <a:avLst/>
          </a:prstGeom>
          <a:noFill/>
          <a:ln/>
        </p:spPr>
        <p:txBody>
          <a:bodyPr wrap="square" lIns="0" tIns="0" rIns="0" bIns="0" rtlCol="0" anchor="ctr"/>
          <a:lstStyle/>
          <a:p>
            <a:pPr marL="0" indent="0">
              <a:buNone/>
            </a:pPr>
            <a:r>
              <a:rPr lang="en-US" sz="1700" b="1" dirty="0">
                <a:solidFill>
                  <a:srgbClr val="1A2430"/>
                </a:solidFill>
                <a:latin typeface="Calibri" pitchFamily="34" charset="0"/>
                <a:ea typeface="Calibri" pitchFamily="34" charset="-122"/>
                <a:cs typeface="Calibri" pitchFamily="34" charset="-120"/>
              </a:rPr>
              <a:t>Users</a:t>
            </a:r>
            <a:endParaRPr lang="en-US" sz="1700" dirty="0"/>
          </a:p>
        </p:txBody>
      </p:sp>
      <p:sp>
        <p:nvSpPr>
          <p:cNvPr id="21" name="Text 18"/>
          <p:cNvSpPr txBox="1"/>
          <p:nvPr/>
        </p:nvSpPr>
        <p:spPr>
          <a:xfrm>
            <a:off x="6217920" y="1847088"/>
            <a:ext cx="2286000" cy="502920"/>
          </a:xfrm>
          <a:prstGeom prst="rect">
            <a:avLst/>
          </a:prstGeom>
          <a:noFill/>
          <a:ln/>
        </p:spPr>
        <p:txBody>
          <a:bodyPr wrap="square" lIns="0" tIns="0" rIns="0" bIns="0" rtlCol="0" anchor="ctr"/>
          <a:lstStyle/>
          <a:p>
            <a:pPr marL="0" indent="0">
              <a:buNone/>
            </a:pPr>
            <a:r>
              <a:rPr lang="en-US" sz="1200" dirty="0">
                <a:solidFill>
                  <a:srgbClr val="6B7785"/>
                </a:solidFill>
                <a:latin typeface="Calibri" pitchFamily="34" charset="0"/>
                <a:ea typeface="Calibri" pitchFamily="34" charset="-122"/>
                <a:cs typeface="Calibri" pitchFamily="34" charset="-120"/>
              </a:rPr>
              <a:t>PBKDF2 passwords, sessions, registration</a:t>
            </a:r>
            <a:endParaRPr lang="en-US" sz="1200" dirty="0"/>
          </a:p>
        </p:txBody>
      </p:sp>
      <p:sp>
        <p:nvSpPr>
          <p:cNvPr id="22" name="Shape 19"/>
          <p:cNvSpPr/>
          <p:nvPr/>
        </p:nvSpPr>
        <p:spPr>
          <a:xfrm>
            <a:off x="457200" y="2606040"/>
            <a:ext cx="2651760" cy="1234440"/>
          </a:xfrm>
          <a:prstGeom prst="roundRect">
            <a:avLst>
              <a:gd name="adj" fmla="val 5926"/>
            </a:avLst>
          </a:prstGeom>
          <a:solidFill>
            <a:srgbClr val="F3F5F7"/>
          </a:solidFill>
          <a:ln w="12700">
            <a:solidFill>
              <a:srgbClr val="F3F5F7"/>
            </a:solidFill>
            <a:prstDash val="solid"/>
          </a:ln>
        </p:spPr>
        <p:txBody>
          <a:bodyPr/>
          <a:lstStyle/>
          <a:p>
            <a:endParaRPr lang="en-US"/>
          </a:p>
        </p:txBody>
      </p:sp>
      <p:sp>
        <p:nvSpPr>
          <p:cNvPr id="23" name="Shape 20"/>
          <p:cNvSpPr/>
          <p:nvPr/>
        </p:nvSpPr>
        <p:spPr>
          <a:xfrm>
            <a:off x="640080" y="2788920"/>
            <a:ext cx="365760" cy="365760"/>
          </a:xfrm>
          <a:prstGeom prst="ellipse">
            <a:avLst/>
          </a:prstGeom>
          <a:solidFill>
            <a:srgbClr val="EF3B2D"/>
          </a:solidFill>
          <a:ln w="12700">
            <a:solidFill>
              <a:srgbClr val="EF3B2D"/>
            </a:solidFill>
            <a:prstDash val="solid"/>
          </a:ln>
        </p:spPr>
        <p:txBody>
          <a:bodyPr/>
          <a:lstStyle/>
          <a:p>
            <a:endParaRPr lang="en-US"/>
          </a:p>
        </p:txBody>
      </p:sp>
      <p:sp>
        <p:nvSpPr>
          <p:cNvPr id="24" name="Text 21"/>
          <p:cNvSpPr txBox="1"/>
          <p:nvPr/>
        </p:nvSpPr>
        <p:spPr>
          <a:xfrm>
            <a:off x="640080" y="2788920"/>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5" name="Text 22"/>
          <p:cNvSpPr txBox="1"/>
          <p:nvPr/>
        </p:nvSpPr>
        <p:spPr>
          <a:xfrm>
            <a:off x="1143000" y="2788920"/>
            <a:ext cx="1828800" cy="365760"/>
          </a:xfrm>
          <a:prstGeom prst="rect">
            <a:avLst/>
          </a:prstGeom>
          <a:noFill/>
          <a:ln/>
        </p:spPr>
        <p:txBody>
          <a:bodyPr wrap="square" lIns="0" tIns="0" rIns="0" bIns="0" rtlCol="0" anchor="ctr"/>
          <a:lstStyle/>
          <a:p>
            <a:pPr marL="0" indent="0">
              <a:buNone/>
            </a:pPr>
            <a:r>
              <a:rPr lang="en-US" sz="1700" b="1" dirty="0">
                <a:solidFill>
                  <a:srgbClr val="1A2430"/>
                </a:solidFill>
                <a:latin typeface="Calibri" pitchFamily="34" charset="0"/>
                <a:ea typeface="Calibri" pitchFamily="34" charset="-122"/>
                <a:cs typeface="Calibri" pitchFamily="34" charset="-120"/>
              </a:rPr>
              <a:t>Policies</a:t>
            </a:r>
            <a:endParaRPr lang="en-US" sz="1700" dirty="0"/>
          </a:p>
        </p:txBody>
      </p:sp>
      <p:sp>
        <p:nvSpPr>
          <p:cNvPr id="26" name="Text 23"/>
          <p:cNvSpPr txBox="1"/>
          <p:nvPr/>
        </p:nvSpPr>
        <p:spPr>
          <a:xfrm>
            <a:off x="640080" y="3264408"/>
            <a:ext cx="2286000" cy="502920"/>
          </a:xfrm>
          <a:prstGeom prst="rect">
            <a:avLst/>
          </a:prstGeom>
          <a:noFill/>
          <a:ln/>
        </p:spPr>
        <p:txBody>
          <a:bodyPr wrap="square" lIns="0" tIns="0" rIns="0" bIns="0" rtlCol="0" anchor="ctr"/>
          <a:lstStyle/>
          <a:p>
            <a:pPr marL="0" indent="0">
              <a:buNone/>
            </a:pPr>
            <a:r>
              <a:rPr lang="en-US" sz="1200" dirty="0">
                <a:solidFill>
                  <a:srgbClr val="6B7785"/>
                </a:solidFill>
                <a:latin typeface="Calibri" pitchFamily="34" charset="0"/>
                <a:ea typeface="Calibri" pitchFamily="34" charset="-122"/>
                <a:cs typeface="Calibri" pitchFamily="34" charset="-120"/>
              </a:rPr>
              <a:t>default-deny authorization</a:t>
            </a:r>
            <a:endParaRPr lang="en-US" sz="1200" dirty="0"/>
          </a:p>
        </p:txBody>
      </p:sp>
      <p:sp>
        <p:nvSpPr>
          <p:cNvPr id="27" name="Shape 24"/>
          <p:cNvSpPr/>
          <p:nvPr/>
        </p:nvSpPr>
        <p:spPr>
          <a:xfrm>
            <a:off x="3246120" y="2606040"/>
            <a:ext cx="2651760" cy="1234440"/>
          </a:xfrm>
          <a:prstGeom prst="roundRect">
            <a:avLst>
              <a:gd name="adj" fmla="val 5926"/>
            </a:avLst>
          </a:prstGeom>
          <a:solidFill>
            <a:srgbClr val="F3F5F7"/>
          </a:solidFill>
          <a:ln w="12700">
            <a:solidFill>
              <a:srgbClr val="F3F5F7"/>
            </a:solidFill>
            <a:prstDash val="solid"/>
          </a:ln>
        </p:spPr>
        <p:txBody>
          <a:bodyPr/>
          <a:lstStyle/>
          <a:p>
            <a:endParaRPr lang="en-US"/>
          </a:p>
        </p:txBody>
      </p:sp>
      <p:sp>
        <p:nvSpPr>
          <p:cNvPr id="28" name="Shape 25"/>
          <p:cNvSpPr/>
          <p:nvPr/>
        </p:nvSpPr>
        <p:spPr>
          <a:xfrm>
            <a:off x="3429000" y="2788920"/>
            <a:ext cx="365760" cy="365760"/>
          </a:xfrm>
          <a:prstGeom prst="ellipse">
            <a:avLst/>
          </a:prstGeom>
          <a:solidFill>
            <a:srgbClr val="EF3B2D"/>
          </a:solidFill>
          <a:ln w="12700">
            <a:solidFill>
              <a:srgbClr val="EF3B2D"/>
            </a:solidFill>
            <a:prstDash val="solid"/>
          </a:ln>
        </p:spPr>
        <p:txBody>
          <a:bodyPr/>
          <a:lstStyle/>
          <a:p>
            <a:endParaRPr lang="en-US"/>
          </a:p>
        </p:txBody>
      </p:sp>
      <p:sp>
        <p:nvSpPr>
          <p:cNvPr id="29" name="Text 26"/>
          <p:cNvSpPr txBox="1"/>
          <p:nvPr/>
        </p:nvSpPr>
        <p:spPr>
          <a:xfrm>
            <a:off x="3429000" y="2788920"/>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30" name="Text 27"/>
          <p:cNvSpPr txBox="1"/>
          <p:nvPr/>
        </p:nvSpPr>
        <p:spPr>
          <a:xfrm>
            <a:off x="3931920" y="2788920"/>
            <a:ext cx="1828800" cy="365760"/>
          </a:xfrm>
          <a:prstGeom prst="rect">
            <a:avLst/>
          </a:prstGeom>
          <a:noFill/>
          <a:ln/>
        </p:spPr>
        <p:txBody>
          <a:bodyPr wrap="square" lIns="0" tIns="0" rIns="0" bIns="0" rtlCol="0" anchor="ctr"/>
          <a:lstStyle/>
          <a:p>
            <a:pPr marL="0" indent="0">
              <a:buNone/>
            </a:pPr>
            <a:r>
              <a:rPr lang="en-US" sz="1700" b="1" dirty="0">
                <a:solidFill>
                  <a:srgbClr val="1A2430"/>
                </a:solidFill>
                <a:latin typeface="Calibri" pitchFamily="34" charset="0"/>
                <a:ea typeface="Calibri" pitchFamily="34" charset="-122"/>
                <a:cs typeface="Calibri" pitchFamily="34" charset="-120"/>
              </a:rPr>
              <a:t>Tests</a:t>
            </a:r>
            <a:endParaRPr lang="en-US" sz="1700" dirty="0"/>
          </a:p>
        </p:txBody>
      </p:sp>
      <p:sp>
        <p:nvSpPr>
          <p:cNvPr id="31" name="Text 28"/>
          <p:cNvSpPr txBox="1"/>
          <p:nvPr/>
        </p:nvSpPr>
        <p:spPr>
          <a:xfrm>
            <a:off x="3429000" y="3264408"/>
            <a:ext cx="2286000" cy="502920"/>
          </a:xfrm>
          <a:prstGeom prst="rect">
            <a:avLst/>
          </a:prstGeom>
          <a:noFill/>
          <a:ln/>
        </p:spPr>
        <p:txBody>
          <a:bodyPr wrap="square" lIns="0" tIns="0" rIns="0" bIns="0" rtlCol="0" anchor="ctr"/>
          <a:lstStyle/>
          <a:p>
            <a:pPr marL="0" indent="0">
              <a:buNone/>
            </a:pPr>
            <a:r>
              <a:rPr lang="en-US" sz="1200" dirty="0">
                <a:solidFill>
                  <a:srgbClr val="6B7785"/>
                </a:solidFill>
                <a:latin typeface="Calibri" pitchFamily="34" charset="0"/>
                <a:ea typeface="Calibri" pitchFamily="34" charset="-122"/>
                <a:cs typeface="Calibri" pitchFamily="34" charset="-120"/>
              </a:rPr>
              <a:t>TestBox specs, red → green</a:t>
            </a:r>
            <a:endParaRPr lang="en-US" sz="1200" dirty="0"/>
          </a:p>
        </p:txBody>
      </p:sp>
      <p:sp>
        <p:nvSpPr>
          <p:cNvPr id="32" name="Shape 29"/>
          <p:cNvSpPr/>
          <p:nvPr/>
        </p:nvSpPr>
        <p:spPr>
          <a:xfrm>
            <a:off x="6035040" y="2606040"/>
            <a:ext cx="2651760" cy="1234440"/>
          </a:xfrm>
          <a:prstGeom prst="roundRect">
            <a:avLst>
              <a:gd name="adj" fmla="val 5926"/>
            </a:avLst>
          </a:prstGeom>
          <a:solidFill>
            <a:srgbClr val="F3F5F7"/>
          </a:solidFill>
          <a:ln w="12700">
            <a:solidFill>
              <a:srgbClr val="F3F5F7"/>
            </a:solidFill>
            <a:prstDash val="solid"/>
          </a:ln>
        </p:spPr>
        <p:txBody>
          <a:bodyPr/>
          <a:lstStyle/>
          <a:p>
            <a:endParaRPr lang="en-US"/>
          </a:p>
        </p:txBody>
      </p:sp>
      <p:sp>
        <p:nvSpPr>
          <p:cNvPr id="33" name="Shape 30"/>
          <p:cNvSpPr/>
          <p:nvPr/>
        </p:nvSpPr>
        <p:spPr>
          <a:xfrm>
            <a:off x="6217920" y="2788920"/>
            <a:ext cx="365760" cy="365760"/>
          </a:xfrm>
          <a:prstGeom prst="ellipse">
            <a:avLst/>
          </a:prstGeom>
          <a:solidFill>
            <a:srgbClr val="EF3B2D"/>
          </a:solidFill>
          <a:ln w="12700">
            <a:solidFill>
              <a:srgbClr val="EF3B2D"/>
            </a:solidFill>
            <a:prstDash val="solid"/>
          </a:ln>
        </p:spPr>
        <p:txBody>
          <a:bodyPr/>
          <a:lstStyle/>
          <a:p>
            <a:endParaRPr lang="en-US"/>
          </a:p>
        </p:txBody>
      </p:sp>
      <p:sp>
        <p:nvSpPr>
          <p:cNvPr id="34" name="Text 31"/>
          <p:cNvSpPr txBox="1"/>
          <p:nvPr/>
        </p:nvSpPr>
        <p:spPr>
          <a:xfrm>
            <a:off x="6217920" y="2788920"/>
            <a:ext cx="36576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35" name="Text 32"/>
          <p:cNvSpPr txBox="1"/>
          <p:nvPr/>
        </p:nvSpPr>
        <p:spPr>
          <a:xfrm>
            <a:off x="6720840" y="2788920"/>
            <a:ext cx="1828800" cy="365760"/>
          </a:xfrm>
          <a:prstGeom prst="rect">
            <a:avLst/>
          </a:prstGeom>
          <a:noFill/>
          <a:ln/>
        </p:spPr>
        <p:txBody>
          <a:bodyPr wrap="square" lIns="0" tIns="0" rIns="0" bIns="0" rtlCol="0" anchor="ctr"/>
          <a:lstStyle/>
          <a:p>
            <a:pPr marL="0" indent="0">
              <a:buNone/>
            </a:pPr>
            <a:r>
              <a:rPr lang="en-US" sz="1700" b="1" dirty="0">
                <a:solidFill>
                  <a:srgbClr val="1A2430"/>
                </a:solidFill>
                <a:latin typeface="Calibri" pitchFamily="34" charset="0"/>
                <a:ea typeface="Calibri" pitchFamily="34" charset="-122"/>
                <a:cs typeface="Calibri" pitchFamily="34" charset="-120"/>
              </a:rPr>
              <a:t>API</a:t>
            </a:r>
            <a:endParaRPr lang="en-US" sz="1700" dirty="0"/>
          </a:p>
        </p:txBody>
      </p:sp>
      <p:sp>
        <p:nvSpPr>
          <p:cNvPr id="36" name="Text 33"/>
          <p:cNvSpPr txBox="1"/>
          <p:nvPr/>
        </p:nvSpPr>
        <p:spPr>
          <a:xfrm>
            <a:off x="6217920" y="3264408"/>
            <a:ext cx="2286000" cy="502920"/>
          </a:xfrm>
          <a:prstGeom prst="rect">
            <a:avLst/>
          </a:prstGeom>
          <a:noFill/>
          <a:ln/>
        </p:spPr>
        <p:txBody>
          <a:bodyPr wrap="square" lIns="0" tIns="0" rIns="0" bIns="0" rtlCol="0" anchor="ctr"/>
          <a:lstStyle/>
          <a:p>
            <a:pPr marL="0" indent="0">
              <a:buNone/>
            </a:pPr>
            <a:r>
              <a:rPr lang="en-US" sz="1200" dirty="0">
                <a:solidFill>
                  <a:srgbClr val="6B7785"/>
                </a:solidFill>
                <a:latin typeface="Calibri" pitchFamily="34" charset="0"/>
                <a:ea typeface="Calibri" pitchFamily="34" charset="-122"/>
                <a:cs typeface="Calibri" pitchFamily="34" charset="-120"/>
              </a:rPr>
              <a:t>/api/products, JSON, versioned</a:t>
            </a:r>
            <a:endParaRPr lang="en-US" sz="1200" dirty="0"/>
          </a:p>
        </p:txBody>
      </p:sp>
      <p:sp>
        <p:nvSpPr>
          <p:cNvPr id="37" name="Text 34"/>
          <p:cNvSpPr txBox="1"/>
          <p:nvPr/>
        </p:nvSpPr>
        <p:spPr>
          <a:xfrm>
            <a:off x="457200" y="4160520"/>
            <a:ext cx="8229600" cy="365760"/>
          </a:xfrm>
          <a:prstGeom prst="rect">
            <a:avLst/>
          </a:prstGeom>
          <a:noFill/>
          <a:ln/>
        </p:spPr>
        <p:txBody>
          <a:bodyPr wrap="square" lIns="0" tIns="0" rIns="0" bIns="0" rtlCol="0" anchor="ctr"/>
          <a:lstStyle/>
          <a:p>
            <a:pPr marL="0" indent="0">
              <a:buNone/>
            </a:pPr>
            <a:r>
              <a:rPr lang="en-US" sz="1300" i="1" dirty="0">
                <a:solidFill>
                  <a:srgbClr val="6B7785"/>
                </a:solidFill>
                <a:latin typeface="Calibri" pitchFamily="34" charset="0"/>
                <a:ea typeface="Calibri" pitchFamily="34" charset="-122"/>
                <a:cs typeface="Calibri" pitchFamily="34" charset="-120"/>
              </a:rPr>
              <a:t>Nothing on screen was pre-built. The repo is public — link in the YouTube description.</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1620"/>
        </a:solidFill>
        <a:effectLst/>
      </p:bgPr>
    </p:bg>
    <p:spTree>
      <p:nvGrpSpPr>
        <p:cNvPr id="1" name=""/>
        <p:cNvGrpSpPr/>
        <p:nvPr/>
      </p:nvGrpSpPr>
      <p:grpSpPr>
        <a:xfrm>
          <a:off x="0" y="0"/>
          <a:ext cx="0" cy="0"/>
          <a:chOff x="0" y="0"/>
          <a:chExt cx="0" cy="0"/>
        </a:xfrm>
      </p:grpSpPr>
      <p:pic>
        <p:nvPicPr>
          <p:cNvPr id="2" name="Image 0" descr="/home/claude/deck/assets/mark-t.png"/>
          <p:cNvPicPr>
            <a:picLocks noChangeAspect="1"/>
          </p:cNvPicPr>
          <p:nvPr/>
        </p:nvPicPr>
        <p:blipFill>
          <a:blip r:embed="rId3"/>
          <a:stretch>
            <a:fillRect/>
          </a:stretch>
        </p:blipFill>
        <p:spPr>
          <a:xfrm>
            <a:off x="8092440" y="384048"/>
            <a:ext cx="594360" cy="365760"/>
          </a:xfrm>
          <a:prstGeom prst="rect">
            <a:avLst/>
          </a:prstGeom>
        </p:spPr>
      </p:pic>
      <p:sp>
        <p:nvSpPr>
          <p:cNvPr id="3" name="Text 0"/>
          <p:cNvSpPr txBox="1"/>
          <p:nvPr/>
        </p:nvSpPr>
        <p:spPr>
          <a:xfrm>
            <a:off x="457200" y="320040"/>
            <a:ext cx="7498080" cy="64008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Also in the box — no plugins required</a:t>
            </a:r>
            <a:endParaRPr lang="en-US" sz="3000" dirty="0"/>
          </a:p>
        </p:txBody>
      </p:sp>
      <p:sp>
        <p:nvSpPr>
          <p:cNvPr id="4" name="Text 1"/>
          <p:cNvSpPr txBox="1"/>
          <p:nvPr/>
        </p:nvSpPr>
        <p:spPr>
          <a:xfrm>
            <a:off x="457200" y="109728"/>
            <a:ext cx="5486400" cy="228600"/>
          </a:xfrm>
          <a:prstGeom prst="rect">
            <a:avLst/>
          </a:prstGeom>
          <a:noFill/>
          <a:ln/>
        </p:spPr>
        <p:txBody>
          <a:bodyPr wrap="square" lIns="0" tIns="0" rIns="0" bIns="0" rtlCol="0" anchor="ctr"/>
          <a:lstStyle/>
          <a:p>
            <a:pPr marL="0" indent="0">
              <a:buNone/>
            </a:pPr>
            <a:r>
              <a:rPr lang="en-US" sz="1000" b="1" kern="0" spc="200" dirty="0">
                <a:solidFill>
                  <a:srgbClr val="EF3B2D"/>
                </a:solidFill>
                <a:latin typeface="Calibri" pitchFamily="34" charset="0"/>
                <a:ea typeface="Calibri" pitchFamily="34" charset="-122"/>
                <a:cs typeface="Calibri" pitchFamily="34" charset="-120"/>
              </a:rPr>
              <a:t>WHAT WE DIDN'T HAVE TIME FOR</a:t>
            </a:r>
            <a:endParaRPr lang="en-US" sz="1000" dirty="0"/>
          </a:p>
        </p:txBody>
      </p:sp>
      <p:sp>
        <p:nvSpPr>
          <p:cNvPr id="5" name="Text 2"/>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9AA7B4"/>
                </a:solidFill>
                <a:latin typeface="Calibri" pitchFamily="34" charset="0"/>
                <a:ea typeface="Calibri" pitchFamily="34" charset="-122"/>
                <a:cs typeface="Calibri" pitchFamily="34" charset="-120"/>
              </a:rPr>
              <a:t>wheels.dev   ·   Mid-Michigan CFUG · Sept 15, 2026</a:t>
            </a:r>
            <a:endParaRPr lang="en-US" sz="9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9AA7B4"/>
                </a:solidFill>
                <a:latin typeface="Calibri" pitchFamily="34" charset="0"/>
                <a:ea typeface="Calibri" pitchFamily="34" charset="-122"/>
                <a:cs typeface="Calibri" pitchFamily="34" charset="-120"/>
              </a:rPr>
              <a:t>22</a:t>
            </a:r>
            <a:endParaRPr lang="en-US" sz="900" dirty="0"/>
          </a:p>
        </p:txBody>
      </p:sp>
      <p:sp>
        <p:nvSpPr>
          <p:cNvPr id="7" name="Shape 4"/>
          <p:cNvSpPr/>
          <p:nvPr/>
        </p:nvSpPr>
        <p:spPr>
          <a:xfrm>
            <a:off x="457200" y="1188720"/>
            <a:ext cx="1920240" cy="1371600"/>
          </a:xfrm>
          <a:prstGeom prst="roundRect">
            <a:avLst>
              <a:gd name="adj" fmla="val 5333"/>
            </a:avLst>
          </a:prstGeom>
          <a:solidFill>
            <a:srgbClr val="16232F"/>
          </a:solidFill>
          <a:ln w="12700">
            <a:solidFill>
              <a:srgbClr val="16232F"/>
            </a:solidFill>
            <a:prstDash val="solid"/>
          </a:ln>
        </p:spPr>
        <p:txBody>
          <a:bodyPr/>
          <a:lstStyle/>
          <a:p>
            <a:endParaRPr lang="en-US"/>
          </a:p>
        </p:txBody>
      </p:sp>
      <p:sp>
        <p:nvSpPr>
          <p:cNvPr id="8" name="Text 5"/>
          <p:cNvSpPr txBox="1"/>
          <p:nvPr/>
        </p:nvSpPr>
        <p:spPr>
          <a:xfrm>
            <a:off x="621792" y="1325880"/>
            <a:ext cx="1600200" cy="50292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Security middleware</a:t>
            </a:r>
            <a:endParaRPr lang="en-US" sz="1350" dirty="0"/>
          </a:p>
        </p:txBody>
      </p:sp>
      <p:sp>
        <p:nvSpPr>
          <p:cNvPr id="9" name="Text 6"/>
          <p:cNvSpPr txBox="1"/>
          <p:nvPr/>
        </p:nvSpPr>
        <p:spPr>
          <a:xfrm>
            <a:off x="621792" y="1847088"/>
            <a:ext cx="1600200" cy="640080"/>
          </a:xfrm>
          <a:prstGeom prst="rect">
            <a:avLst/>
          </a:prstGeom>
          <a:noFill/>
          <a:ln/>
        </p:spPr>
        <p:txBody>
          <a:bodyPr wrap="square" lIns="0" tIns="0" rIns="0" bIns="0" rtlCol="0" anchor="t"/>
          <a:lstStyle/>
          <a:p>
            <a:pPr marL="0" indent="0">
              <a:buNone/>
            </a:pPr>
            <a:r>
              <a:rPr lang="en-US" sz="1050" dirty="0">
                <a:solidFill>
                  <a:srgbClr val="9AA7B4"/>
                </a:solidFill>
                <a:latin typeface="Calibri" pitchFamily="34" charset="0"/>
                <a:ea typeface="Calibri" pitchFamily="34" charset="-122"/>
                <a:cs typeface="Calibri" pitchFamily="34" charset="-120"/>
              </a:rPr>
              <a:t>CORS, CSP, HSTS, rate limiting, CSRF</a:t>
            </a:r>
            <a:endParaRPr lang="en-US" sz="1050" dirty="0"/>
          </a:p>
        </p:txBody>
      </p:sp>
      <p:sp>
        <p:nvSpPr>
          <p:cNvPr id="10" name="Shape 7"/>
          <p:cNvSpPr/>
          <p:nvPr/>
        </p:nvSpPr>
        <p:spPr>
          <a:xfrm>
            <a:off x="2560320" y="1188720"/>
            <a:ext cx="1920240" cy="1371600"/>
          </a:xfrm>
          <a:prstGeom prst="roundRect">
            <a:avLst>
              <a:gd name="adj" fmla="val 5333"/>
            </a:avLst>
          </a:prstGeom>
          <a:solidFill>
            <a:srgbClr val="16232F"/>
          </a:solidFill>
          <a:ln w="12700">
            <a:solidFill>
              <a:srgbClr val="16232F"/>
            </a:solidFill>
            <a:prstDash val="solid"/>
          </a:ln>
        </p:spPr>
        <p:txBody>
          <a:bodyPr/>
          <a:lstStyle/>
          <a:p>
            <a:endParaRPr lang="en-US"/>
          </a:p>
        </p:txBody>
      </p:sp>
      <p:sp>
        <p:nvSpPr>
          <p:cNvPr id="11" name="Text 8"/>
          <p:cNvSpPr txBox="1"/>
          <p:nvPr/>
        </p:nvSpPr>
        <p:spPr>
          <a:xfrm>
            <a:off x="2724912" y="1325880"/>
            <a:ext cx="1600200" cy="50292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Server-Sent Events</a:t>
            </a:r>
            <a:endParaRPr lang="en-US" sz="1350" dirty="0"/>
          </a:p>
        </p:txBody>
      </p:sp>
      <p:sp>
        <p:nvSpPr>
          <p:cNvPr id="12" name="Text 9"/>
          <p:cNvSpPr txBox="1"/>
          <p:nvPr/>
        </p:nvSpPr>
        <p:spPr>
          <a:xfrm>
            <a:off x="2724912" y="1847088"/>
            <a:ext cx="1600200" cy="640080"/>
          </a:xfrm>
          <a:prstGeom prst="rect">
            <a:avLst/>
          </a:prstGeom>
          <a:noFill/>
          <a:ln/>
        </p:spPr>
        <p:txBody>
          <a:bodyPr wrap="square" lIns="0" tIns="0" rIns="0" bIns="0" rtlCol="0" anchor="t"/>
          <a:lstStyle/>
          <a:p>
            <a:pPr marL="0" indent="0">
              <a:buNone/>
            </a:pPr>
            <a:r>
              <a:rPr lang="en-US" sz="1050" dirty="0">
                <a:solidFill>
                  <a:srgbClr val="9AA7B4"/>
                </a:solidFill>
                <a:latin typeface="Calibri" pitchFamily="34" charset="0"/>
                <a:ea typeface="Calibri" pitchFamily="34" charset="-122"/>
                <a:cs typeface="Calibri" pitchFamily="34" charset="-120"/>
              </a:rPr>
              <a:t>channels for live updates without a socket server</a:t>
            </a:r>
            <a:endParaRPr lang="en-US" sz="1050" dirty="0"/>
          </a:p>
        </p:txBody>
      </p:sp>
      <p:sp>
        <p:nvSpPr>
          <p:cNvPr id="13" name="Shape 10"/>
          <p:cNvSpPr/>
          <p:nvPr/>
        </p:nvSpPr>
        <p:spPr>
          <a:xfrm>
            <a:off x="4663440" y="1188720"/>
            <a:ext cx="1920240" cy="1371600"/>
          </a:xfrm>
          <a:prstGeom prst="roundRect">
            <a:avLst>
              <a:gd name="adj" fmla="val 5333"/>
            </a:avLst>
          </a:prstGeom>
          <a:solidFill>
            <a:srgbClr val="16232F"/>
          </a:solidFill>
          <a:ln w="12700">
            <a:solidFill>
              <a:srgbClr val="16232F"/>
            </a:solidFill>
            <a:prstDash val="solid"/>
          </a:ln>
        </p:spPr>
        <p:txBody>
          <a:bodyPr/>
          <a:lstStyle/>
          <a:p>
            <a:endParaRPr lang="en-US"/>
          </a:p>
        </p:txBody>
      </p:sp>
      <p:sp>
        <p:nvSpPr>
          <p:cNvPr id="14" name="Text 11"/>
          <p:cNvSpPr txBox="1"/>
          <p:nvPr/>
        </p:nvSpPr>
        <p:spPr>
          <a:xfrm>
            <a:off x="4828032" y="1325880"/>
            <a:ext cx="1600200" cy="50292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Background jobs</a:t>
            </a:r>
            <a:endParaRPr lang="en-US" sz="1350" dirty="0"/>
          </a:p>
        </p:txBody>
      </p:sp>
      <p:sp>
        <p:nvSpPr>
          <p:cNvPr id="15" name="Text 12"/>
          <p:cNvSpPr txBox="1"/>
          <p:nvPr/>
        </p:nvSpPr>
        <p:spPr>
          <a:xfrm>
            <a:off x="4828032" y="1847088"/>
            <a:ext cx="1600200" cy="640080"/>
          </a:xfrm>
          <a:prstGeom prst="rect">
            <a:avLst/>
          </a:prstGeom>
          <a:noFill/>
          <a:ln/>
        </p:spPr>
        <p:txBody>
          <a:bodyPr wrap="square" lIns="0" tIns="0" rIns="0" bIns="0" rtlCol="0" anchor="t"/>
          <a:lstStyle/>
          <a:p>
            <a:pPr marL="0" indent="0">
              <a:buNone/>
            </a:pPr>
            <a:r>
              <a:rPr lang="en-US" sz="1050" dirty="0">
                <a:solidFill>
                  <a:srgbClr val="9AA7B4"/>
                </a:solidFill>
                <a:latin typeface="Calibri" pitchFamily="34" charset="0"/>
                <a:ea typeface="Calibri" pitchFamily="34" charset="-122"/>
                <a:cs typeface="Calibri" pitchFamily="34" charset="-120"/>
              </a:rPr>
              <a:t>queue work out of the request</a:t>
            </a:r>
            <a:endParaRPr lang="en-US" sz="1050" dirty="0"/>
          </a:p>
        </p:txBody>
      </p:sp>
      <p:sp>
        <p:nvSpPr>
          <p:cNvPr id="16" name="Shape 13"/>
          <p:cNvSpPr/>
          <p:nvPr/>
        </p:nvSpPr>
        <p:spPr>
          <a:xfrm>
            <a:off x="6766560" y="1188720"/>
            <a:ext cx="1920240" cy="1371600"/>
          </a:xfrm>
          <a:prstGeom prst="roundRect">
            <a:avLst>
              <a:gd name="adj" fmla="val 5333"/>
            </a:avLst>
          </a:prstGeom>
          <a:solidFill>
            <a:srgbClr val="16232F"/>
          </a:solidFill>
          <a:ln w="12700">
            <a:solidFill>
              <a:srgbClr val="16232F"/>
            </a:solidFill>
            <a:prstDash val="solid"/>
          </a:ln>
        </p:spPr>
        <p:txBody>
          <a:bodyPr/>
          <a:lstStyle/>
          <a:p>
            <a:endParaRPr lang="en-US"/>
          </a:p>
        </p:txBody>
      </p:sp>
      <p:sp>
        <p:nvSpPr>
          <p:cNvPr id="17" name="Text 14"/>
          <p:cNvSpPr txBox="1"/>
          <p:nvPr/>
        </p:nvSpPr>
        <p:spPr>
          <a:xfrm>
            <a:off x="6931152" y="1325880"/>
            <a:ext cx="1600200" cy="50292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Storage disks</a:t>
            </a:r>
            <a:endParaRPr lang="en-US" sz="1350" dirty="0"/>
          </a:p>
        </p:txBody>
      </p:sp>
      <p:sp>
        <p:nvSpPr>
          <p:cNvPr id="18" name="Text 15"/>
          <p:cNvSpPr txBox="1"/>
          <p:nvPr/>
        </p:nvSpPr>
        <p:spPr>
          <a:xfrm>
            <a:off x="6931152" y="1847088"/>
            <a:ext cx="1600200" cy="640080"/>
          </a:xfrm>
          <a:prstGeom prst="rect">
            <a:avLst/>
          </a:prstGeom>
          <a:noFill/>
          <a:ln/>
        </p:spPr>
        <p:txBody>
          <a:bodyPr wrap="square" lIns="0" tIns="0" rIns="0" bIns="0" rtlCol="0" anchor="t"/>
          <a:lstStyle/>
          <a:p>
            <a:pPr marL="0" indent="0">
              <a:buNone/>
            </a:pPr>
            <a:r>
              <a:rPr lang="en-US" sz="1050" dirty="0">
                <a:solidFill>
                  <a:srgbClr val="9AA7B4"/>
                </a:solidFill>
                <a:latin typeface="Calibri" pitchFamily="34" charset="0"/>
                <a:ea typeface="Calibri" pitchFamily="34" charset="-122"/>
                <a:cs typeface="Calibri" pitchFamily="34" charset="-120"/>
              </a:rPr>
              <a:t>local + S3 drivers, presigned URLs, no AWS SDK</a:t>
            </a:r>
            <a:endParaRPr lang="en-US" sz="1050" dirty="0"/>
          </a:p>
        </p:txBody>
      </p:sp>
      <p:sp>
        <p:nvSpPr>
          <p:cNvPr id="19" name="Shape 16"/>
          <p:cNvSpPr/>
          <p:nvPr/>
        </p:nvSpPr>
        <p:spPr>
          <a:xfrm>
            <a:off x="457200" y="2743200"/>
            <a:ext cx="1920240" cy="1371600"/>
          </a:xfrm>
          <a:prstGeom prst="roundRect">
            <a:avLst>
              <a:gd name="adj" fmla="val 5333"/>
            </a:avLst>
          </a:prstGeom>
          <a:solidFill>
            <a:srgbClr val="16232F"/>
          </a:solidFill>
          <a:ln w="12700">
            <a:solidFill>
              <a:srgbClr val="16232F"/>
            </a:solidFill>
            <a:prstDash val="solid"/>
          </a:ln>
        </p:spPr>
        <p:txBody>
          <a:bodyPr/>
          <a:lstStyle/>
          <a:p>
            <a:endParaRPr lang="en-US"/>
          </a:p>
        </p:txBody>
      </p:sp>
      <p:sp>
        <p:nvSpPr>
          <p:cNvPr id="20" name="Text 17"/>
          <p:cNvSpPr txBox="1"/>
          <p:nvPr/>
        </p:nvSpPr>
        <p:spPr>
          <a:xfrm>
            <a:off x="621792" y="2880360"/>
            <a:ext cx="1600200" cy="50292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Multi-tenancy</a:t>
            </a:r>
            <a:endParaRPr lang="en-US" sz="1350" dirty="0"/>
          </a:p>
        </p:txBody>
      </p:sp>
      <p:sp>
        <p:nvSpPr>
          <p:cNvPr id="21" name="Text 18"/>
          <p:cNvSpPr txBox="1"/>
          <p:nvPr/>
        </p:nvSpPr>
        <p:spPr>
          <a:xfrm>
            <a:off x="621792" y="3401568"/>
            <a:ext cx="1600200" cy="640080"/>
          </a:xfrm>
          <a:prstGeom prst="rect">
            <a:avLst/>
          </a:prstGeom>
          <a:noFill/>
          <a:ln/>
        </p:spPr>
        <p:txBody>
          <a:bodyPr wrap="square" lIns="0" tIns="0" rIns="0" bIns="0" rtlCol="0" anchor="t"/>
          <a:lstStyle/>
          <a:p>
            <a:pPr marL="0" indent="0">
              <a:buNone/>
            </a:pPr>
            <a:r>
              <a:rPr lang="en-US" sz="1050" dirty="0">
                <a:solidFill>
                  <a:srgbClr val="9AA7B4"/>
                </a:solidFill>
                <a:latin typeface="Calibri" pitchFamily="34" charset="0"/>
                <a:ea typeface="Calibri" pitchFamily="34" charset="-122"/>
                <a:cs typeface="Calibri" pitchFamily="34" charset="-120"/>
              </a:rPr>
              <a:t>per-tenant datasources</a:t>
            </a:r>
            <a:endParaRPr lang="en-US" sz="1050" dirty="0"/>
          </a:p>
        </p:txBody>
      </p:sp>
      <p:sp>
        <p:nvSpPr>
          <p:cNvPr id="22" name="Shape 19"/>
          <p:cNvSpPr/>
          <p:nvPr/>
        </p:nvSpPr>
        <p:spPr>
          <a:xfrm>
            <a:off x="2560320" y="2743200"/>
            <a:ext cx="1920240" cy="1371600"/>
          </a:xfrm>
          <a:prstGeom prst="roundRect">
            <a:avLst>
              <a:gd name="adj" fmla="val 5333"/>
            </a:avLst>
          </a:prstGeom>
          <a:solidFill>
            <a:srgbClr val="16232F"/>
          </a:solidFill>
          <a:ln w="12700">
            <a:solidFill>
              <a:srgbClr val="16232F"/>
            </a:solidFill>
            <a:prstDash val="solid"/>
          </a:ln>
        </p:spPr>
        <p:txBody>
          <a:bodyPr/>
          <a:lstStyle/>
          <a:p>
            <a:endParaRPr lang="en-US"/>
          </a:p>
        </p:txBody>
      </p:sp>
      <p:sp>
        <p:nvSpPr>
          <p:cNvPr id="23" name="Text 20"/>
          <p:cNvSpPr txBox="1"/>
          <p:nvPr/>
        </p:nvSpPr>
        <p:spPr>
          <a:xfrm>
            <a:off x="2724912" y="2880360"/>
            <a:ext cx="1600200" cy="50292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Deploy</a:t>
            </a:r>
            <a:endParaRPr lang="en-US" sz="1350" dirty="0"/>
          </a:p>
        </p:txBody>
      </p:sp>
      <p:sp>
        <p:nvSpPr>
          <p:cNvPr id="24" name="Text 21"/>
          <p:cNvSpPr txBox="1"/>
          <p:nvPr/>
        </p:nvSpPr>
        <p:spPr>
          <a:xfrm>
            <a:off x="2724912" y="3401568"/>
            <a:ext cx="1600200" cy="640080"/>
          </a:xfrm>
          <a:prstGeom prst="rect">
            <a:avLst/>
          </a:prstGeom>
          <a:noFill/>
          <a:ln/>
        </p:spPr>
        <p:txBody>
          <a:bodyPr wrap="square" lIns="0" tIns="0" rIns="0" bIns="0" rtlCol="0" anchor="t"/>
          <a:lstStyle/>
          <a:p>
            <a:pPr marL="0" indent="0">
              <a:buNone/>
            </a:pPr>
            <a:r>
              <a:rPr lang="en-US" sz="1050" dirty="0">
                <a:solidFill>
                  <a:srgbClr val="9AA7B4"/>
                </a:solidFill>
                <a:latin typeface="Calibri" pitchFamily="34" charset="0"/>
                <a:ea typeface="Calibri" pitchFamily="34" charset="-122"/>
                <a:cs typeface="Calibri" pitchFamily="34" charset="-120"/>
              </a:rPr>
              <a:t>Docker images and Kamal-compatible deploys</a:t>
            </a:r>
            <a:endParaRPr lang="en-US" sz="1050" dirty="0"/>
          </a:p>
        </p:txBody>
      </p:sp>
      <p:sp>
        <p:nvSpPr>
          <p:cNvPr id="25" name="Shape 22"/>
          <p:cNvSpPr/>
          <p:nvPr/>
        </p:nvSpPr>
        <p:spPr>
          <a:xfrm>
            <a:off x="4663440" y="2743200"/>
            <a:ext cx="1920240" cy="1371600"/>
          </a:xfrm>
          <a:prstGeom prst="roundRect">
            <a:avLst>
              <a:gd name="adj" fmla="val 5333"/>
            </a:avLst>
          </a:prstGeom>
          <a:solidFill>
            <a:srgbClr val="16232F"/>
          </a:solidFill>
          <a:ln w="12700">
            <a:solidFill>
              <a:srgbClr val="16232F"/>
            </a:solidFill>
            <a:prstDash val="solid"/>
          </a:ln>
        </p:spPr>
        <p:txBody>
          <a:bodyPr/>
          <a:lstStyle/>
          <a:p>
            <a:endParaRPr lang="en-US"/>
          </a:p>
        </p:txBody>
      </p:sp>
      <p:sp>
        <p:nvSpPr>
          <p:cNvPr id="26" name="Text 23"/>
          <p:cNvSpPr txBox="1"/>
          <p:nvPr/>
        </p:nvSpPr>
        <p:spPr>
          <a:xfrm>
            <a:off x="4828032" y="2880360"/>
            <a:ext cx="1600200" cy="50292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i18n · caching · email</a:t>
            </a:r>
            <a:endParaRPr lang="en-US" sz="1350" dirty="0"/>
          </a:p>
        </p:txBody>
      </p:sp>
      <p:sp>
        <p:nvSpPr>
          <p:cNvPr id="27" name="Text 24"/>
          <p:cNvSpPr txBox="1"/>
          <p:nvPr/>
        </p:nvSpPr>
        <p:spPr>
          <a:xfrm>
            <a:off x="4828032" y="3401568"/>
            <a:ext cx="1600200" cy="640080"/>
          </a:xfrm>
          <a:prstGeom prst="rect">
            <a:avLst/>
          </a:prstGeom>
          <a:noFill/>
          <a:ln/>
        </p:spPr>
        <p:txBody>
          <a:bodyPr wrap="square" lIns="0" tIns="0" rIns="0" bIns="0" rtlCol="0" anchor="t"/>
          <a:lstStyle/>
          <a:p>
            <a:pPr marL="0" indent="0">
              <a:buNone/>
            </a:pPr>
            <a:r>
              <a:rPr lang="en-US" sz="1050" dirty="0">
                <a:solidFill>
                  <a:srgbClr val="9AA7B4"/>
                </a:solidFill>
                <a:latin typeface="Calibri" pitchFamily="34" charset="0"/>
                <a:ea typeface="Calibri" pitchFamily="34" charset="-122"/>
                <a:cs typeface="Calibri" pitchFamily="34" charset="-120"/>
              </a:rPr>
              <a:t>the usual suspects, first-party</a:t>
            </a:r>
            <a:endParaRPr lang="en-US" sz="1050" dirty="0"/>
          </a:p>
        </p:txBody>
      </p:sp>
      <p:sp>
        <p:nvSpPr>
          <p:cNvPr id="28" name="Shape 25"/>
          <p:cNvSpPr/>
          <p:nvPr/>
        </p:nvSpPr>
        <p:spPr>
          <a:xfrm>
            <a:off x="6766560" y="2743200"/>
            <a:ext cx="1920240" cy="1371600"/>
          </a:xfrm>
          <a:prstGeom prst="roundRect">
            <a:avLst>
              <a:gd name="adj" fmla="val 5333"/>
            </a:avLst>
          </a:prstGeom>
          <a:solidFill>
            <a:srgbClr val="16232F"/>
          </a:solidFill>
          <a:ln w="12700">
            <a:solidFill>
              <a:srgbClr val="16232F"/>
            </a:solidFill>
            <a:prstDash val="solid"/>
          </a:ln>
        </p:spPr>
        <p:txBody>
          <a:bodyPr/>
          <a:lstStyle/>
          <a:p>
            <a:endParaRPr lang="en-US"/>
          </a:p>
        </p:txBody>
      </p:sp>
      <p:sp>
        <p:nvSpPr>
          <p:cNvPr id="29" name="Text 26"/>
          <p:cNvSpPr txBox="1"/>
          <p:nvPr/>
        </p:nvSpPr>
        <p:spPr>
          <a:xfrm>
            <a:off x="6931152" y="2880360"/>
            <a:ext cx="1600200" cy="50292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Plugins &amp; packages</a:t>
            </a:r>
            <a:endParaRPr lang="en-US" sz="1350" dirty="0"/>
          </a:p>
        </p:txBody>
      </p:sp>
      <p:sp>
        <p:nvSpPr>
          <p:cNvPr id="30" name="Text 27"/>
          <p:cNvSpPr txBox="1"/>
          <p:nvPr/>
        </p:nvSpPr>
        <p:spPr>
          <a:xfrm>
            <a:off x="6931152" y="3401568"/>
            <a:ext cx="1600200" cy="640080"/>
          </a:xfrm>
          <a:prstGeom prst="rect">
            <a:avLst/>
          </a:prstGeom>
          <a:noFill/>
          <a:ln/>
        </p:spPr>
        <p:txBody>
          <a:bodyPr wrap="square" lIns="0" tIns="0" rIns="0" bIns="0" rtlCol="0" anchor="t"/>
          <a:lstStyle/>
          <a:p>
            <a:pPr marL="0" indent="0">
              <a:buNone/>
            </a:pPr>
            <a:r>
              <a:rPr lang="en-US" sz="1050" dirty="0">
                <a:solidFill>
                  <a:srgbClr val="9AA7B4"/>
                </a:solidFill>
                <a:latin typeface="Calibri" pitchFamily="34" charset="0"/>
                <a:ea typeface="Calibri" pitchFamily="34" charset="-122"/>
                <a:cs typeface="Calibri" pitchFamily="34" charset="-120"/>
              </a:rPr>
              <a:t>ForgeBox ecosystem when you want more</a:t>
            </a:r>
            <a:endParaRPr lang="en-US" sz="1050" dirty="0"/>
          </a:p>
        </p:txBody>
      </p:sp>
      <p:sp>
        <p:nvSpPr>
          <p:cNvPr id="31" name="Text 28"/>
          <p:cNvSpPr txBox="1"/>
          <p:nvPr/>
        </p:nvSpPr>
        <p:spPr>
          <a:xfrm>
            <a:off x="457200" y="4343400"/>
            <a:ext cx="8229600" cy="320040"/>
          </a:xfrm>
          <a:prstGeom prst="rect">
            <a:avLst/>
          </a:prstGeom>
          <a:noFill/>
          <a:ln/>
        </p:spPr>
        <p:txBody>
          <a:bodyPr wrap="square" lIns="0" tIns="0" rIns="0" bIns="0" rtlCol="0" anchor="ctr"/>
          <a:lstStyle/>
          <a:p>
            <a:pPr marL="0" indent="0">
              <a:buNone/>
            </a:pPr>
            <a:r>
              <a:rPr lang="en-US" sz="1300" i="1" dirty="0">
                <a:solidFill>
                  <a:srgbClr val="C9D3DD"/>
                </a:solidFill>
                <a:latin typeface="Calibri" pitchFamily="34" charset="0"/>
                <a:ea typeface="Calibri" pitchFamily="34" charset="-122"/>
                <a:cs typeface="Calibri" pitchFamily="34" charset="-120"/>
              </a:rPr>
              <a:t>“In Rails, half of these are gems. Here they're the framework.”</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pic>
        <p:nvPicPr>
          <p:cNvPr id="2" name="Image 0" descr="/home/claude/deck/assets/mark-t.png"/>
          <p:cNvPicPr>
            <a:picLocks noChangeAspect="1"/>
          </p:cNvPicPr>
          <p:nvPr/>
        </p:nvPicPr>
        <p:blipFill>
          <a:blip r:embed="rId3"/>
          <a:stretch>
            <a:fillRect/>
          </a:stretch>
        </p:blipFill>
        <p:spPr>
          <a:xfrm>
            <a:off x="8092440" y="384048"/>
            <a:ext cx="594360" cy="365760"/>
          </a:xfrm>
          <a:prstGeom prst="rect">
            <a:avLst/>
          </a:prstGeom>
        </p:spPr>
      </p:pic>
      <p:sp>
        <p:nvSpPr>
          <p:cNvPr id="3" name="Text 0"/>
          <p:cNvSpPr txBox="1"/>
          <p:nvPr/>
        </p:nvSpPr>
        <p:spPr>
          <a:xfrm>
            <a:off x="457200" y="320040"/>
            <a:ext cx="7498080" cy="640080"/>
          </a:xfrm>
          <a:prstGeom prst="rect">
            <a:avLst/>
          </a:prstGeom>
          <a:noFill/>
          <a:ln/>
        </p:spPr>
        <p:txBody>
          <a:bodyPr wrap="square" lIns="0" tIns="0" rIns="0" bIns="0" rtlCol="0" anchor="ctr"/>
          <a:lstStyle/>
          <a:p>
            <a:pPr marL="0" indent="0">
              <a:buNone/>
            </a:pPr>
            <a:r>
              <a:rPr lang="en-US" sz="3000" b="1" dirty="0">
                <a:solidFill>
                  <a:srgbClr val="1A2430"/>
                </a:solidFill>
                <a:latin typeface="Calibri" pitchFamily="34" charset="0"/>
                <a:ea typeface="Calibri" pitchFamily="34" charset="-122"/>
                <a:cs typeface="Calibri" pitchFamily="34" charset="-120"/>
              </a:rPr>
              <a:t>“How do I move my existing app to it?”</a:t>
            </a:r>
            <a:endParaRPr lang="en-US" sz="3000" dirty="0"/>
          </a:p>
        </p:txBody>
      </p:sp>
      <p:sp>
        <p:nvSpPr>
          <p:cNvPr id="4" name="Text 1"/>
          <p:cNvSpPr txBox="1"/>
          <p:nvPr/>
        </p:nvSpPr>
        <p:spPr>
          <a:xfrm>
            <a:off x="457200" y="109728"/>
            <a:ext cx="5486400" cy="228600"/>
          </a:xfrm>
          <a:prstGeom prst="rect">
            <a:avLst/>
          </a:prstGeom>
          <a:noFill/>
          <a:ln/>
        </p:spPr>
        <p:txBody>
          <a:bodyPr wrap="square" lIns="0" tIns="0" rIns="0" bIns="0" rtlCol="0" anchor="ctr"/>
          <a:lstStyle/>
          <a:p>
            <a:pPr marL="0" indent="0">
              <a:buNone/>
            </a:pPr>
            <a:r>
              <a:rPr lang="en-US" sz="1000" b="1" kern="0" spc="200" dirty="0">
                <a:solidFill>
                  <a:srgbClr val="EF3B2D"/>
                </a:solidFill>
                <a:latin typeface="Calibri" pitchFamily="34" charset="0"/>
                <a:ea typeface="Calibri" pitchFamily="34" charset="-122"/>
                <a:cs typeface="Calibri" pitchFamily="34" charset="-120"/>
              </a:rPr>
              <a:t>THE QUESTION EVERYONE ASKS</a:t>
            </a:r>
            <a:endParaRPr lang="en-US" sz="1000" dirty="0"/>
          </a:p>
        </p:txBody>
      </p:sp>
      <p:sp>
        <p:nvSpPr>
          <p:cNvPr id="5" name="Text 2"/>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6B7785"/>
                </a:solidFill>
                <a:latin typeface="Calibri" pitchFamily="34" charset="0"/>
                <a:ea typeface="Calibri" pitchFamily="34" charset="-122"/>
                <a:cs typeface="Calibri" pitchFamily="34" charset="-120"/>
              </a:rPr>
              <a:t>wheels.dev   ·   Mid-Michigan CFUG · Sept 15, 2026</a:t>
            </a:r>
            <a:endParaRPr lang="en-US" sz="9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6B7785"/>
                </a:solidFill>
                <a:latin typeface="Calibri" pitchFamily="34" charset="0"/>
                <a:ea typeface="Calibri" pitchFamily="34" charset="-122"/>
                <a:cs typeface="Calibri" pitchFamily="34" charset="-120"/>
              </a:rPr>
              <a:t>23</a:t>
            </a:r>
            <a:endParaRPr lang="en-US" sz="900" dirty="0"/>
          </a:p>
        </p:txBody>
      </p:sp>
      <p:sp>
        <p:nvSpPr>
          <p:cNvPr id="7" name="Text 4"/>
          <p:cNvSpPr txBox="1"/>
          <p:nvPr/>
        </p:nvSpPr>
        <p:spPr>
          <a:xfrm>
            <a:off x="457200" y="1097280"/>
            <a:ext cx="8229600" cy="457200"/>
          </a:xfrm>
          <a:prstGeom prst="rect">
            <a:avLst/>
          </a:prstGeom>
          <a:noFill/>
          <a:ln/>
        </p:spPr>
        <p:txBody>
          <a:bodyPr wrap="square" lIns="0" tIns="0" rIns="0" bIns="0" rtlCol="0" anchor="ctr"/>
          <a:lstStyle/>
          <a:p>
            <a:pPr marL="0" indent="0">
              <a:buNone/>
            </a:pPr>
            <a:r>
              <a:rPr lang="en-US" sz="2200" b="1" dirty="0">
                <a:solidFill>
                  <a:srgbClr val="EF3B2D"/>
                </a:solidFill>
                <a:latin typeface="Calibri" pitchFamily="34" charset="0"/>
                <a:ea typeface="Calibri" pitchFamily="34" charset="-122"/>
                <a:cs typeface="Calibri" pitchFamily="34" charset="-120"/>
              </a:rPr>
              <a:t>You don't — not in one go.</a:t>
            </a:r>
            <a:endParaRPr lang="en-US" sz="2200" dirty="0"/>
          </a:p>
        </p:txBody>
      </p:sp>
      <p:sp>
        <p:nvSpPr>
          <p:cNvPr id="8" name="Shape 5"/>
          <p:cNvSpPr/>
          <p:nvPr/>
        </p:nvSpPr>
        <p:spPr>
          <a:xfrm>
            <a:off x="457200" y="1737360"/>
            <a:ext cx="457200" cy="457200"/>
          </a:xfrm>
          <a:prstGeom prst="ellipse">
            <a:avLst/>
          </a:prstGeom>
          <a:solidFill>
            <a:srgbClr val="0C1620"/>
          </a:solidFill>
          <a:ln w="12700">
            <a:solidFill>
              <a:srgbClr val="0C1620"/>
            </a:solidFill>
            <a:prstDash val="solid"/>
          </a:ln>
        </p:spPr>
        <p:txBody>
          <a:bodyPr/>
          <a:lstStyle/>
          <a:p>
            <a:endParaRPr lang="en-US"/>
          </a:p>
        </p:txBody>
      </p:sp>
      <p:sp>
        <p:nvSpPr>
          <p:cNvPr id="9" name="Text 6"/>
          <p:cNvSpPr txBox="1"/>
          <p:nvPr/>
        </p:nvSpPr>
        <p:spPr>
          <a:xfrm>
            <a:off x="457200" y="173736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0" name="Text 7"/>
          <p:cNvSpPr txBox="1"/>
          <p:nvPr/>
        </p:nvSpPr>
        <p:spPr>
          <a:xfrm>
            <a:off x="1097280" y="1691640"/>
            <a:ext cx="7589520" cy="292608"/>
          </a:xfrm>
          <a:prstGeom prst="rect">
            <a:avLst/>
          </a:prstGeom>
          <a:noFill/>
          <a:ln/>
        </p:spPr>
        <p:txBody>
          <a:bodyPr wrap="square" lIns="0" tIns="0" rIns="0" bIns="0" rtlCol="0" anchor="ctr"/>
          <a:lstStyle/>
          <a:p>
            <a:pPr marL="0" indent="0">
              <a:buNone/>
            </a:pPr>
            <a:r>
              <a:rPr lang="en-US" sz="1500" b="1" dirty="0">
                <a:solidFill>
                  <a:srgbClr val="1A2430"/>
                </a:solidFill>
                <a:latin typeface="Calibri" pitchFamily="34" charset="0"/>
                <a:ea typeface="Calibri" pitchFamily="34" charset="-122"/>
                <a:cs typeface="Calibri" pitchFamily="34" charset="-120"/>
              </a:rPr>
              <a:t>Run it beside the legacy app</a:t>
            </a:r>
            <a:endParaRPr lang="en-US" sz="1500" dirty="0"/>
          </a:p>
        </p:txBody>
      </p:sp>
      <p:sp>
        <p:nvSpPr>
          <p:cNvPr id="11" name="Text 8"/>
          <p:cNvSpPr txBox="1"/>
          <p:nvPr/>
        </p:nvSpPr>
        <p:spPr>
          <a:xfrm>
            <a:off x="1097280" y="1984248"/>
            <a:ext cx="7589520" cy="320040"/>
          </a:xfrm>
          <a:prstGeom prst="rect">
            <a:avLst/>
          </a:prstGeom>
          <a:noFill/>
          <a:ln/>
        </p:spPr>
        <p:txBody>
          <a:bodyPr wrap="square" lIns="0" tIns="0" rIns="0" bIns="0" rtlCol="0" anchor="ctr"/>
          <a:lstStyle/>
          <a:p>
            <a:pPr marL="0" indent="0">
              <a:buNone/>
            </a:pPr>
            <a:r>
              <a:rPr lang="en-US" sz="1150" dirty="0">
                <a:solidFill>
                  <a:srgbClr val="6B7785"/>
                </a:solidFill>
                <a:latin typeface="Calibri" pitchFamily="34" charset="0"/>
                <a:ea typeface="Calibri" pitchFamily="34" charset="-122"/>
                <a:cs typeface="Calibri" pitchFamily="34" charset="-120"/>
              </a:rPr>
              <a:t>Wheels sits at a URL. Put it at /app or a subdomain, pointed at the same database.</a:t>
            </a:r>
            <a:endParaRPr lang="en-US" sz="1150" dirty="0"/>
          </a:p>
        </p:txBody>
      </p:sp>
      <p:sp>
        <p:nvSpPr>
          <p:cNvPr id="12" name="Shape 9"/>
          <p:cNvSpPr/>
          <p:nvPr/>
        </p:nvSpPr>
        <p:spPr>
          <a:xfrm>
            <a:off x="457200" y="2423160"/>
            <a:ext cx="457200" cy="457200"/>
          </a:xfrm>
          <a:prstGeom prst="ellipse">
            <a:avLst/>
          </a:prstGeom>
          <a:solidFill>
            <a:srgbClr val="0C1620"/>
          </a:solidFill>
          <a:ln w="12700">
            <a:solidFill>
              <a:srgbClr val="0C1620"/>
            </a:solidFill>
            <a:prstDash val="solid"/>
          </a:ln>
        </p:spPr>
        <p:txBody>
          <a:bodyPr/>
          <a:lstStyle/>
          <a:p>
            <a:endParaRPr lang="en-US"/>
          </a:p>
        </p:txBody>
      </p:sp>
      <p:sp>
        <p:nvSpPr>
          <p:cNvPr id="13" name="Text 10"/>
          <p:cNvSpPr txBox="1"/>
          <p:nvPr/>
        </p:nvSpPr>
        <p:spPr>
          <a:xfrm>
            <a:off x="457200" y="242316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4" name="Text 11"/>
          <p:cNvSpPr txBox="1"/>
          <p:nvPr/>
        </p:nvSpPr>
        <p:spPr>
          <a:xfrm>
            <a:off x="1097280" y="2377440"/>
            <a:ext cx="7589520" cy="292608"/>
          </a:xfrm>
          <a:prstGeom prst="rect">
            <a:avLst/>
          </a:prstGeom>
          <a:noFill/>
          <a:ln/>
        </p:spPr>
        <p:txBody>
          <a:bodyPr wrap="square" lIns="0" tIns="0" rIns="0" bIns="0" rtlCol="0" anchor="ctr"/>
          <a:lstStyle/>
          <a:p>
            <a:pPr marL="0" indent="0">
              <a:buNone/>
            </a:pPr>
            <a:r>
              <a:rPr lang="en-US" sz="1500" b="1" dirty="0">
                <a:solidFill>
                  <a:srgbClr val="1A2430"/>
                </a:solidFill>
                <a:latin typeface="Calibri" pitchFamily="34" charset="0"/>
                <a:ea typeface="Calibri" pitchFamily="34" charset="-122"/>
                <a:cs typeface="Calibri" pitchFamily="34" charset="-120"/>
              </a:rPr>
              <a:t>Move one route at a time</a:t>
            </a:r>
            <a:endParaRPr lang="en-US" sz="1500" dirty="0"/>
          </a:p>
        </p:txBody>
      </p:sp>
      <p:sp>
        <p:nvSpPr>
          <p:cNvPr id="15" name="Text 12"/>
          <p:cNvSpPr txBox="1"/>
          <p:nvPr/>
        </p:nvSpPr>
        <p:spPr>
          <a:xfrm>
            <a:off x="1097280" y="2670048"/>
            <a:ext cx="7589520" cy="320040"/>
          </a:xfrm>
          <a:prstGeom prst="rect">
            <a:avLst/>
          </a:prstGeom>
          <a:noFill/>
          <a:ln/>
        </p:spPr>
        <p:txBody>
          <a:bodyPr wrap="square" lIns="0" tIns="0" rIns="0" bIns="0" rtlCol="0" anchor="ctr"/>
          <a:lstStyle/>
          <a:p>
            <a:pPr marL="0" indent="0">
              <a:buNone/>
            </a:pPr>
            <a:r>
              <a:rPr lang="en-US" sz="1150" dirty="0">
                <a:solidFill>
                  <a:srgbClr val="6B7785"/>
                </a:solidFill>
                <a:latin typeface="Calibri" pitchFamily="34" charset="0"/>
                <a:ea typeface="Calibri" pitchFamily="34" charset="-122"/>
                <a:cs typeface="Calibri" pitchFamily="34" charset="-120"/>
              </a:rPr>
              <a:t>New features land in Wheels. Old pages keep working untouched. Nothing is a big-bang.</a:t>
            </a:r>
            <a:endParaRPr lang="en-US" sz="1150" dirty="0"/>
          </a:p>
        </p:txBody>
      </p:sp>
      <p:sp>
        <p:nvSpPr>
          <p:cNvPr id="16" name="Shape 13"/>
          <p:cNvSpPr/>
          <p:nvPr/>
        </p:nvSpPr>
        <p:spPr>
          <a:xfrm>
            <a:off x="457200" y="3108960"/>
            <a:ext cx="457200" cy="457200"/>
          </a:xfrm>
          <a:prstGeom prst="ellipse">
            <a:avLst/>
          </a:prstGeom>
          <a:solidFill>
            <a:srgbClr val="0C1620"/>
          </a:solidFill>
          <a:ln w="12700">
            <a:solidFill>
              <a:srgbClr val="0C1620"/>
            </a:solidFill>
            <a:prstDash val="solid"/>
          </a:ln>
        </p:spPr>
        <p:txBody>
          <a:bodyPr/>
          <a:lstStyle/>
          <a:p>
            <a:endParaRPr lang="en-US"/>
          </a:p>
        </p:txBody>
      </p:sp>
      <p:sp>
        <p:nvSpPr>
          <p:cNvPr id="17" name="Text 14"/>
          <p:cNvSpPr txBox="1"/>
          <p:nvPr/>
        </p:nvSpPr>
        <p:spPr>
          <a:xfrm>
            <a:off x="457200" y="310896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8" name="Text 15"/>
          <p:cNvSpPr txBox="1"/>
          <p:nvPr/>
        </p:nvSpPr>
        <p:spPr>
          <a:xfrm>
            <a:off x="1097280" y="3063240"/>
            <a:ext cx="7589520" cy="292608"/>
          </a:xfrm>
          <a:prstGeom prst="rect">
            <a:avLst/>
          </a:prstGeom>
          <a:noFill/>
          <a:ln/>
        </p:spPr>
        <p:txBody>
          <a:bodyPr wrap="square" lIns="0" tIns="0" rIns="0" bIns="0" rtlCol="0" anchor="ctr"/>
          <a:lstStyle/>
          <a:p>
            <a:pPr marL="0" indent="0">
              <a:buNone/>
            </a:pPr>
            <a:r>
              <a:rPr lang="en-US" sz="1500" b="1" dirty="0">
                <a:solidFill>
                  <a:srgbClr val="1A2430"/>
                </a:solidFill>
                <a:latin typeface="Calibri" pitchFamily="34" charset="0"/>
                <a:ea typeface="Calibri" pitchFamily="34" charset="-122"/>
                <a:cs typeface="Calibri" pitchFamily="34" charset="-120"/>
              </a:rPr>
              <a:t>Models over existing tables</a:t>
            </a:r>
            <a:endParaRPr lang="en-US" sz="1500" dirty="0"/>
          </a:p>
        </p:txBody>
      </p:sp>
      <p:sp>
        <p:nvSpPr>
          <p:cNvPr id="19" name="Text 16"/>
          <p:cNvSpPr txBox="1"/>
          <p:nvPr/>
        </p:nvSpPr>
        <p:spPr>
          <a:xfrm>
            <a:off x="1097280" y="3355848"/>
            <a:ext cx="7589520" cy="320040"/>
          </a:xfrm>
          <a:prstGeom prst="rect">
            <a:avLst/>
          </a:prstGeom>
          <a:noFill/>
          <a:ln/>
        </p:spPr>
        <p:txBody>
          <a:bodyPr wrap="square" lIns="0" tIns="0" rIns="0" bIns="0" rtlCol="0" anchor="ctr"/>
          <a:lstStyle/>
          <a:p>
            <a:pPr marL="0" indent="0">
              <a:buNone/>
            </a:pPr>
            <a:r>
              <a:rPr lang="en-US" sz="1150" dirty="0">
                <a:solidFill>
                  <a:srgbClr val="6B7785"/>
                </a:solidFill>
                <a:latin typeface="Calibri" pitchFamily="34" charset="0"/>
                <a:ea typeface="Calibri" pitchFamily="34" charset="-122"/>
                <a:cs typeface="Calibri" pitchFamily="34" charset="-120"/>
              </a:rPr>
              <a:t>table("LEGACY_TBL") and property mapping mean the ORM works against the schema you have.</a:t>
            </a:r>
            <a:endParaRPr lang="en-US" sz="1150" dirty="0"/>
          </a:p>
        </p:txBody>
      </p:sp>
      <p:sp>
        <p:nvSpPr>
          <p:cNvPr id="20" name="Shape 17"/>
          <p:cNvSpPr/>
          <p:nvPr/>
        </p:nvSpPr>
        <p:spPr>
          <a:xfrm>
            <a:off x="457200" y="3794760"/>
            <a:ext cx="457200" cy="457200"/>
          </a:xfrm>
          <a:prstGeom prst="ellipse">
            <a:avLst/>
          </a:prstGeom>
          <a:solidFill>
            <a:srgbClr val="0C1620"/>
          </a:solidFill>
          <a:ln w="12700">
            <a:solidFill>
              <a:srgbClr val="0C1620"/>
            </a:solidFill>
            <a:prstDash val="solid"/>
          </a:ln>
        </p:spPr>
        <p:txBody>
          <a:bodyPr/>
          <a:lstStyle/>
          <a:p>
            <a:endParaRPr lang="en-US"/>
          </a:p>
        </p:txBody>
      </p:sp>
      <p:sp>
        <p:nvSpPr>
          <p:cNvPr id="21" name="Text 18"/>
          <p:cNvSpPr txBox="1"/>
          <p:nvPr/>
        </p:nvSpPr>
        <p:spPr>
          <a:xfrm>
            <a:off x="457200" y="379476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19"/>
          <p:cNvSpPr txBox="1"/>
          <p:nvPr/>
        </p:nvSpPr>
        <p:spPr>
          <a:xfrm>
            <a:off x="1097280" y="3749040"/>
            <a:ext cx="7589520" cy="292608"/>
          </a:xfrm>
          <a:prstGeom prst="rect">
            <a:avLst/>
          </a:prstGeom>
          <a:noFill/>
          <a:ln/>
        </p:spPr>
        <p:txBody>
          <a:bodyPr wrap="square" lIns="0" tIns="0" rIns="0" bIns="0" rtlCol="0" anchor="ctr"/>
          <a:lstStyle/>
          <a:p>
            <a:pPr marL="0" indent="0">
              <a:buNone/>
            </a:pPr>
            <a:r>
              <a:rPr lang="en-US" sz="1500" b="1" dirty="0">
                <a:solidFill>
                  <a:srgbClr val="1A2430"/>
                </a:solidFill>
                <a:latin typeface="Calibri" pitchFamily="34" charset="0"/>
                <a:ea typeface="Calibri" pitchFamily="34" charset="-122"/>
                <a:cs typeface="Calibri" pitchFamily="34" charset="-120"/>
              </a:rPr>
              <a:t>Pick your engine later</a:t>
            </a:r>
            <a:endParaRPr lang="en-US" sz="1500" dirty="0"/>
          </a:p>
        </p:txBody>
      </p:sp>
      <p:sp>
        <p:nvSpPr>
          <p:cNvPr id="23" name="Text 20"/>
          <p:cNvSpPr txBox="1"/>
          <p:nvPr/>
        </p:nvSpPr>
        <p:spPr>
          <a:xfrm>
            <a:off x="1097280" y="4041648"/>
            <a:ext cx="7589520" cy="320040"/>
          </a:xfrm>
          <a:prstGeom prst="rect">
            <a:avLst/>
          </a:prstGeom>
          <a:noFill/>
          <a:ln/>
        </p:spPr>
        <p:txBody>
          <a:bodyPr wrap="square" lIns="0" tIns="0" rIns="0" bIns="0" rtlCol="0" anchor="ctr"/>
          <a:lstStyle/>
          <a:p>
            <a:pPr marL="0" indent="0">
              <a:buNone/>
            </a:pPr>
            <a:r>
              <a:rPr lang="en-US" sz="1150" dirty="0">
                <a:solidFill>
                  <a:srgbClr val="6B7785"/>
                </a:solidFill>
                <a:latin typeface="Calibri" pitchFamily="34" charset="0"/>
                <a:ea typeface="Calibri" pitchFamily="34" charset="-122"/>
                <a:cs typeface="Calibri" pitchFamily="34" charset="-120"/>
              </a:rPr>
              <a:t>Lucee, Adobe or BoxLang — the app and its password hashes move with you.</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pic>
        <p:nvPicPr>
          <p:cNvPr id="2" name="Image 0" descr="/home/claude/deck/assets/mark-t.png"/>
          <p:cNvPicPr>
            <a:picLocks noChangeAspect="1"/>
          </p:cNvPicPr>
          <p:nvPr/>
        </p:nvPicPr>
        <p:blipFill>
          <a:blip r:embed="rId3"/>
          <a:stretch>
            <a:fillRect/>
          </a:stretch>
        </p:blipFill>
        <p:spPr>
          <a:xfrm>
            <a:off x="8092440" y="384048"/>
            <a:ext cx="594360" cy="365760"/>
          </a:xfrm>
          <a:prstGeom prst="rect">
            <a:avLst/>
          </a:prstGeom>
        </p:spPr>
      </p:pic>
      <p:sp>
        <p:nvSpPr>
          <p:cNvPr id="3" name="Text 0"/>
          <p:cNvSpPr txBox="1"/>
          <p:nvPr/>
        </p:nvSpPr>
        <p:spPr>
          <a:xfrm>
            <a:off x="457200" y="320040"/>
            <a:ext cx="7498080" cy="640080"/>
          </a:xfrm>
          <a:prstGeom prst="rect">
            <a:avLst/>
          </a:prstGeom>
          <a:noFill/>
          <a:ln/>
        </p:spPr>
        <p:txBody>
          <a:bodyPr wrap="square" lIns="0" tIns="0" rIns="0" bIns="0" rtlCol="0" anchor="ctr"/>
          <a:lstStyle/>
          <a:p>
            <a:pPr marL="0" indent="0">
              <a:buNone/>
            </a:pPr>
            <a:r>
              <a:rPr lang="en-US" sz="3000" b="1" dirty="0">
                <a:solidFill>
                  <a:srgbClr val="1A2430"/>
                </a:solidFill>
                <a:latin typeface="Calibri" pitchFamily="34" charset="0"/>
                <a:ea typeface="Calibri" pitchFamily="34" charset="-122"/>
                <a:cs typeface="Calibri" pitchFamily="34" charset="-120"/>
              </a:rPr>
              <a:t>Try it tonight</a:t>
            </a:r>
            <a:endParaRPr lang="en-US" sz="3000" dirty="0"/>
          </a:p>
        </p:txBody>
      </p:sp>
      <p:sp>
        <p:nvSpPr>
          <p:cNvPr id="4" name="Text 1"/>
          <p:cNvSpPr txBox="1"/>
          <p:nvPr/>
        </p:nvSpPr>
        <p:spPr>
          <a:xfrm>
            <a:off x="457200" y="109728"/>
            <a:ext cx="5486400" cy="228600"/>
          </a:xfrm>
          <a:prstGeom prst="rect">
            <a:avLst/>
          </a:prstGeom>
          <a:noFill/>
          <a:ln/>
        </p:spPr>
        <p:txBody>
          <a:bodyPr wrap="square" lIns="0" tIns="0" rIns="0" bIns="0" rtlCol="0" anchor="ctr"/>
          <a:lstStyle/>
          <a:p>
            <a:pPr marL="0" indent="0">
              <a:buNone/>
            </a:pPr>
            <a:r>
              <a:rPr lang="en-US" sz="1000" b="1" kern="0" spc="200" dirty="0">
                <a:solidFill>
                  <a:srgbClr val="EF3B2D"/>
                </a:solidFill>
                <a:latin typeface="Calibri" pitchFamily="34" charset="0"/>
                <a:ea typeface="Calibri" pitchFamily="34" charset="-122"/>
                <a:cs typeface="Calibri" pitchFamily="34" charset="-120"/>
              </a:rPr>
              <a:t>GET STARTED</a:t>
            </a:r>
            <a:endParaRPr lang="en-US" sz="1000" dirty="0"/>
          </a:p>
        </p:txBody>
      </p:sp>
      <p:sp>
        <p:nvSpPr>
          <p:cNvPr id="5" name="Text 2"/>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6B7785"/>
                </a:solidFill>
                <a:latin typeface="Calibri" pitchFamily="34" charset="0"/>
                <a:ea typeface="Calibri" pitchFamily="34" charset="-122"/>
                <a:cs typeface="Calibri" pitchFamily="34" charset="-120"/>
              </a:rPr>
              <a:t>wheels.dev   ·   Mid-Michigan CFUG · Sept 15, 2026</a:t>
            </a:r>
            <a:endParaRPr lang="en-US" sz="9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6B7785"/>
                </a:solidFill>
                <a:latin typeface="Calibri" pitchFamily="34" charset="0"/>
                <a:ea typeface="Calibri" pitchFamily="34" charset="-122"/>
                <a:cs typeface="Calibri" pitchFamily="34" charset="-120"/>
              </a:rPr>
              <a:t>24</a:t>
            </a:r>
            <a:endParaRPr lang="en-US" sz="900" dirty="0"/>
          </a:p>
        </p:txBody>
      </p:sp>
      <p:sp>
        <p:nvSpPr>
          <p:cNvPr id="7" name="Shape 4"/>
          <p:cNvSpPr/>
          <p:nvPr/>
        </p:nvSpPr>
        <p:spPr>
          <a:xfrm>
            <a:off x="457200" y="1188720"/>
            <a:ext cx="4572000" cy="1737360"/>
          </a:xfrm>
          <a:prstGeom prst="roundRect">
            <a:avLst>
              <a:gd name="adj" fmla="val 4211"/>
            </a:avLst>
          </a:prstGeom>
          <a:solidFill>
            <a:srgbClr val="16232F"/>
          </a:solidFill>
          <a:ln w="12700">
            <a:solidFill>
              <a:srgbClr val="16232F"/>
            </a:solidFill>
            <a:prstDash val="solid"/>
          </a:ln>
        </p:spPr>
        <p:txBody>
          <a:bodyPr/>
          <a:lstStyle/>
          <a:p>
            <a:endParaRPr lang="en-US"/>
          </a:p>
        </p:txBody>
      </p:sp>
      <p:sp>
        <p:nvSpPr>
          <p:cNvPr id="8" name="Shape 5"/>
          <p:cNvSpPr/>
          <p:nvPr/>
        </p:nvSpPr>
        <p:spPr>
          <a:xfrm>
            <a:off x="594360" y="1307592"/>
            <a:ext cx="91440" cy="91440"/>
          </a:xfrm>
          <a:prstGeom prst="ellipse">
            <a:avLst/>
          </a:prstGeom>
          <a:solidFill>
            <a:srgbClr val="EF3B2D"/>
          </a:solidFill>
          <a:ln w="12700">
            <a:solidFill>
              <a:srgbClr val="EF3B2D"/>
            </a:solidFill>
            <a:prstDash val="solid"/>
          </a:ln>
        </p:spPr>
        <p:txBody>
          <a:bodyPr/>
          <a:lstStyle/>
          <a:p>
            <a:endParaRPr lang="en-US"/>
          </a:p>
        </p:txBody>
      </p:sp>
      <p:sp>
        <p:nvSpPr>
          <p:cNvPr id="9" name="Shape 6"/>
          <p:cNvSpPr/>
          <p:nvPr/>
        </p:nvSpPr>
        <p:spPr>
          <a:xfrm>
            <a:off x="758952" y="1307592"/>
            <a:ext cx="91440" cy="91440"/>
          </a:xfrm>
          <a:prstGeom prst="ellipse">
            <a:avLst/>
          </a:prstGeom>
          <a:solidFill>
            <a:srgbClr val="F5B62E"/>
          </a:solidFill>
          <a:ln w="12700">
            <a:solidFill>
              <a:srgbClr val="F5B62E"/>
            </a:solidFill>
            <a:prstDash val="solid"/>
          </a:ln>
        </p:spPr>
        <p:txBody>
          <a:bodyPr/>
          <a:lstStyle/>
          <a:p>
            <a:endParaRPr lang="en-US"/>
          </a:p>
        </p:txBody>
      </p:sp>
      <p:sp>
        <p:nvSpPr>
          <p:cNvPr id="10" name="Shape 7"/>
          <p:cNvSpPr/>
          <p:nvPr/>
        </p:nvSpPr>
        <p:spPr>
          <a:xfrm>
            <a:off x="923544" y="1307592"/>
            <a:ext cx="91440" cy="91440"/>
          </a:xfrm>
          <a:prstGeom prst="ellipse">
            <a:avLst/>
          </a:prstGeom>
          <a:solidFill>
            <a:srgbClr val="3DDC84"/>
          </a:solidFill>
          <a:ln w="12700">
            <a:solidFill>
              <a:srgbClr val="3DDC84"/>
            </a:solidFill>
            <a:prstDash val="solid"/>
          </a:ln>
        </p:spPr>
        <p:txBody>
          <a:bodyPr/>
          <a:lstStyle/>
          <a:p>
            <a:endParaRPr lang="en-US"/>
          </a:p>
        </p:txBody>
      </p:sp>
      <p:sp>
        <p:nvSpPr>
          <p:cNvPr id="11" name="Text 8"/>
          <p:cNvSpPr txBox="1"/>
          <p:nvPr/>
        </p:nvSpPr>
        <p:spPr>
          <a:xfrm>
            <a:off x="640080" y="1508760"/>
            <a:ext cx="4206240" cy="1325880"/>
          </a:xfrm>
          <a:prstGeom prst="rect">
            <a:avLst/>
          </a:prstGeom>
          <a:noFill/>
          <a:ln/>
        </p:spPr>
        <p:txBody>
          <a:bodyPr wrap="square" lIns="0" tIns="0" rIns="0" bIns="0" rtlCol="0" anchor="t"/>
          <a:lstStyle/>
          <a:p>
            <a:pPr marL="0" indent="0">
              <a:lnSpc>
                <a:spcPct val="115000"/>
              </a:lnSpc>
              <a:buNone/>
            </a:pPr>
            <a:r>
              <a:rPr lang="en-US" sz="1150" dirty="0">
                <a:solidFill>
                  <a:srgbClr val="EF3B2D"/>
                </a:solidFill>
                <a:latin typeface="Courier New" pitchFamily="34" charset="0"/>
                <a:ea typeface="Courier New" pitchFamily="34" charset="-122"/>
                <a:cs typeface="Courier New" pitchFamily="34" charset="-120"/>
              </a:rPr>
              <a:t>$ </a:t>
            </a:r>
            <a:r>
              <a:rPr lang="en-US" sz="1150" dirty="0">
                <a:solidFill>
                  <a:srgbClr val="E6EDF3"/>
                </a:solidFill>
                <a:latin typeface="Courier New" pitchFamily="34" charset="0"/>
                <a:ea typeface="Courier New" pitchFamily="34" charset="-122"/>
                <a:cs typeface="Courier New" pitchFamily="34" charset="-120"/>
              </a:rPr>
              <a:t>brew tap wheels-dev/wheels</a:t>
            </a:r>
            <a:endParaRPr lang="en-US" sz="1150" dirty="0"/>
          </a:p>
          <a:p>
            <a:pPr marL="0" indent="0">
              <a:lnSpc>
                <a:spcPct val="115000"/>
              </a:lnSpc>
              <a:buNone/>
            </a:pPr>
            <a:r>
              <a:rPr lang="en-US" sz="1150" dirty="0">
                <a:solidFill>
                  <a:srgbClr val="EF3B2D"/>
                </a:solidFill>
                <a:latin typeface="Courier New" pitchFamily="34" charset="0"/>
                <a:ea typeface="Courier New" pitchFamily="34" charset="-122"/>
                <a:cs typeface="Courier New" pitchFamily="34" charset="-120"/>
              </a:rPr>
              <a:t>$ </a:t>
            </a:r>
            <a:r>
              <a:rPr lang="en-US" sz="1150" dirty="0">
                <a:solidFill>
                  <a:srgbClr val="E6EDF3"/>
                </a:solidFill>
                <a:latin typeface="Courier New" pitchFamily="34" charset="0"/>
                <a:ea typeface="Courier New" pitchFamily="34" charset="-122"/>
                <a:cs typeface="Courier New" pitchFamily="34" charset="-120"/>
              </a:rPr>
              <a:t>brew install wheels</a:t>
            </a:r>
            <a:endParaRPr lang="en-US" sz="1150" dirty="0"/>
          </a:p>
          <a:p>
            <a:pPr marL="0" indent="0">
              <a:lnSpc>
                <a:spcPct val="115000"/>
              </a:lnSpc>
              <a:buNone/>
            </a:pPr>
            <a:r>
              <a:rPr lang="en-US" sz="1150" dirty="0">
                <a:solidFill>
                  <a:srgbClr val="9AA7B4"/>
                </a:solidFill>
                <a:latin typeface="Courier New" pitchFamily="34" charset="0"/>
                <a:ea typeface="Courier New" pitchFamily="34" charset="-122"/>
                <a:cs typeface="Courier New" pitchFamily="34" charset="-120"/>
              </a:rPr>
              <a:t># Windows: choco install wheels  (or scoop)</a:t>
            </a:r>
            <a:endParaRPr lang="en-US" sz="1150" dirty="0"/>
          </a:p>
          <a:p>
            <a:pPr marL="0" indent="0">
              <a:lnSpc>
                <a:spcPct val="115000"/>
              </a:lnSpc>
              <a:buNone/>
            </a:pPr>
            <a:r>
              <a:rPr lang="en-US" sz="1150" dirty="0">
                <a:solidFill>
                  <a:srgbClr val="EF3B2D"/>
                </a:solidFill>
                <a:latin typeface="Courier New" pitchFamily="34" charset="0"/>
                <a:ea typeface="Courier New" pitchFamily="34" charset="-122"/>
                <a:cs typeface="Courier New" pitchFamily="34" charset="-120"/>
              </a:rPr>
              <a:t>$ </a:t>
            </a:r>
            <a:r>
              <a:rPr lang="en-US" sz="1150" dirty="0">
                <a:solidFill>
                  <a:srgbClr val="E6EDF3"/>
                </a:solidFill>
                <a:latin typeface="Courier New" pitchFamily="34" charset="0"/>
                <a:ea typeface="Courier New" pitchFamily="34" charset="-122"/>
                <a:cs typeface="Courier New" pitchFamily="34" charset="-120"/>
              </a:rPr>
              <a:t>wheels new myapp &amp;&amp; cd myapp &amp;&amp; wheels start</a:t>
            </a:r>
            <a:endParaRPr lang="en-US" sz="1150" dirty="0"/>
          </a:p>
          <a:p>
            <a:pPr marL="0" indent="0">
              <a:lnSpc>
                <a:spcPct val="115000"/>
              </a:lnSpc>
              <a:buNone/>
            </a:pPr>
            <a:endParaRPr lang="en-US" sz="1150" dirty="0"/>
          </a:p>
          <a:p>
            <a:pPr marL="0" indent="0">
              <a:lnSpc>
                <a:spcPct val="115000"/>
              </a:lnSpc>
              <a:buNone/>
            </a:pPr>
            <a:r>
              <a:rPr lang="en-US" sz="1150" dirty="0">
                <a:solidFill>
                  <a:srgbClr val="9AA7B4"/>
                </a:solidFill>
                <a:latin typeface="Courier New" pitchFamily="34" charset="0"/>
                <a:ea typeface="Courier New" pitchFamily="34" charset="-122"/>
                <a:cs typeface="Courier New" pitchFamily="34" charset="-120"/>
              </a:rPr>
              <a:t># 60 seconds later: http://localhost:8080</a:t>
            </a:r>
            <a:endParaRPr lang="en-US" sz="1150" dirty="0"/>
          </a:p>
        </p:txBody>
      </p:sp>
      <p:sp>
        <p:nvSpPr>
          <p:cNvPr id="12" name="Text 9"/>
          <p:cNvSpPr txBox="1"/>
          <p:nvPr/>
        </p:nvSpPr>
        <p:spPr>
          <a:xfrm>
            <a:off x="5303520" y="1188720"/>
            <a:ext cx="3383280" cy="292608"/>
          </a:xfrm>
          <a:prstGeom prst="rect">
            <a:avLst/>
          </a:prstGeom>
          <a:noFill/>
          <a:ln/>
        </p:spPr>
        <p:txBody>
          <a:bodyPr wrap="square" lIns="0" tIns="0" rIns="0" bIns="0" rtlCol="0" anchor="ctr"/>
          <a:lstStyle/>
          <a:p>
            <a:pPr marL="0" indent="0">
              <a:buNone/>
            </a:pPr>
            <a:r>
              <a:rPr lang="en-US" sz="1400" b="1" dirty="0">
                <a:solidFill>
                  <a:srgbClr val="EF3B2D"/>
                </a:solidFill>
                <a:latin typeface="Calibri" pitchFamily="34" charset="0"/>
                <a:ea typeface="Calibri" pitchFamily="34" charset="-122"/>
                <a:cs typeface="Calibri" pitchFamily="34" charset="-120"/>
              </a:rPr>
              <a:t>wheels.dev</a:t>
            </a:r>
            <a:endParaRPr lang="en-US" sz="1400" dirty="0"/>
          </a:p>
        </p:txBody>
      </p:sp>
      <p:sp>
        <p:nvSpPr>
          <p:cNvPr id="13" name="Text 10"/>
          <p:cNvSpPr txBox="1"/>
          <p:nvPr/>
        </p:nvSpPr>
        <p:spPr>
          <a:xfrm>
            <a:off x="5303520" y="1481328"/>
            <a:ext cx="3383280" cy="274320"/>
          </a:xfrm>
          <a:prstGeom prst="rect">
            <a:avLst/>
          </a:prstGeom>
          <a:noFill/>
          <a:ln/>
        </p:spPr>
        <p:txBody>
          <a:bodyPr wrap="square" lIns="0" tIns="0" rIns="0" bIns="0" rtlCol="0" anchor="ctr"/>
          <a:lstStyle/>
          <a:p>
            <a:pPr marL="0" indent="0">
              <a:buNone/>
            </a:pPr>
            <a:r>
              <a:rPr lang="en-US" sz="1100" dirty="0">
                <a:solidFill>
                  <a:srgbClr val="6B7785"/>
                </a:solidFill>
                <a:latin typeface="Calibri" pitchFamily="34" charset="0"/>
                <a:ea typeface="Calibri" pitchFamily="34" charset="-122"/>
                <a:cs typeface="Calibri" pitchFamily="34" charset="-120"/>
              </a:rPr>
              <a:t>site, blog, release notes</a:t>
            </a:r>
            <a:endParaRPr lang="en-US" sz="1100" dirty="0"/>
          </a:p>
        </p:txBody>
      </p:sp>
      <p:sp>
        <p:nvSpPr>
          <p:cNvPr id="14" name="Text 11"/>
          <p:cNvSpPr txBox="1"/>
          <p:nvPr/>
        </p:nvSpPr>
        <p:spPr>
          <a:xfrm>
            <a:off x="5303520" y="1828800"/>
            <a:ext cx="3383280" cy="292608"/>
          </a:xfrm>
          <a:prstGeom prst="rect">
            <a:avLst/>
          </a:prstGeom>
          <a:noFill/>
          <a:ln/>
        </p:spPr>
        <p:txBody>
          <a:bodyPr wrap="square" lIns="0" tIns="0" rIns="0" bIns="0" rtlCol="0" anchor="ctr"/>
          <a:lstStyle/>
          <a:p>
            <a:pPr marL="0" indent="0">
              <a:buNone/>
            </a:pPr>
            <a:r>
              <a:rPr lang="en-US" sz="1400" b="1" dirty="0">
                <a:solidFill>
                  <a:srgbClr val="EF3B2D"/>
                </a:solidFill>
                <a:latin typeface="Calibri" pitchFamily="34" charset="0"/>
                <a:ea typeface="Calibri" pitchFamily="34" charset="-122"/>
                <a:cs typeface="Calibri" pitchFamily="34" charset="-120"/>
              </a:rPr>
              <a:t>wheels.dev/guides</a:t>
            </a:r>
            <a:endParaRPr lang="en-US" sz="1400" dirty="0"/>
          </a:p>
        </p:txBody>
      </p:sp>
      <p:sp>
        <p:nvSpPr>
          <p:cNvPr id="15" name="Text 12"/>
          <p:cNvSpPr txBox="1"/>
          <p:nvPr/>
        </p:nvSpPr>
        <p:spPr>
          <a:xfrm>
            <a:off x="5303520" y="2121408"/>
            <a:ext cx="3383280" cy="274320"/>
          </a:xfrm>
          <a:prstGeom prst="rect">
            <a:avLst/>
          </a:prstGeom>
          <a:noFill/>
          <a:ln/>
        </p:spPr>
        <p:txBody>
          <a:bodyPr wrap="square" lIns="0" tIns="0" rIns="0" bIns="0" rtlCol="0" anchor="ctr"/>
          <a:lstStyle/>
          <a:p>
            <a:pPr marL="0" indent="0">
              <a:buNone/>
            </a:pPr>
            <a:r>
              <a:rPr lang="en-US" sz="1100" dirty="0">
                <a:solidFill>
                  <a:srgbClr val="6B7785"/>
                </a:solidFill>
                <a:latin typeface="Calibri" pitchFamily="34" charset="0"/>
                <a:ea typeface="Calibri" pitchFamily="34" charset="-122"/>
                <a:cs typeface="Calibri" pitchFamily="34" charset="-120"/>
              </a:rPr>
              <a:t>docs — start with Beginner Tutorial: Hello World</a:t>
            </a:r>
            <a:endParaRPr lang="en-US" sz="1100" dirty="0"/>
          </a:p>
        </p:txBody>
      </p:sp>
      <p:sp>
        <p:nvSpPr>
          <p:cNvPr id="16" name="Text 13"/>
          <p:cNvSpPr txBox="1"/>
          <p:nvPr/>
        </p:nvSpPr>
        <p:spPr>
          <a:xfrm>
            <a:off x="5303520" y="2468880"/>
            <a:ext cx="3383280" cy="292608"/>
          </a:xfrm>
          <a:prstGeom prst="rect">
            <a:avLst/>
          </a:prstGeom>
          <a:noFill/>
          <a:ln/>
        </p:spPr>
        <p:txBody>
          <a:bodyPr wrap="square" lIns="0" tIns="0" rIns="0" bIns="0" rtlCol="0" anchor="ctr"/>
          <a:lstStyle/>
          <a:p>
            <a:pPr marL="0" indent="0">
              <a:buNone/>
            </a:pPr>
            <a:r>
              <a:rPr lang="en-US" sz="1400" b="1" dirty="0">
                <a:solidFill>
                  <a:srgbClr val="EF3B2D"/>
                </a:solidFill>
                <a:latin typeface="Calibri" pitchFamily="34" charset="0"/>
                <a:ea typeface="Calibri" pitchFamily="34" charset="-122"/>
                <a:cs typeface="Calibri" pitchFamily="34" charset="-120"/>
              </a:rPr>
              <a:t>github.com/wheels-dev/wheels</a:t>
            </a:r>
            <a:endParaRPr lang="en-US" sz="1400" dirty="0"/>
          </a:p>
        </p:txBody>
      </p:sp>
      <p:sp>
        <p:nvSpPr>
          <p:cNvPr id="17" name="Text 14"/>
          <p:cNvSpPr txBox="1"/>
          <p:nvPr/>
        </p:nvSpPr>
        <p:spPr>
          <a:xfrm>
            <a:off x="5303520" y="2761488"/>
            <a:ext cx="3383280" cy="274320"/>
          </a:xfrm>
          <a:prstGeom prst="rect">
            <a:avLst/>
          </a:prstGeom>
          <a:noFill/>
          <a:ln/>
        </p:spPr>
        <p:txBody>
          <a:bodyPr wrap="square" lIns="0" tIns="0" rIns="0" bIns="0" rtlCol="0" anchor="ctr"/>
          <a:lstStyle/>
          <a:p>
            <a:pPr marL="0" indent="0">
              <a:buNone/>
            </a:pPr>
            <a:r>
              <a:rPr lang="en-US" sz="1100" dirty="0">
                <a:solidFill>
                  <a:srgbClr val="6B7785"/>
                </a:solidFill>
                <a:latin typeface="Calibri" pitchFamily="34" charset="0"/>
                <a:ea typeface="Calibri" pitchFamily="34" charset="-122"/>
                <a:cs typeface="Calibri" pitchFamily="34" charset="-120"/>
              </a:rPr>
              <a:t>source, issues, changelog, discussions</a:t>
            </a:r>
            <a:endParaRPr lang="en-US" sz="1100" dirty="0"/>
          </a:p>
        </p:txBody>
      </p:sp>
      <p:sp>
        <p:nvSpPr>
          <p:cNvPr id="18" name="Text 15"/>
          <p:cNvSpPr txBox="1"/>
          <p:nvPr/>
        </p:nvSpPr>
        <p:spPr>
          <a:xfrm>
            <a:off x="5303520" y="3108960"/>
            <a:ext cx="3383280" cy="292608"/>
          </a:xfrm>
          <a:prstGeom prst="rect">
            <a:avLst/>
          </a:prstGeom>
          <a:noFill/>
          <a:ln/>
        </p:spPr>
        <p:txBody>
          <a:bodyPr wrap="square" lIns="0" tIns="0" rIns="0" bIns="0" rtlCol="0" anchor="ctr"/>
          <a:lstStyle/>
          <a:p>
            <a:pPr marL="0" indent="0">
              <a:buNone/>
            </a:pPr>
            <a:r>
              <a:rPr lang="en-US" sz="1400" b="1" dirty="0">
                <a:solidFill>
                  <a:srgbClr val="EF3B2D"/>
                </a:solidFill>
                <a:latin typeface="Calibri" pitchFamily="34" charset="0"/>
                <a:ea typeface="Calibri" pitchFamily="34" charset="-122"/>
                <a:cs typeface="Calibri" pitchFamily="34" charset="-120"/>
              </a:rPr>
              <a:t>forgebox.io → wheels-core</a:t>
            </a:r>
            <a:endParaRPr lang="en-US" sz="1400" dirty="0"/>
          </a:p>
        </p:txBody>
      </p:sp>
      <p:sp>
        <p:nvSpPr>
          <p:cNvPr id="19" name="Text 16"/>
          <p:cNvSpPr txBox="1"/>
          <p:nvPr/>
        </p:nvSpPr>
        <p:spPr>
          <a:xfrm>
            <a:off x="5303520" y="3401568"/>
            <a:ext cx="3383280" cy="274320"/>
          </a:xfrm>
          <a:prstGeom prst="rect">
            <a:avLst/>
          </a:prstGeom>
          <a:noFill/>
          <a:ln/>
        </p:spPr>
        <p:txBody>
          <a:bodyPr wrap="square" lIns="0" tIns="0" rIns="0" bIns="0" rtlCol="0" anchor="ctr"/>
          <a:lstStyle/>
          <a:p>
            <a:pPr marL="0" indent="0">
              <a:buNone/>
            </a:pPr>
            <a:r>
              <a:rPr lang="en-US" sz="1100" dirty="0">
                <a:solidFill>
                  <a:srgbClr val="6B7785"/>
                </a:solidFill>
                <a:latin typeface="Calibri" pitchFamily="34" charset="0"/>
                <a:ea typeface="Calibri" pitchFamily="34" charset="-122"/>
                <a:cs typeface="Calibri" pitchFamily="34" charset="-120"/>
              </a:rPr>
              <a:t>if you'd rather install via CommandBox</a:t>
            </a:r>
            <a:endParaRPr lang="en-US" sz="1100" dirty="0"/>
          </a:p>
        </p:txBody>
      </p:sp>
      <p:sp>
        <p:nvSpPr>
          <p:cNvPr id="20" name="Text 17"/>
          <p:cNvSpPr txBox="1"/>
          <p:nvPr/>
        </p:nvSpPr>
        <p:spPr>
          <a:xfrm>
            <a:off x="5303520" y="3749040"/>
            <a:ext cx="3383280" cy="292608"/>
          </a:xfrm>
          <a:prstGeom prst="rect">
            <a:avLst/>
          </a:prstGeom>
          <a:noFill/>
          <a:ln/>
        </p:spPr>
        <p:txBody>
          <a:bodyPr wrap="square" lIns="0" tIns="0" rIns="0" bIns="0" rtlCol="0" anchor="ctr"/>
          <a:lstStyle/>
          <a:p>
            <a:pPr marL="0" indent="0">
              <a:buNone/>
            </a:pPr>
            <a:r>
              <a:rPr lang="en-US" sz="1400" b="1" dirty="0">
                <a:solidFill>
                  <a:srgbClr val="EF3B2D"/>
                </a:solidFill>
                <a:latin typeface="Calibri" pitchFamily="34" charset="0"/>
                <a:ea typeface="Calibri" pitchFamily="34" charset="-122"/>
                <a:cs typeface="Calibri" pitchFamily="34" charset="-120"/>
              </a:rPr>
              <a:t>Tonight's demo repo</a:t>
            </a:r>
            <a:endParaRPr lang="en-US" sz="1400" dirty="0"/>
          </a:p>
        </p:txBody>
      </p:sp>
      <p:sp>
        <p:nvSpPr>
          <p:cNvPr id="21" name="Text 18"/>
          <p:cNvSpPr txBox="1"/>
          <p:nvPr/>
        </p:nvSpPr>
        <p:spPr>
          <a:xfrm>
            <a:off x="5303520" y="4041648"/>
            <a:ext cx="3383280" cy="274320"/>
          </a:xfrm>
          <a:prstGeom prst="rect">
            <a:avLst/>
          </a:prstGeom>
          <a:noFill/>
          <a:ln/>
        </p:spPr>
        <p:txBody>
          <a:bodyPr wrap="square" lIns="0" tIns="0" rIns="0" bIns="0" rtlCol="0" anchor="ctr"/>
          <a:lstStyle/>
          <a:p>
            <a:pPr marL="0" indent="0">
              <a:buNone/>
            </a:pPr>
            <a:r>
              <a:rPr lang="en-US" sz="1100" dirty="0">
                <a:solidFill>
                  <a:srgbClr val="6B7785"/>
                </a:solidFill>
                <a:latin typeface="Calibri" pitchFamily="34" charset="0"/>
                <a:ea typeface="Calibri" pitchFamily="34" charset="-122"/>
                <a:cs typeface="Calibri" pitchFamily="34" charset="-120"/>
              </a:rPr>
              <a:t>link in the YouTube description</a:t>
            </a:r>
            <a:endParaRPr lang="en-US" sz="1100" dirty="0"/>
          </a:p>
        </p:txBody>
      </p:sp>
      <p:sp>
        <p:nvSpPr>
          <p:cNvPr id="22" name="Text 19"/>
          <p:cNvSpPr txBox="1"/>
          <p:nvPr/>
        </p:nvSpPr>
        <p:spPr>
          <a:xfrm>
            <a:off x="457200" y="3108960"/>
            <a:ext cx="4572000" cy="320040"/>
          </a:xfrm>
          <a:prstGeom prst="rect">
            <a:avLst/>
          </a:prstGeom>
          <a:noFill/>
          <a:ln/>
        </p:spPr>
        <p:txBody>
          <a:bodyPr wrap="square" lIns="0" tIns="0" rIns="0" bIns="0" rtlCol="0" anchor="ctr"/>
          <a:lstStyle/>
          <a:p>
            <a:pPr marL="0" indent="0">
              <a:buNone/>
            </a:pPr>
            <a:r>
              <a:rPr lang="en-US" sz="1100" dirty="0">
                <a:solidFill>
                  <a:srgbClr val="6B7785"/>
                </a:solidFill>
                <a:latin typeface="Calibri" pitchFamily="34" charset="0"/>
                <a:ea typeface="Calibri" pitchFamily="34" charset="-122"/>
                <a:cs typeface="Calibri" pitchFamily="34" charset="-120"/>
              </a:rPr>
              <a:t>Homebrew 5.1+ may ask you to trust the tap: brew trust wheels-dev/wheels</a:t>
            </a:r>
            <a:endParaRPr lang="en-US" sz="1100" dirty="0"/>
          </a:p>
        </p:txBody>
      </p:sp>
      <p:sp>
        <p:nvSpPr>
          <p:cNvPr id="23" name="Shape 20"/>
          <p:cNvSpPr/>
          <p:nvPr/>
        </p:nvSpPr>
        <p:spPr>
          <a:xfrm>
            <a:off x="457200" y="3566160"/>
            <a:ext cx="4572000" cy="1005840"/>
          </a:xfrm>
          <a:prstGeom prst="roundRect">
            <a:avLst>
              <a:gd name="adj" fmla="val 7273"/>
            </a:avLst>
          </a:prstGeom>
          <a:solidFill>
            <a:srgbClr val="F3F5F7"/>
          </a:solidFill>
          <a:ln w="12700">
            <a:solidFill>
              <a:srgbClr val="F3F5F7"/>
            </a:solidFill>
            <a:prstDash val="solid"/>
          </a:ln>
        </p:spPr>
        <p:txBody>
          <a:bodyPr/>
          <a:lstStyle/>
          <a:p>
            <a:endParaRPr lang="en-US"/>
          </a:p>
        </p:txBody>
      </p:sp>
      <p:sp>
        <p:nvSpPr>
          <p:cNvPr id="24" name="Text 21"/>
          <p:cNvSpPr txBox="1"/>
          <p:nvPr/>
        </p:nvSpPr>
        <p:spPr>
          <a:xfrm>
            <a:off x="640080" y="3703320"/>
            <a:ext cx="4206240" cy="365760"/>
          </a:xfrm>
          <a:prstGeom prst="rect">
            <a:avLst/>
          </a:prstGeom>
          <a:noFill/>
          <a:ln/>
        </p:spPr>
        <p:txBody>
          <a:bodyPr wrap="square" lIns="0" tIns="0" rIns="0" bIns="0" rtlCol="0" anchor="ctr"/>
          <a:lstStyle/>
          <a:p>
            <a:pPr marL="0" indent="0">
              <a:buNone/>
            </a:pPr>
            <a:r>
              <a:rPr lang="en-US" sz="1500" b="1" dirty="0">
                <a:solidFill>
                  <a:srgbClr val="1A2430"/>
                </a:solidFill>
                <a:latin typeface="Calibri" pitchFamily="34" charset="0"/>
                <a:ea typeface="Calibri" pitchFamily="34" charset="-122"/>
                <a:cs typeface="Calibri" pitchFamily="34" charset="-120"/>
              </a:rPr>
              <a:t>Requirements</a:t>
            </a:r>
            <a:endParaRPr lang="en-US" sz="1500" dirty="0"/>
          </a:p>
        </p:txBody>
      </p:sp>
      <p:sp>
        <p:nvSpPr>
          <p:cNvPr id="25" name="Text 22"/>
          <p:cNvSpPr txBox="1"/>
          <p:nvPr/>
        </p:nvSpPr>
        <p:spPr>
          <a:xfrm>
            <a:off x="640080" y="4069080"/>
            <a:ext cx="4206240" cy="365760"/>
          </a:xfrm>
          <a:prstGeom prst="rect">
            <a:avLst/>
          </a:prstGeom>
          <a:noFill/>
          <a:ln/>
        </p:spPr>
        <p:txBody>
          <a:bodyPr wrap="square" lIns="0" tIns="0" rIns="0" bIns="0" rtlCol="0" anchor="t"/>
          <a:lstStyle/>
          <a:p>
            <a:pPr marL="0" indent="0">
              <a:buNone/>
            </a:pPr>
            <a:r>
              <a:rPr lang="en-US" sz="1200" dirty="0">
                <a:solidFill>
                  <a:srgbClr val="6B7785"/>
                </a:solidFill>
                <a:latin typeface="Calibri" pitchFamily="34" charset="0"/>
                <a:ea typeface="Calibri" pitchFamily="34" charset="-122"/>
                <a:cs typeface="Calibri" pitchFamily="34" charset="-120"/>
              </a:rPr>
              <a:t>Java 21. That's it. No CFML engine, no CommandBox, no database server — SQLite is the default.</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1620"/>
        </a:solidFill>
        <a:effectLst/>
      </p:bgPr>
    </p:bg>
    <p:spTree>
      <p:nvGrpSpPr>
        <p:cNvPr id="1" name=""/>
        <p:cNvGrpSpPr/>
        <p:nvPr/>
      </p:nvGrpSpPr>
      <p:grpSpPr>
        <a:xfrm>
          <a:off x="0" y="0"/>
          <a:ext cx="0" cy="0"/>
          <a:chOff x="0" y="0"/>
          <a:chExt cx="0" cy="0"/>
        </a:xfrm>
      </p:grpSpPr>
      <p:pic>
        <p:nvPicPr>
          <p:cNvPr id="2" name="Image 0" descr="/home/claude/deck/assets/logo-dark.png"/>
          <p:cNvPicPr>
            <a:picLocks noChangeAspect="1"/>
          </p:cNvPicPr>
          <p:nvPr/>
        </p:nvPicPr>
        <p:blipFill>
          <a:blip r:embed="rId3"/>
          <a:stretch>
            <a:fillRect/>
          </a:stretch>
        </p:blipFill>
        <p:spPr>
          <a:xfrm>
            <a:off x="457200" y="548640"/>
            <a:ext cx="3291840" cy="539496"/>
          </a:xfrm>
          <a:prstGeom prst="rect">
            <a:avLst/>
          </a:prstGeom>
        </p:spPr>
      </p:pic>
      <p:sp>
        <p:nvSpPr>
          <p:cNvPr id="3" name="Text 0"/>
          <p:cNvSpPr txBox="1"/>
          <p:nvPr/>
        </p:nvSpPr>
        <p:spPr>
          <a:xfrm>
            <a:off x="457200" y="1463040"/>
            <a:ext cx="8229600" cy="91440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Questions</a:t>
            </a:r>
            <a:endParaRPr lang="en-US" sz="5400" dirty="0"/>
          </a:p>
        </p:txBody>
      </p:sp>
      <p:sp>
        <p:nvSpPr>
          <p:cNvPr id="4" name="Text 1"/>
          <p:cNvSpPr txBox="1"/>
          <p:nvPr/>
        </p:nvSpPr>
        <p:spPr>
          <a:xfrm>
            <a:off x="457200" y="2423160"/>
            <a:ext cx="8229600" cy="457200"/>
          </a:xfrm>
          <a:prstGeom prst="rect">
            <a:avLst/>
          </a:prstGeom>
          <a:noFill/>
          <a:ln/>
        </p:spPr>
        <p:txBody>
          <a:bodyPr wrap="square" lIns="0" tIns="0" rIns="0" bIns="0" rtlCol="0" anchor="ctr"/>
          <a:lstStyle/>
          <a:p>
            <a:pPr marL="0" indent="0">
              <a:buNone/>
            </a:pPr>
            <a:r>
              <a:rPr lang="en-US" sz="2000" dirty="0">
                <a:solidFill>
                  <a:srgbClr val="C9D3DD"/>
                </a:solidFill>
                <a:latin typeface="Calibri" pitchFamily="34" charset="0"/>
                <a:ea typeface="Calibri" pitchFamily="34" charset="-122"/>
                <a:cs typeface="Calibri" pitchFamily="34" charset="-120"/>
              </a:rPr>
              <a:t>Thank you, Rick and Mid-Michigan CFUG.</a:t>
            </a:r>
            <a:endParaRPr lang="en-US" sz="2000" dirty="0"/>
          </a:p>
        </p:txBody>
      </p:sp>
      <p:sp>
        <p:nvSpPr>
          <p:cNvPr id="5" name="Text 2"/>
          <p:cNvSpPr txBox="1"/>
          <p:nvPr/>
        </p:nvSpPr>
        <p:spPr>
          <a:xfrm>
            <a:off x="457200" y="3108960"/>
            <a:ext cx="1645920" cy="365760"/>
          </a:xfrm>
          <a:prstGeom prst="rect">
            <a:avLst/>
          </a:prstGeom>
          <a:noFill/>
          <a:ln/>
        </p:spPr>
        <p:txBody>
          <a:bodyPr wrap="square" lIns="0" tIns="0" rIns="0" bIns="0" rtlCol="0" anchor="ctr"/>
          <a:lstStyle/>
          <a:p>
            <a:pPr marL="0" indent="0">
              <a:buNone/>
            </a:pPr>
            <a:r>
              <a:rPr lang="en-US" sz="1300" b="1" dirty="0">
                <a:solidFill>
                  <a:srgbClr val="EF3B2D"/>
                </a:solidFill>
                <a:latin typeface="Calibri" pitchFamily="34" charset="0"/>
                <a:ea typeface="Calibri" pitchFamily="34" charset="-122"/>
                <a:cs typeface="Calibri" pitchFamily="34" charset="-120"/>
              </a:rPr>
              <a:t>Peter Amiri</a:t>
            </a:r>
            <a:endParaRPr lang="en-US" sz="1300" dirty="0"/>
          </a:p>
        </p:txBody>
      </p:sp>
      <p:sp>
        <p:nvSpPr>
          <p:cNvPr id="6" name="Text 3"/>
          <p:cNvSpPr txBox="1"/>
          <p:nvPr/>
        </p:nvSpPr>
        <p:spPr>
          <a:xfrm>
            <a:off x="2103120" y="3108960"/>
            <a:ext cx="6583680" cy="36576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peter@alurium.com</a:t>
            </a:r>
            <a:endParaRPr lang="en-US" sz="1300" dirty="0"/>
          </a:p>
        </p:txBody>
      </p:sp>
      <p:sp>
        <p:nvSpPr>
          <p:cNvPr id="7" name="Text 4"/>
          <p:cNvSpPr txBox="1"/>
          <p:nvPr/>
        </p:nvSpPr>
        <p:spPr>
          <a:xfrm>
            <a:off x="457200" y="3566160"/>
            <a:ext cx="1645920" cy="365760"/>
          </a:xfrm>
          <a:prstGeom prst="rect">
            <a:avLst/>
          </a:prstGeom>
          <a:noFill/>
          <a:ln/>
        </p:spPr>
        <p:txBody>
          <a:bodyPr wrap="square" lIns="0" tIns="0" rIns="0" bIns="0" rtlCol="0" anchor="ctr"/>
          <a:lstStyle/>
          <a:p>
            <a:pPr marL="0" indent="0">
              <a:buNone/>
            </a:pPr>
            <a:r>
              <a:rPr lang="en-US" sz="1300" b="1" dirty="0">
                <a:solidFill>
                  <a:srgbClr val="EF3B2D"/>
                </a:solidFill>
                <a:latin typeface="Calibri" pitchFamily="34" charset="0"/>
                <a:ea typeface="Calibri" pitchFamily="34" charset="-122"/>
                <a:cs typeface="Calibri" pitchFamily="34" charset="-120"/>
              </a:rPr>
              <a:t>Wheels</a:t>
            </a:r>
            <a:endParaRPr lang="en-US" sz="1300" dirty="0"/>
          </a:p>
        </p:txBody>
      </p:sp>
      <p:sp>
        <p:nvSpPr>
          <p:cNvPr id="8" name="Text 5"/>
          <p:cNvSpPr txBox="1"/>
          <p:nvPr/>
        </p:nvSpPr>
        <p:spPr>
          <a:xfrm>
            <a:off x="2103120" y="3566160"/>
            <a:ext cx="6583680" cy="36576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wheels.dev · github.com/wheels-dev/wheels</a:t>
            </a:r>
            <a:endParaRPr lang="en-US" sz="1300" dirty="0"/>
          </a:p>
        </p:txBody>
      </p:sp>
      <p:sp>
        <p:nvSpPr>
          <p:cNvPr id="9" name="Text 6"/>
          <p:cNvSpPr txBox="1"/>
          <p:nvPr/>
        </p:nvSpPr>
        <p:spPr>
          <a:xfrm>
            <a:off x="457200" y="4023360"/>
            <a:ext cx="1645920" cy="365760"/>
          </a:xfrm>
          <a:prstGeom prst="rect">
            <a:avLst/>
          </a:prstGeom>
          <a:noFill/>
          <a:ln/>
        </p:spPr>
        <p:txBody>
          <a:bodyPr wrap="square" lIns="0" tIns="0" rIns="0" bIns="0" rtlCol="0" anchor="ctr"/>
          <a:lstStyle/>
          <a:p>
            <a:pPr marL="0" indent="0">
              <a:buNone/>
            </a:pPr>
            <a:r>
              <a:rPr lang="en-US" sz="1300" b="1" dirty="0">
                <a:solidFill>
                  <a:srgbClr val="EF3B2D"/>
                </a:solidFill>
                <a:latin typeface="Calibri" pitchFamily="34" charset="0"/>
                <a:ea typeface="Calibri" pitchFamily="34" charset="-122"/>
                <a:cs typeface="Calibri" pitchFamily="34" charset="-120"/>
              </a:rPr>
              <a:t>Next time?</a:t>
            </a:r>
            <a:endParaRPr lang="en-US" sz="1300" dirty="0"/>
          </a:p>
        </p:txBody>
      </p:sp>
      <p:sp>
        <p:nvSpPr>
          <p:cNvPr id="10" name="Text 7"/>
          <p:cNvSpPr txBox="1"/>
          <p:nvPr/>
        </p:nvSpPr>
        <p:spPr>
          <a:xfrm>
            <a:off x="2103120" y="4023360"/>
            <a:ext cx="6583680" cy="36576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Intermediate session: agent-driven maintenance, MCP, multi-engine CI</a:t>
            </a:r>
            <a:endParaRPr lang="en-US" sz="1300" dirty="0"/>
          </a:p>
        </p:txBody>
      </p:sp>
      <p:sp>
        <p:nvSpPr>
          <p:cNvPr id="11" name="Text 8"/>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9AA7B4"/>
                </a:solidFill>
                <a:latin typeface="Calibri" pitchFamily="34" charset="0"/>
                <a:ea typeface="Calibri" pitchFamily="34" charset="-122"/>
                <a:cs typeface="Calibri" pitchFamily="34" charset="-120"/>
              </a:rPr>
              <a:t>wheels.dev  ·  youtube.com/@cfml</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2339</TotalTime>
  <Words>4434</Words>
  <Application>Microsoft Macintosh PowerPoint</Application>
  <PresentationFormat>On-screen Show (16:9)</PresentationFormat>
  <Paragraphs>526</Paragraphs>
  <Slides>25</Slides>
  <Notes>25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Wheels: Rails-Style CFML</dc:title>
  <dc:subject>PptxGenJS Presentation</dc:subject>
  <dc:creator>Peter Amiri</dc:creator>
  <cp:lastModifiedBy>Peter Amiri</cp:lastModifiedBy>
  <cp:revision>2</cp:revision>
  <dcterms:created xsi:type="dcterms:W3CDTF">2026-09-02T06:08:26Z</dcterms:created>
  <dcterms:modified xsi:type="dcterms:W3CDTF">2026-09-10T15:15:09Z</dcterms:modified>
</cp:coreProperties>
</file>